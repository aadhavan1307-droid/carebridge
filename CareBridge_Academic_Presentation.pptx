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9f0164967848df" /><Relationship Type="http://schemas.openxmlformats.org/officeDocument/2006/relationships/extended-properties" Target="/docProps/app.xml" Id="R3f24a7ac01d54b65" /><Relationship Type="http://schemas.openxmlformats.org/officeDocument/2006/relationships/officeDocument" Target="/ppt/presentation.xml" Id="R1e73354d7ffc4b5b" /></Relationships>
</file>

<file path=ppt/presentation.xml><?xml version="1.0" encoding="utf-8"?>
<p:presentation xmlns:p="http://schemas.openxmlformats.org/presentationml/2006/main">
  <p:sldMasterIdLst>
    <p:sldMasterId xmlns:r="http://schemas.openxmlformats.org/officeDocument/2006/relationships" id="2147483648" r:id="Re7dddadf581d49a5"/>
  </p:sldMasterIdLst>
  <p:notesMasterIdLst>
    <p:notesMasterId xmlns:r="http://schemas.openxmlformats.org/officeDocument/2006/relationships" r:id="R240d03c555384cdc"/>
  </p:notesMasterIdLst>
  <p:sldIdLst>
    <p:sldId xmlns:r="http://schemas.openxmlformats.org/officeDocument/2006/relationships" id="256" r:id="R81fcdb883caf4d4b"/>
    <p:sldId xmlns:r="http://schemas.openxmlformats.org/officeDocument/2006/relationships" id="257" r:id="R471c7459a8d4414c"/>
    <p:sldId xmlns:r="http://schemas.openxmlformats.org/officeDocument/2006/relationships" id="258" r:id="R03bc162380be41de"/>
    <p:sldId xmlns:r="http://schemas.openxmlformats.org/officeDocument/2006/relationships" id="259" r:id="R6293985b9b57499a"/>
    <p:sldId xmlns:r="http://schemas.openxmlformats.org/officeDocument/2006/relationships" id="260" r:id="R57b8dd44cf55437e"/>
    <p:sldId xmlns:r="http://schemas.openxmlformats.org/officeDocument/2006/relationships" id="261" r:id="Red24d57c99844146"/>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0da7faadf1c47cf" /><Relationship Type="http://schemas.openxmlformats.org/officeDocument/2006/relationships/slideMaster" Target="/ppt/slideMasters/slideMaster1.xml" Id="Re7dddadf581d49a5" /><Relationship Type="http://schemas.openxmlformats.org/officeDocument/2006/relationships/notesMaster" Target="/ppt/notesMasters/notesMaster1.xml" Id="R240d03c555384cdc" /><Relationship Type="http://schemas.openxmlformats.org/officeDocument/2006/relationships/presProps" Target="/ppt/presProps.xml" Id="R1caa71c3da064eba" /><Relationship Type="http://schemas.openxmlformats.org/officeDocument/2006/relationships/viewProps" Target="/ppt/viewProps.xml" Id="Rbdd9fc197d0a4b25" /><Relationship Type="http://schemas.openxmlformats.org/officeDocument/2006/relationships/tableStyles" Target="/ppt/tableStyles.xml" Id="Rfa2424a4e79f42ac" /><Relationship Type="http://schemas.openxmlformats.org/officeDocument/2006/relationships/slide" Target="/ppt/slides/slide1.xml" Id="R81fcdb883caf4d4b" /><Relationship Type="http://schemas.openxmlformats.org/officeDocument/2006/relationships/slide" Target="/ppt/slides/slide2.xml" Id="R471c7459a8d4414c" /><Relationship Type="http://schemas.openxmlformats.org/officeDocument/2006/relationships/slide" Target="/ppt/slides/slide3.xml" Id="R03bc162380be41de" /><Relationship Type="http://schemas.openxmlformats.org/officeDocument/2006/relationships/slide" Target="/ppt/slides/slide4.xml" Id="R6293985b9b57499a" /><Relationship Type="http://schemas.openxmlformats.org/officeDocument/2006/relationships/slide" Target="/ppt/slides/slide5.xml" Id="R57b8dd44cf55437e" /><Relationship Type="http://schemas.openxmlformats.org/officeDocument/2006/relationships/slide" Target="/ppt/slides/slide6.xml" Id="Red24d57c998441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bb0650951945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f1d8344d874a1a" /><Relationship Type="http://schemas.openxmlformats.org/officeDocument/2006/relationships/notesMaster" Target="/ppt/notesMasters/notesMaster1.xml" Id="Rd6eead15d9284a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6e50b87d234ef3" /><Relationship Type="http://schemas.openxmlformats.org/officeDocument/2006/relationships/notesMaster" Target="/ppt/notesMasters/notesMaster1.xml" Id="R0d23d827417c4e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fa6de912ed4459" /><Relationship Type="http://schemas.openxmlformats.org/officeDocument/2006/relationships/notesMaster" Target="/ppt/notesMasters/notesMaster1.xml" Id="Ra1bfa6149b4b4d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5a11571a91433d" /><Relationship Type="http://schemas.openxmlformats.org/officeDocument/2006/relationships/notesMaster" Target="/ppt/notesMasters/notesMaster1.xml" Id="R835f8d2ea5f34a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ba94ae9183492a" /><Relationship Type="http://schemas.openxmlformats.org/officeDocument/2006/relationships/notesMaster" Target="/ppt/notesMasters/notesMaster1.xml" Id="R4fb6ecb0d24148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05820eb3a6428d" /><Relationship Type="http://schemas.openxmlformats.org/officeDocument/2006/relationships/notesMaster" Target="/ppt/notesMasters/notesMaster1.xml" Id="R93095320e15342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fc48867d4949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6cdd965a1d24c4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691637599848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b868682e2d84d6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abd32971f847b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86ed236c4d4e7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f9c56a669b84c1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29380f8f3ec403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5ec6563683f49f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e25396495ec47c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f902baf451f40b4"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74F89A0-2D4A-45F4-B626-660F46D87D88}"/>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F93F19A5-3D1A-41C0-88DB-0F3384C19BFD}"/>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FBDEF616-847D-4ACB-A8E3-7B2ED2637B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93CEA0E-2FC4-413F-AC5B-8D4B761F8B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7C7635C-6C6E-48A5-8B16-E2860AAE867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55FDCFE-9420-4799-A5BD-1356A7F55C5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2F85D2C-5B8B-4464-A384-906F885D81C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9578E44-F736-4C85-BE5E-A69815D133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5161965D-55A3-4B66-A41C-C401FE5A9B6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4F4AA24-42C4-4F71-8D1B-93E129FABA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2A238DE-3504-4CFA-8F38-A101FE8E7511}"/>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AC7324C-7AB3-4307-B9E4-A48B4B31E26D}"/>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94E56F8-1F83-4658-AE2B-7B069C67C77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A0204F8-CDE1-4E3F-B162-1855D5A9D4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7DF8DE4-D84A-4691-80B1-37B211D0BA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55E747-CC54-4849-9610-A1463923306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6A5C094-8581-42E8-8856-26C69E1DE65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79DF9D5E-6595-427F-A74E-B549D80958EE}"/>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35616243-C9BE-4735-95CC-34888654AD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821CECE8-AD62-4298-A754-6F3926BBA67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B5BE269-09B6-414F-9D1C-8A87927BE61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3CDB686-E6D1-4922-B52C-DD030A2788A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2DDA5BD-EAAE-4FAC-B981-BE7D2DB06F3F}"/>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446FD6B-5028-467C-B045-095CE1D7475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0B7A7857-30DE-490C-9291-D13E201C578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0C07EC1C-AC17-4A5C-A8E7-5B31810CB17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D3460F9C-4C2D-4BE2-B478-21F8C40D997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6DDAD0AD-890E-4113-8902-DA1B3169C36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F6686172-6837-4183-99A6-8CDEB7565DD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38D281-2243-4A6E-9E65-B766C36FB4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4C1834D7-6DAB-448D-8B4C-60F79E9815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2311189E-A8FD-433E-9A50-51A8262CFE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8C38360-33E4-4503-8AD7-072BE3F6C6D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3409CA13-BA45-43BE-AA41-09E342FBF1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0705D0A9-2680-4679-B8E8-F317A14DE1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1FB664F-8F86-483E-859F-427FFD2D9A6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01B375-981C-4BEC-B50A-BA87FC9BA475}"/>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C9C9D3C-3640-4A72-96E7-958C51E1C7A0}"/>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659E1968-FD3F-4B9C-B7FD-E261DB8EEB3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AA05FB1-0D12-4125-B44D-DACFFB91C7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54234147-AC0E-4382-A899-188C512661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7352057-5C69-4342-8494-DEC8BFCE04C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8157E09-4A37-46B5-9599-EC54E29DB94C}"/>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9516144B-45DA-4B1F-8385-509E01D7A395}"/>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64E3B5C6-2CC2-4B1C-8651-35ED807A98EA}"/>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CFB0901-989C-4B1F-878D-BBE007B349D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6A0A926B-B053-41F4-8CFA-F29E422E29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C5AF5D8-880C-4F80-920F-608701ABBEB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B6B888-EAB6-4D05-A8DC-69A4BC57DAB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9313BDA-D849-4D66-B976-94F1C59DC72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52D22A3-A430-4B1F-BBAA-9B3C2EAD09E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B2AB1BD-0DD1-4288-A294-15222036064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D589FA1-B81F-403C-B955-7B5C4105E3C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8BFE79C-DBAE-449E-BBAA-CC22D091819D}"/>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13007512-FE1C-4A69-9ED6-7777A9C65279}"/>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EB97640-23F5-4176-A159-0E38466A98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32D51B7-8E1A-41DA-ADF3-0B906EA6236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1EA25BD-1AAC-45E8-8E30-35C3AE560CC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e771f9553f42c6" /><Relationship Type="http://schemas.openxmlformats.org/officeDocument/2006/relationships/slideLayout" Target="/ppt/slideLayouts/slideLayout1.xml" Id="R313d1a2bd50a4d6c" /><Relationship Type="http://schemas.openxmlformats.org/officeDocument/2006/relationships/slideLayout" Target="/ppt/slideLayouts/slideLayout2.xml" Id="Raac51d4a35584053" /><Relationship Type="http://schemas.openxmlformats.org/officeDocument/2006/relationships/slideLayout" Target="/ppt/slideLayouts/slideLayout3.xml" Id="R2bec14718990457c" /><Relationship Type="http://schemas.openxmlformats.org/officeDocument/2006/relationships/slideLayout" Target="/ppt/slideLayouts/slideLayout4.xml" Id="Rb0feaecdc7424093" /><Relationship Type="http://schemas.openxmlformats.org/officeDocument/2006/relationships/slideLayout" Target="/ppt/slideLayouts/slideLayout5.xml" Id="Re180d2fe5faf48f4" /><Relationship Type="http://schemas.openxmlformats.org/officeDocument/2006/relationships/slideLayout" Target="/ppt/slideLayouts/slideLayout6.xml" Id="R399349d2fff94504" /><Relationship Type="http://schemas.openxmlformats.org/officeDocument/2006/relationships/slideLayout" Target="/ppt/slideLayouts/slideLayout7.xml" Id="R58cf816040c84c22" /><Relationship Type="http://schemas.openxmlformats.org/officeDocument/2006/relationships/slideLayout" Target="/ppt/slideLayouts/slideLayout8.xml" Id="Rd157c856acb94cbe" /><Relationship Type="http://schemas.openxmlformats.org/officeDocument/2006/relationships/slideLayout" Target="/ppt/slideLayouts/slideLayout9.xml" Id="R4ee15c33f21d40f4" /><Relationship Type="http://schemas.openxmlformats.org/officeDocument/2006/relationships/slideLayout" Target="/ppt/slideLayouts/slideLayout10.xml" Id="Rb2a50983c91a47ac" /><Relationship Type="http://schemas.openxmlformats.org/officeDocument/2006/relationships/slideLayout" Target="/ppt/slideLayouts/slideLayout11.xml" Id="R7c41a16a2eb84f3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E28CD9A-8F66-44DE-BE94-EE443933DE78}"/>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87854D3-157C-4A78-B06C-940FAC3D0851}"/>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D67EA7D-4A63-4470-8094-B72B3A72FD7A}"/>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084B2FF-B61A-4F1E-B38F-E48D23697293}"/>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ED4FAEB-1718-47B8-AAA1-2F5D7932C53F}"/>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3d1a2bd50a4d6c"/>
    <p:sldLayoutId xmlns:r="http://schemas.openxmlformats.org/officeDocument/2006/relationships" id="2147483650" r:id="Raac51d4a35584053"/>
    <p:sldLayoutId xmlns:r="http://schemas.openxmlformats.org/officeDocument/2006/relationships" id="2147483651" r:id="R2bec14718990457c"/>
    <p:sldLayoutId xmlns:r="http://schemas.openxmlformats.org/officeDocument/2006/relationships" id="2147483652" r:id="Rb0feaecdc7424093"/>
    <p:sldLayoutId xmlns:r="http://schemas.openxmlformats.org/officeDocument/2006/relationships" id="2147483653" r:id="Re180d2fe5faf48f4"/>
    <p:sldLayoutId xmlns:r="http://schemas.openxmlformats.org/officeDocument/2006/relationships" id="2147483654" r:id="R399349d2fff94504"/>
    <p:sldLayoutId xmlns:r="http://schemas.openxmlformats.org/officeDocument/2006/relationships" id="2147483655" r:id="R58cf816040c84c22"/>
    <p:sldLayoutId xmlns:r="http://schemas.openxmlformats.org/officeDocument/2006/relationships" id="2147483656" r:id="Rd157c856acb94cbe"/>
    <p:sldLayoutId xmlns:r="http://schemas.openxmlformats.org/officeDocument/2006/relationships" id="2147483657" r:id="R4ee15c33f21d40f4"/>
    <p:sldLayoutId xmlns:r="http://schemas.openxmlformats.org/officeDocument/2006/relationships" id="2147483658" r:id="Rb2a50983c91a47ac"/>
    <p:sldLayoutId xmlns:r="http://schemas.openxmlformats.org/officeDocument/2006/relationships" id="2147483659" r:id="R7c41a16a2eb84f31"/>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44ca23ae6d914ee2" /><Relationship Type="http://schemas.openxmlformats.org/officeDocument/2006/relationships/notesSlide" Target="/ppt/notesSlides/notesSlide1.xml" Id="Ra5d9e96d17864e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904602c30075424f" /><Relationship Type="http://schemas.openxmlformats.org/officeDocument/2006/relationships/notesSlide" Target="/ppt/notesSlides/notesSlide2.xml" Id="Rb261edcd23074f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b21a6847955e4cbc" /><Relationship Type="http://schemas.openxmlformats.org/officeDocument/2006/relationships/notesSlide" Target="/ppt/notesSlides/notesSlide3.xml" Id="R15d40074367c42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46baf7c6c897424d" /><Relationship Type="http://schemas.openxmlformats.org/officeDocument/2006/relationships/notesSlide" Target="/ppt/notesSlides/notesSlide4.xml" Id="R09cfb20bc55745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20a35488be814036" /><Relationship Type="http://schemas.openxmlformats.org/officeDocument/2006/relationships/notesSlide" Target="/ppt/notesSlides/notesSlide5.xml" Id="R80e5fa01749440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a90bbe38c265413a" /><Relationship Type="http://schemas.openxmlformats.org/officeDocument/2006/relationships/notesSlide" Target="/ppt/notesSlides/notesSlide6.xml" Id="Rb1907c4fa40d4018" /></Relationships>
</file>

<file path=ppt/slides/slide1.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2" name="Rounded Rectangle 1">
            <a:extLst xmlns:a="http://schemas.openxmlformats.org/drawingml/2006/main">
              <a:ext uri="{FF2B5EF4-FFF2-40B4-BE49-F238E27FC236}">
                <a16:creationId xmlns:a16="http://schemas.microsoft.com/office/drawing/2014/main" id="{235A766D-547B-447F-B5E5-CBAD0C539618}"/>
              </a:ext>
            </a:extLst>
          </p:cNvPr>
          <p:cNvSpPr>
            <a:spLocks xmlns:a="http://schemas.openxmlformats.org/drawingml/2006/main" noGrp="1"/>
          </p:cNvSpPr>
          <p:nvPr/>
        </p:nvSpPr>
        <p:spPr>
          <a:xfrm xmlns:a="http://schemas.openxmlformats.org/drawingml/2006/main">
            <a:off x="658368" y="594360"/>
            <a:ext cx="1920240" cy="292608"/>
          </a:xfrm>
          <a:prstGeom xmlns:a="http://schemas.openxmlformats.org/drawingml/2006/main" prst="roundRect">
            <a:avLst/>
          </a:prstGeom>
          <a:solidFill xmlns:a="http://schemas.openxmlformats.org/drawingml/2006/main">
            <a:srgbClr val="18293E"/>
          </a:solidFill>
          <a:ln xmlns:a="http://schemas.openxmlformats.org/drawingml/2006/main" w="10160">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E9152CB-D0E2-4358-8F3C-AFF1CAEF40EF}"/>
              </a:ext>
            </a:extLst>
          </p:cNvPr>
          <p:cNvSpPr>
            <a:spLocks xmlns:a="http://schemas.openxmlformats.org/drawingml/2006/main" noGrp="1"/>
          </p:cNvSpPr>
          <p:nvPr/>
        </p:nvSpPr>
        <p:spPr>
          <a:xfrm xmlns:a="http://schemas.openxmlformats.org/drawingml/2006/main">
            <a:off x="685800" y="640080"/>
            <a:ext cx="1865376"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800" b="1">
                <a:solidFill>
                  <a:srgbClr val="2BD2BE"/>
                </a:solidFill>
                <a:latin typeface="Aptos"/>
                <a:ea typeface="Aptos"/>
                <a:cs typeface="Aptos"/>
              </a:rPr>
              <a:t>EMERGENCY CARE • AI</a:t>
            </a:r>
          </a:p>
        </p:txBody>
      </p:sp>
      <p:sp>
        <p:nvSpPr>
          <p:cNvPr id="4" name="TextBox 3">
            <a:extLst xmlns:a="http://schemas.openxmlformats.org/drawingml/2006/main">
              <a:ext uri="{FF2B5EF4-FFF2-40B4-BE49-F238E27FC236}">
                <a16:creationId xmlns:a16="http://schemas.microsoft.com/office/drawing/2014/main" id="{1A95CE7A-76D7-4C30-B5B2-1B196F70AEC9}"/>
              </a:ext>
            </a:extLst>
          </p:cNvPr>
          <p:cNvSpPr>
            <a:spLocks xmlns:a="http://schemas.openxmlformats.org/drawingml/2006/main" noGrp="1"/>
          </p:cNvSpPr>
          <p:nvPr/>
        </p:nvSpPr>
        <p:spPr>
          <a:xfrm xmlns:a="http://schemas.openxmlformats.org/drawingml/2006/main">
            <a:off x="658368" y="1325880"/>
            <a:ext cx="7040880" cy="141732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2800" b="1">
                <a:solidFill>
                  <a:srgbClr val="F2F7FC"/>
                </a:solidFill>
                <a:latin typeface="Aptos"/>
                <a:ea typeface="Aptos"/>
                <a:cs typeface="Aptos"/>
              </a:rPr>
              <a:t>HUMAN-CENTERED</a:t>
            </a:r>
          </a:p>
          <a:p xmlns:a="http://schemas.openxmlformats.org/drawingml/2006/main">
            <a:pPr algn="l">
              <a:buNone/>
            </a:pPr>
            <a:r>
              <a:rPr sz="2800" b="1">
                <a:solidFill>
                  <a:srgbClr val="F2F7FC"/>
                </a:solidFill>
                <a:latin typeface="Aptos"/>
                <a:ea typeface="Aptos"/>
                <a:cs typeface="Aptos"/>
              </a:rPr>
              <a:t>EMERGENCY CARE &amp; CLASSICAL AI</a:t>
            </a:r>
          </a:p>
        </p:txBody>
      </p:sp>
      <p:sp>
        <p:nvSpPr>
          <p:cNvPr id="5" name="TextBox 4">
            <a:extLst xmlns:a="http://schemas.openxmlformats.org/drawingml/2006/main">
              <a:ext uri="{FF2B5EF4-FFF2-40B4-BE49-F238E27FC236}">
                <a16:creationId xmlns:a16="http://schemas.microsoft.com/office/drawing/2014/main" id="{C501088B-033C-4107-8B49-6B9C75606C94}"/>
              </a:ext>
            </a:extLst>
          </p:cNvPr>
          <p:cNvSpPr>
            <a:spLocks xmlns:a="http://schemas.openxmlformats.org/drawingml/2006/main" noGrp="1"/>
          </p:cNvSpPr>
          <p:nvPr/>
        </p:nvSpPr>
        <p:spPr>
          <a:xfrm xmlns:a="http://schemas.openxmlformats.org/drawingml/2006/main">
            <a:off x="694944" y="2971800"/>
            <a:ext cx="6400800" cy="8686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1300" b="0">
                <a:solidFill>
                  <a:srgbClr val="A9BBCD"/>
                </a:solidFill>
                <a:latin typeface="Aptos"/>
                <a:ea typeface="Aptos"/>
                <a:cs typeface="Aptos"/>
              </a:rPr>
              <a:t>An intelligent emergency-care coordination system integrating clinical risk assessment, classical AI, machine learning, optimization, and dynamic resource allocation.</a:t>
            </a:r>
          </a:p>
        </p:txBody>
      </p:sp>
      <p:sp>
        <p:nvSpPr>
          <p:cNvPr id="6" name="Connector 5">
            <a:extLst xmlns:a="http://schemas.openxmlformats.org/drawingml/2006/main">
              <a:ext uri="{FF2B5EF4-FFF2-40B4-BE49-F238E27FC236}">
                <a16:creationId xmlns:a16="http://schemas.microsoft.com/office/drawing/2014/main" id="{AE1D9F03-73C8-4592-B334-4133EB3A36B0}"/>
              </a:ext>
            </a:extLst>
          </p:cNvPr>
          <p:cNvSpPr>
            <a:spLocks xmlns:a="http://schemas.openxmlformats.org/drawingml/2006/main" noGrp="1"/>
          </p:cNvSpPr>
          <p:nvPr/>
        </p:nvSpPr>
        <p:spPr>
          <a:xfrm xmlns:a="http://schemas.openxmlformats.org/drawingml/2006/main">
            <a:off x="694944" y="4023360"/>
            <a:ext cx="5522976" cy="0"/>
          </a:xfrm>
          <a:prstGeom xmlns:a="http://schemas.openxmlformats.org/drawingml/2006/main" prst="line">
            <a:avLst/>
          </a:prstGeom>
          <a:ln xmlns:a="http://schemas.openxmlformats.org/drawingml/2006/main" w="2540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2D4F57C2-3A3D-496C-8A78-E95BB767FFA9}"/>
              </a:ext>
            </a:extLst>
          </p:cNvPr>
          <p:cNvSpPr>
            <a:spLocks xmlns:a="http://schemas.openxmlformats.org/drawingml/2006/main" noGrp="1"/>
          </p:cNvSpPr>
          <p:nvPr/>
        </p:nvSpPr>
        <p:spPr>
          <a:xfrm xmlns:a="http://schemas.openxmlformats.org/drawingml/2006/main">
            <a:off x="713232" y="4270248"/>
            <a:ext cx="4572000" cy="22860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900" b="1">
                <a:solidFill>
                  <a:srgbClr val="2BD2BE"/>
                </a:solidFill>
                <a:latin typeface="Aptos"/>
                <a:ea typeface="Aptos"/>
                <a:cs typeface="Aptos"/>
              </a:rPr>
              <a:t>TEAM MEMBERS</a:t>
            </a:r>
          </a:p>
        </p:txBody>
      </p:sp>
      <p:sp>
        <p:nvSpPr>
          <p:cNvPr id="8" name="TextBox 7">
            <a:extLst xmlns:a="http://schemas.openxmlformats.org/drawingml/2006/main">
              <a:ext uri="{FF2B5EF4-FFF2-40B4-BE49-F238E27FC236}">
                <a16:creationId xmlns:a16="http://schemas.microsoft.com/office/drawing/2014/main" id="{391C88E6-D93C-4F94-BFA9-404A78D168A0}"/>
              </a:ext>
            </a:extLst>
          </p:cNvPr>
          <p:cNvSpPr>
            <a:spLocks xmlns:a="http://schemas.openxmlformats.org/drawingml/2006/main" noGrp="1"/>
          </p:cNvSpPr>
          <p:nvPr/>
        </p:nvSpPr>
        <p:spPr>
          <a:xfrm xmlns:a="http://schemas.openxmlformats.org/drawingml/2006/main">
            <a:off x="713232" y="4590288"/>
            <a:ext cx="5943600" cy="73152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1500" b="1">
                <a:solidFill>
                  <a:srgbClr val="F2F7FC"/>
                </a:solidFill>
                <a:latin typeface="Aptos"/>
                <a:ea typeface="Aptos"/>
                <a:cs typeface="Aptos"/>
              </a:rPr>
              <a:t>AADHAVAN RP — 240701819</a:t>
            </a:r>
          </a:p>
          <a:p xmlns:a="http://schemas.openxmlformats.org/drawingml/2006/main">
            <a:pPr algn="l">
              <a:buNone/>
            </a:pPr>
            <a:r>
              <a:rPr sz="1500" b="1">
                <a:solidFill>
                  <a:srgbClr val="F2F7FC"/>
                </a:solidFill>
                <a:latin typeface="Aptos"/>
                <a:ea typeface="Aptos"/>
                <a:cs typeface="Aptos"/>
              </a:rPr>
              <a:t>ABINESH N — 240701816</a:t>
            </a:r>
          </a:p>
        </p:txBody>
      </p:sp>
      <p:sp>
        <p:nvSpPr>
          <p:cNvPr id="9" name="TextBox 8">
            <a:extLst xmlns:a="http://schemas.openxmlformats.org/drawingml/2006/main">
              <a:ext uri="{FF2B5EF4-FFF2-40B4-BE49-F238E27FC236}">
                <a16:creationId xmlns:a16="http://schemas.microsoft.com/office/drawing/2014/main" id="{D8CD3938-687A-4AC5-96A8-55C3AD3D374C}"/>
              </a:ext>
            </a:extLst>
          </p:cNvPr>
          <p:cNvSpPr>
            <a:spLocks xmlns:a="http://schemas.openxmlformats.org/drawingml/2006/main" noGrp="1"/>
          </p:cNvSpPr>
          <p:nvPr/>
        </p:nvSpPr>
        <p:spPr>
          <a:xfrm xmlns:a="http://schemas.openxmlformats.org/drawingml/2006/main">
            <a:off x="713232" y="6080760"/>
            <a:ext cx="5486400"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00" b="1">
                <a:solidFill>
                  <a:srgbClr val="A9BBCD"/>
                </a:solidFill>
                <a:latin typeface="Aptos"/>
                <a:ea typeface="Aptos"/>
                <a:cs typeface="Aptos"/>
              </a:rPr>
              <a:t>PROJECT REVIEW  |  CAREBRIDGE 2.0</a:t>
            </a:r>
          </a:p>
        </p:txBody>
      </p:sp>
      <p:sp>
        <p:nvSpPr>
          <p:cNvPr id="10" name="Oval 9">
            <a:extLst xmlns:a="http://schemas.openxmlformats.org/drawingml/2006/main">
              <a:ext uri="{FF2B5EF4-FFF2-40B4-BE49-F238E27FC236}">
                <a16:creationId xmlns:a16="http://schemas.microsoft.com/office/drawing/2014/main" id="{0BA05DFD-7A90-4A2B-9AFC-1548882C5B28}"/>
              </a:ext>
            </a:extLst>
          </p:cNvPr>
          <p:cNvSpPr>
            <a:spLocks xmlns:a="http://schemas.openxmlformats.org/drawingml/2006/main" noGrp="1"/>
          </p:cNvSpPr>
          <p:nvPr/>
        </p:nvSpPr>
        <p:spPr>
          <a:xfrm xmlns:a="http://schemas.openxmlformats.org/drawingml/2006/main">
            <a:off x="8412480" y="914400"/>
            <a:ext cx="2011680" cy="2011680"/>
          </a:xfrm>
          <a:prstGeom xmlns:a="http://schemas.openxmlformats.org/drawingml/2006/main" prst="ellipse">
            <a:avLst/>
          </a:prstGeom>
          <a:solidFill xmlns:a="http://schemas.openxmlformats.org/drawingml/2006/main">
            <a:srgbClr val="123644"/>
          </a:solidFill>
          <a:ln xmlns:a="http://schemas.openxmlformats.org/drawingml/2006/main">
            <a:solidFill>
              <a:srgbClr val="12364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Oval 10">
            <a:extLst xmlns:a="http://schemas.openxmlformats.org/drawingml/2006/main">
              <a:ext uri="{FF2B5EF4-FFF2-40B4-BE49-F238E27FC236}">
                <a16:creationId xmlns:a16="http://schemas.microsoft.com/office/drawing/2014/main" id="{DB05D8F8-CB5F-4A01-8818-0E4AA2E1B6B2}"/>
              </a:ext>
            </a:extLst>
          </p:cNvPr>
          <p:cNvSpPr>
            <a:spLocks xmlns:a="http://schemas.openxmlformats.org/drawingml/2006/main" noGrp="1"/>
          </p:cNvSpPr>
          <p:nvPr/>
        </p:nvSpPr>
        <p:spPr>
          <a:xfrm xmlns:a="http://schemas.openxmlformats.org/drawingml/2006/main">
            <a:off x="9144000" y="1554480"/>
            <a:ext cx="1463040" cy="1463040"/>
          </a:xfrm>
          <a:prstGeom xmlns:a="http://schemas.openxmlformats.org/drawingml/2006/main" prst="ellipse">
            <a:avLst/>
          </a:prstGeom>
          <a:solidFill xmlns:a="http://schemas.openxmlformats.org/drawingml/2006/main">
            <a:srgbClr val="17424E"/>
          </a:solidFill>
          <a:ln xmlns:a="http://schemas.openxmlformats.org/drawingml/2006/main">
            <a:solidFill>
              <a:srgbClr val="17424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017AA610-7B6C-4710-A97B-5A00D7E88E27}"/>
              </a:ext>
            </a:extLst>
          </p:cNvPr>
          <p:cNvSpPr>
            <a:spLocks xmlns:a="http://schemas.openxmlformats.org/drawingml/2006/main" noGrp="1"/>
          </p:cNvSpPr>
          <p:nvPr/>
        </p:nvSpPr>
        <p:spPr>
          <a:xfrm xmlns:a="http://schemas.openxmlformats.org/drawingml/2006/main">
            <a:off x="9784080" y="2148840"/>
            <a:ext cx="868680" cy="868680"/>
          </a:xfrm>
          <a:prstGeom xmlns:a="http://schemas.openxmlformats.org/drawingml/2006/main" prst="ellipse">
            <a:avLst/>
          </a:prstGeom>
          <a:solidFill xmlns:a="http://schemas.openxmlformats.org/drawingml/2006/main">
            <a:srgbClr val="1D545D"/>
          </a:solidFill>
          <a:ln xmlns:a="http://schemas.openxmlformats.org/drawingml/2006/main">
            <a:solidFill>
              <a:srgbClr val="1D545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3F612D88-8780-4B65-A197-9B21B0BA6DA3}"/>
              </a:ext>
            </a:extLst>
          </p:cNvPr>
          <p:cNvSpPr>
            <a:spLocks xmlns:a="http://schemas.openxmlformats.org/drawingml/2006/main" noGrp="1"/>
          </p:cNvSpPr>
          <p:nvPr/>
        </p:nvSpPr>
        <p:spPr>
          <a:xfrm xmlns:a="http://schemas.openxmlformats.org/drawingml/2006/main">
            <a:off x="9052560" y="2148840"/>
            <a:ext cx="201168" cy="1005840"/>
          </a:xfrm>
          <a:prstGeom xmlns:a="http://schemas.openxmlformats.org/drawingml/2006/main" prst="rect">
            <a:avLst/>
          </a:prstGeom>
          <a:solidFill xmlns:a="http://schemas.openxmlformats.org/drawingml/2006/main">
            <a:srgbClr val="2BD2BE"/>
          </a:solidFill>
          <a:ln xmlns:a="http://schemas.openxmlformats.org/drawingml/2006/main" w="10160">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D521B647-1F96-4184-B7E6-AEA513207537}"/>
              </a:ext>
            </a:extLst>
          </p:cNvPr>
          <p:cNvSpPr>
            <a:spLocks xmlns:a="http://schemas.openxmlformats.org/drawingml/2006/main" noGrp="1"/>
          </p:cNvSpPr>
          <p:nvPr/>
        </p:nvSpPr>
        <p:spPr>
          <a:xfrm xmlns:a="http://schemas.openxmlformats.org/drawingml/2006/main">
            <a:off x="8641080" y="2560320"/>
            <a:ext cx="1005840" cy="201168"/>
          </a:xfrm>
          <a:prstGeom xmlns:a="http://schemas.openxmlformats.org/drawingml/2006/main" prst="rect">
            <a:avLst/>
          </a:prstGeom>
          <a:solidFill xmlns:a="http://schemas.openxmlformats.org/drawingml/2006/main">
            <a:srgbClr val="2BD2BE"/>
          </a:solidFill>
          <a:ln xmlns:a="http://schemas.openxmlformats.org/drawingml/2006/main" w="10160">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Connector 14">
            <a:extLst xmlns:a="http://schemas.openxmlformats.org/drawingml/2006/main">
              <a:ext uri="{FF2B5EF4-FFF2-40B4-BE49-F238E27FC236}">
                <a16:creationId xmlns:a16="http://schemas.microsoft.com/office/drawing/2014/main" id="{82D7787A-A248-4CD3-A833-DBA6CD88157C}"/>
              </a:ext>
            </a:extLst>
          </p:cNvPr>
          <p:cNvSpPr>
            <a:spLocks xmlns:a="http://schemas.openxmlformats.org/drawingml/2006/main" noGrp="1"/>
          </p:cNvSpPr>
          <p:nvPr/>
        </p:nvSpPr>
        <p:spPr>
          <a:xfrm xmlns:a="http://schemas.openxmlformats.org/drawingml/2006/main">
            <a:off x="7818120" y="4114800"/>
            <a:ext cx="548640" cy="0"/>
          </a:xfrm>
          <a:prstGeom xmlns:a="http://schemas.openxmlformats.org/drawingml/2006/main" prst="line">
            <a:avLst/>
          </a:prstGeom>
          <a:ln xmlns:a="http://schemas.openxmlformats.org/drawingml/2006/main" w="25400">
            <a:solidFill>
              <a:srgbClr val="54BE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DB15581B-9B75-49B9-A57D-E52AD9B4F622}"/>
              </a:ext>
            </a:extLst>
          </p:cNvPr>
          <p:cNvSpPr>
            <a:spLocks xmlns:a="http://schemas.openxmlformats.org/drawingml/2006/main" noGrp="1"/>
          </p:cNvSpPr>
          <p:nvPr/>
        </p:nvSpPr>
        <p:spPr>
          <a:xfrm xmlns:a="http://schemas.openxmlformats.org/drawingml/2006/main">
            <a:off x="8366760" y="4114800"/>
            <a:ext cx="246888" cy="0"/>
          </a:xfrm>
          <a:prstGeom xmlns:a="http://schemas.openxmlformats.org/drawingml/2006/main" prst="line">
            <a:avLst/>
          </a:prstGeom>
          <a:ln xmlns:a="http://schemas.openxmlformats.org/drawingml/2006/main" w="25400">
            <a:solidFill>
              <a:srgbClr val="54BE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B54154E6-6EA4-4FD9-BFB6-578CFC9EF41A}"/>
              </a:ext>
            </a:extLst>
          </p:cNvPr>
          <p:cNvSpPr>
            <a:spLocks xmlns:a="http://schemas.openxmlformats.org/drawingml/2006/main" noGrp="1"/>
          </p:cNvSpPr>
          <p:nvPr/>
        </p:nvSpPr>
        <p:spPr>
          <a:xfrm xmlns:a="http://schemas.openxmlformats.org/drawingml/2006/main" flipV="1">
            <a:off x="8613648" y="3657600"/>
            <a:ext cx="210312" cy="457200"/>
          </a:xfrm>
          <a:prstGeom xmlns:a="http://schemas.openxmlformats.org/drawingml/2006/main" prst="line">
            <a:avLst/>
          </a:prstGeom>
          <a:ln xmlns:a="http://schemas.openxmlformats.org/drawingml/2006/main" w="25400">
            <a:solidFill>
              <a:srgbClr val="54BE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8D51853E-2C59-41F9-9496-434936E53D03}"/>
              </a:ext>
            </a:extLst>
          </p:cNvPr>
          <p:cNvSpPr>
            <a:spLocks xmlns:a="http://schemas.openxmlformats.org/drawingml/2006/main" noGrp="1"/>
          </p:cNvSpPr>
          <p:nvPr/>
        </p:nvSpPr>
        <p:spPr>
          <a:xfrm xmlns:a="http://schemas.openxmlformats.org/drawingml/2006/main">
            <a:off x="8823960" y="3657600"/>
            <a:ext cx="246888" cy="960120"/>
          </a:xfrm>
          <a:prstGeom xmlns:a="http://schemas.openxmlformats.org/drawingml/2006/main" prst="line">
            <a:avLst/>
          </a:prstGeom>
          <a:ln xmlns:a="http://schemas.openxmlformats.org/drawingml/2006/main" w="25400">
            <a:solidFill>
              <a:srgbClr val="54BE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51FD91AE-B714-46C3-90E5-06294F5F8F14}"/>
              </a:ext>
            </a:extLst>
          </p:cNvPr>
          <p:cNvSpPr>
            <a:spLocks xmlns:a="http://schemas.openxmlformats.org/drawingml/2006/main" noGrp="1"/>
          </p:cNvSpPr>
          <p:nvPr/>
        </p:nvSpPr>
        <p:spPr>
          <a:xfrm xmlns:a="http://schemas.openxmlformats.org/drawingml/2006/main" flipV="1">
            <a:off x="9070848" y="3886200"/>
            <a:ext cx="301752" cy="731520"/>
          </a:xfrm>
          <a:prstGeom xmlns:a="http://schemas.openxmlformats.org/drawingml/2006/main" prst="line">
            <a:avLst/>
          </a:prstGeom>
          <a:ln xmlns:a="http://schemas.openxmlformats.org/drawingml/2006/main" w="25400">
            <a:solidFill>
              <a:srgbClr val="54BE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9CBFD0DB-ED96-46A0-818A-754DCBD834A9}"/>
              </a:ext>
            </a:extLst>
          </p:cNvPr>
          <p:cNvSpPr>
            <a:spLocks xmlns:a="http://schemas.openxmlformats.org/drawingml/2006/main" noGrp="1"/>
          </p:cNvSpPr>
          <p:nvPr/>
        </p:nvSpPr>
        <p:spPr>
          <a:xfrm xmlns:a="http://schemas.openxmlformats.org/drawingml/2006/main">
            <a:off x="9372600" y="3886200"/>
            <a:ext cx="228600" cy="228600"/>
          </a:xfrm>
          <a:prstGeom xmlns:a="http://schemas.openxmlformats.org/drawingml/2006/main" prst="line">
            <a:avLst/>
          </a:prstGeom>
          <a:ln xmlns:a="http://schemas.openxmlformats.org/drawingml/2006/main" w="25400">
            <a:solidFill>
              <a:srgbClr val="54BE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237475F9-F3B5-4A27-8B48-5C67581F18EC}"/>
              </a:ext>
            </a:extLst>
          </p:cNvPr>
          <p:cNvSpPr>
            <a:spLocks xmlns:a="http://schemas.openxmlformats.org/drawingml/2006/main" noGrp="1"/>
          </p:cNvSpPr>
          <p:nvPr/>
        </p:nvSpPr>
        <p:spPr>
          <a:xfrm xmlns:a="http://schemas.openxmlformats.org/drawingml/2006/main">
            <a:off x="9601200" y="4114800"/>
            <a:ext cx="822960" cy="0"/>
          </a:xfrm>
          <a:prstGeom xmlns:a="http://schemas.openxmlformats.org/drawingml/2006/main" prst="line">
            <a:avLst/>
          </a:prstGeom>
          <a:ln xmlns:a="http://schemas.openxmlformats.org/drawingml/2006/main" w="25400">
            <a:solidFill>
              <a:srgbClr val="54BE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TextBox 21">
            <a:extLst xmlns:a="http://schemas.openxmlformats.org/drawingml/2006/main">
              <a:ext uri="{FF2B5EF4-FFF2-40B4-BE49-F238E27FC236}">
                <a16:creationId xmlns:a16="http://schemas.microsoft.com/office/drawing/2014/main" id="{22C963C3-92DD-433C-9BBE-EA95F51BC141}"/>
              </a:ext>
            </a:extLst>
          </p:cNvPr>
          <p:cNvSpPr>
            <a:spLocks xmlns:a="http://schemas.openxmlformats.org/drawingml/2006/main" noGrp="1"/>
          </p:cNvSpPr>
          <p:nvPr/>
        </p:nvSpPr>
        <p:spPr>
          <a:xfrm xmlns:a="http://schemas.openxmlformats.org/drawingml/2006/main">
            <a:off x="7452360" y="5074920"/>
            <a:ext cx="4023360" cy="50292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1000" b="1">
                <a:solidFill>
                  <a:srgbClr val="2BD2BE"/>
                </a:solidFill>
                <a:latin typeface="Aptos"/>
                <a:ea typeface="Aptos"/>
                <a:cs typeface="Aptos"/>
              </a:rPr>
              <a:t>Observe • Assess • Coordinate • Reassess</a:t>
            </a:r>
          </a:p>
        </p:txBody>
      </p:sp>
      <p:sp>
        <p:nvSpPr>
          <p:cNvPr id="23" name="TextBox 22">
            <a:extLst xmlns:a="http://schemas.openxmlformats.org/drawingml/2006/main">
              <a:ext uri="{FF2B5EF4-FFF2-40B4-BE49-F238E27FC236}">
                <a16:creationId xmlns:a16="http://schemas.microsoft.com/office/drawing/2014/main" id="{504647D7-29D4-4246-9DBC-EEBE281D47DE}"/>
              </a:ext>
            </a:extLst>
          </p:cNvPr>
          <p:cNvSpPr>
            <a:spLocks xmlns:a="http://schemas.openxmlformats.org/drawingml/2006/main" noGrp="1"/>
          </p:cNvSpPr>
          <p:nvPr/>
        </p:nvSpPr>
        <p:spPr>
          <a:xfrm xmlns:a="http://schemas.openxmlformats.org/drawingml/2006/main">
            <a:off x="713232" y="6355080"/>
            <a:ext cx="10058400"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00" b="0">
                <a:solidFill>
                  <a:srgbClr val="A9BBCD"/>
                </a:solidFill>
                <a:latin typeface="Aptos"/>
                <a:ea typeface="Aptos"/>
                <a:cs typeface="Aptos"/>
              </a:rPr>
              <a:t>Academic prototype • No claim of clinical deployment or clinical validation</a:t>
            </a:r>
          </a:p>
        </p:txBody>
      </p:sp>
    </p:spTree>
    <p:extLst>
      <p:ext uri="{BB962C8B-B14F-4D97-AF65-F5344CB8AC3E}">
        <p14:creationId xmlns:p14="http://schemas.microsoft.com/office/powerpoint/2010/main" val="427650004"/>
      </p:ext>
    </p:extLst>
  </p:cSld>
</p:sld>
</file>

<file path=ppt/slides/slide2.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3429FBE-A8A8-42F3-B235-29C9CE6AC5DE}"/>
              </a:ext>
            </a:extLst>
          </p:cNvPr>
          <p:cNvSpPr>
            <a:spLocks xmlns:a="http://schemas.openxmlformats.org/drawingml/2006/main" noGrp="1"/>
          </p:cNvSpPr>
          <p:nvPr/>
        </p:nvSpPr>
        <p:spPr>
          <a:xfrm xmlns:a="http://schemas.openxmlformats.org/drawingml/2006/main">
            <a:off x="502920" y="201168"/>
            <a:ext cx="7315200" cy="22860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900" b="1">
                <a:solidFill>
                  <a:srgbClr val="2BD2BE"/>
                </a:solidFill>
                <a:latin typeface="Aptos"/>
                <a:ea typeface="Aptos"/>
                <a:cs typeface="Aptos"/>
              </a:rPr>
              <a:t>01 / OVERVIEW</a:t>
            </a:r>
          </a:p>
        </p:txBody>
      </p:sp>
      <p:sp>
        <p:nvSpPr>
          <p:cNvPr id="3" name="TextBox 2">
            <a:extLst xmlns:a="http://schemas.openxmlformats.org/drawingml/2006/main">
              <a:ext uri="{FF2B5EF4-FFF2-40B4-BE49-F238E27FC236}">
                <a16:creationId xmlns:a16="http://schemas.microsoft.com/office/drawing/2014/main" id="{CD7CE084-075A-4E88-A3C5-D87EFA147EDD}"/>
              </a:ext>
            </a:extLst>
          </p:cNvPr>
          <p:cNvSpPr>
            <a:spLocks xmlns:a="http://schemas.openxmlformats.org/drawingml/2006/main" noGrp="1"/>
          </p:cNvSpPr>
          <p:nvPr/>
        </p:nvSpPr>
        <p:spPr>
          <a:xfrm xmlns:a="http://schemas.openxmlformats.org/drawingml/2006/main">
            <a:off x="502920" y="475488"/>
            <a:ext cx="10972800" cy="45720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2500" b="1">
                <a:solidFill>
                  <a:srgbClr val="F2F7FC"/>
                </a:solidFill>
                <a:latin typeface="Aptos"/>
                <a:ea typeface="Aptos"/>
                <a:cs typeface="Aptos"/>
              </a:rPr>
              <a:t>Abstract</a:t>
            </a:r>
          </a:p>
        </p:txBody>
      </p:sp>
      <p:sp>
        <p:nvSpPr>
          <p:cNvPr id="4" name="TextBox 3">
            <a:extLst xmlns:a="http://schemas.openxmlformats.org/drawingml/2006/main">
              <a:ext uri="{FF2B5EF4-FFF2-40B4-BE49-F238E27FC236}">
                <a16:creationId xmlns:a16="http://schemas.microsoft.com/office/drawing/2014/main" id="{161D43BB-18E2-4226-B5C9-793F4AB383B7}"/>
              </a:ext>
            </a:extLst>
          </p:cNvPr>
          <p:cNvSpPr>
            <a:spLocks xmlns:a="http://schemas.openxmlformats.org/drawingml/2006/main" noGrp="1"/>
          </p:cNvSpPr>
          <p:nvPr/>
        </p:nvSpPr>
        <p:spPr>
          <a:xfrm xmlns:a="http://schemas.openxmlformats.org/drawingml/2006/main">
            <a:off x="530352" y="987552"/>
            <a:ext cx="10972800" cy="27432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1000" b="0">
                <a:solidFill>
                  <a:srgbClr val="A9BBCD"/>
                </a:solidFill>
                <a:latin typeface="Aptos"/>
                <a:ea typeface="Aptos"/>
                <a:cs typeface="Aptos"/>
              </a:rPr>
              <a:t>A human-centered coordination layer for changing patient needs</a:t>
            </a:r>
          </a:p>
        </p:txBody>
      </p:sp>
      <p:sp>
        <p:nvSpPr>
          <p:cNvPr id="5" name="Connector 4">
            <a:extLst xmlns:a="http://schemas.openxmlformats.org/drawingml/2006/main">
              <a:ext uri="{FF2B5EF4-FFF2-40B4-BE49-F238E27FC236}">
                <a16:creationId xmlns:a16="http://schemas.microsoft.com/office/drawing/2014/main" id="{D18A193F-3E7E-46C4-AA71-F3AF977DE635}"/>
              </a:ext>
            </a:extLst>
          </p:cNvPr>
          <p:cNvSpPr>
            <a:spLocks xmlns:a="http://schemas.openxmlformats.org/drawingml/2006/main" noGrp="1"/>
          </p:cNvSpPr>
          <p:nvPr/>
        </p:nvSpPr>
        <p:spPr>
          <a:xfrm xmlns:a="http://schemas.openxmlformats.org/drawingml/2006/main">
            <a:off x="502920" y="1371600"/>
            <a:ext cx="11183112" cy="0"/>
          </a:xfrm>
          <a:prstGeom xmlns:a="http://schemas.openxmlformats.org/drawingml/2006/main" prst="line">
            <a:avLst/>
          </a:prstGeom>
          <a:ln xmlns:a="http://schemas.openxmlformats.org/drawingml/2006/main" w="1016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9D3D40AE-B6D8-482E-B692-F773DA56DA78}"/>
              </a:ext>
            </a:extLst>
          </p:cNvPr>
          <p:cNvSpPr>
            <a:spLocks xmlns:a="http://schemas.openxmlformats.org/drawingml/2006/main" noGrp="1"/>
          </p:cNvSpPr>
          <p:nvPr/>
        </p:nvSpPr>
        <p:spPr>
          <a:xfrm xmlns:a="http://schemas.openxmlformats.org/drawingml/2006/main">
            <a:off x="548640" y="6537960"/>
            <a:ext cx="5486400"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CAREBRIDGE 2.0 • ACADEMIC PROJECT</a:t>
            </a:r>
          </a:p>
        </p:txBody>
      </p:sp>
      <p:sp>
        <p:nvSpPr>
          <p:cNvPr id="7" name="TextBox 6">
            <a:extLst xmlns:a="http://schemas.openxmlformats.org/drawingml/2006/main">
              <a:ext uri="{FF2B5EF4-FFF2-40B4-BE49-F238E27FC236}">
                <a16:creationId xmlns:a16="http://schemas.microsoft.com/office/drawing/2014/main" id="{EF0683D1-8C14-4C2C-818D-A306E8209947}"/>
              </a:ext>
            </a:extLst>
          </p:cNvPr>
          <p:cNvSpPr>
            <a:spLocks xmlns:a="http://schemas.openxmlformats.org/drawingml/2006/main" noGrp="1"/>
          </p:cNvSpPr>
          <p:nvPr/>
        </p:nvSpPr>
        <p:spPr>
          <a:xfrm xmlns:a="http://schemas.openxmlformats.org/drawingml/2006/main">
            <a:off x="11155680" y="6537960"/>
            <a:ext cx="457200"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r">
              <a:buNone/>
            </a:pPr>
            <a:r>
              <a:rPr sz="750" b="1">
                <a:solidFill>
                  <a:srgbClr val="A9BBCD"/>
                </a:solidFill>
                <a:latin typeface="Aptos"/>
                <a:ea typeface="Aptos"/>
                <a:cs typeface="Aptos"/>
              </a:rPr>
              <a:t>02</a:t>
            </a:r>
          </a:p>
        </p:txBody>
      </p:sp>
      <p:sp>
        <p:nvSpPr>
          <p:cNvPr id="8" name="Rounded Rectangle 7">
            <a:extLst xmlns:a="http://schemas.openxmlformats.org/drawingml/2006/main">
              <a:ext uri="{FF2B5EF4-FFF2-40B4-BE49-F238E27FC236}">
                <a16:creationId xmlns:a16="http://schemas.microsoft.com/office/drawing/2014/main" id="{AE483E67-EF29-4C08-95BE-1157731B07D4}"/>
              </a:ext>
            </a:extLst>
          </p:cNvPr>
          <p:cNvSpPr>
            <a:spLocks xmlns:a="http://schemas.openxmlformats.org/drawingml/2006/main" noGrp="1"/>
          </p:cNvSpPr>
          <p:nvPr/>
        </p:nvSpPr>
        <p:spPr>
          <a:xfrm xmlns:a="http://schemas.openxmlformats.org/drawingml/2006/main">
            <a:off x="594360" y="1664208"/>
            <a:ext cx="6812280" cy="4069080"/>
          </a:xfrm>
          <a:prstGeom xmlns:a="http://schemas.openxmlformats.org/drawingml/2006/main" prst="round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7D6E4932-0CD0-4826-A556-0F38C913BF0F}"/>
              </a:ext>
            </a:extLst>
          </p:cNvPr>
          <p:cNvSpPr>
            <a:spLocks xmlns:a="http://schemas.openxmlformats.org/drawingml/2006/main" noGrp="1"/>
          </p:cNvSpPr>
          <p:nvPr/>
        </p:nvSpPr>
        <p:spPr>
          <a:xfrm xmlns:a="http://schemas.openxmlformats.org/drawingml/2006/main">
            <a:off x="868680" y="1901952"/>
            <a:ext cx="6263640" cy="3611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1400" b="0">
                <a:solidFill>
                  <a:srgbClr val="F2F7FC"/>
                </a:solidFill>
                <a:latin typeface="Aptos"/>
                <a:ea typeface="Aptos"/>
                <a:cs typeface="Aptos"/>
              </a:rPr>
              <a:t>CareBridge 2.0 is a human-centered emergency-care coordination platform designed to support emergency department operations. It combines clinical observations, rule-based reasoning, machine-learning components where configured, classical AI algorithms, constraint-based resource allocation, and dynamic reassessment. The system separates patient observations, automated clinical risk, doctor clinical assessment, operational priority, and resource allocation so each remains interpretable. It supports coordination of patients, doctors, rooms, beds, and medical resources. When new observations or a doctor’s saved assessment are recorded, the system can reassess the current state, update operational priority and alerts, and trigger dynamic replanning when required. Historical observations and decisions remain available for review. The goal is to improve operational visibility, consistency, and traceability without replacing professional judgment. AI supports clinical and operational decision-making while keeping healthcare professionals in control of clinical decisions.</a:t>
            </a:r>
          </a:p>
        </p:txBody>
      </p:sp>
      <p:sp>
        <p:nvSpPr>
          <p:cNvPr id="10" name="Rounded Rectangle 9">
            <a:extLst xmlns:a="http://schemas.openxmlformats.org/drawingml/2006/main">
              <a:ext uri="{FF2B5EF4-FFF2-40B4-BE49-F238E27FC236}">
                <a16:creationId xmlns:a16="http://schemas.microsoft.com/office/drawing/2014/main" id="{BD6CB17E-C8CB-4B6E-95F1-CC4524716987}"/>
              </a:ext>
            </a:extLst>
          </p:cNvPr>
          <p:cNvSpPr>
            <a:spLocks xmlns:a="http://schemas.openxmlformats.org/drawingml/2006/main" noGrp="1"/>
          </p:cNvSpPr>
          <p:nvPr/>
        </p:nvSpPr>
        <p:spPr>
          <a:xfrm xmlns:a="http://schemas.openxmlformats.org/drawingml/2006/main">
            <a:off x="7635240" y="1664208"/>
            <a:ext cx="3931920" cy="4069080"/>
          </a:xfrm>
          <a:prstGeom xmlns:a="http://schemas.openxmlformats.org/drawingml/2006/main" prst="round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197746FB-592A-41C5-BE84-818BF33C5B2D}"/>
              </a:ext>
            </a:extLst>
          </p:cNvPr>
          <p:cNvSpPr>
            <a:spLocks xmlns:a="http://schemas.openxmlformats.org/drawingml/2006/main" noGrp="1"/>
          </p:cNvSpPr>
          <p:nvPr/>
        </p:nvSpPr>
        <p:spPr>
          <a:xfrm xmlns:a="http://schemas.openxmlformats.org/drawingml/2006/main">
            <a:off x="7955279" y="1901952"/>
            <a:ext cx="3291840" cy="22860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1000" b="1">
                <a:solidFill>
                  <a:srgbClr val="2BD2BE"/>
                </a:solidFill>
                <a:latin typeface="Aptos"/>
                <a:ea typeface="Aptos"/>
                <a:cs typeface="Aptos"/>
              </a:rPr>
              <a:t>FIVE DISTINCT CONCEPTS</a:t>
            </a:r>
          </a:p>
        </p:txBody>
      </p:sp>
      <p:sp>
        <p:nvSpPr>
          <p:cNvPr id="12" name="Oval 11">
            <a:extLst xmlns:a="http://schemas.openxmlformats.org/drawingml/2006/main">
              <a:ext uri="{FF2B5EF4-FFF2-40B4-BE49-F238E27FC236}">
                <a16:creationId xmlns:a16="http://schemas.microsoft.com/office/drawing/2014/main" id="{8227C258-AE16-406B-8655-C1C9B2E36725}"/>
              </a:ext>
            </a:extLst>
          </p:cNvPr>
          <p:cNvSpPr>
            <a:spLocks xmlns:a="http://schemas.openxmlformats.org/drawingml/2006/main" noGrp="1"/>
          </p:cNvSpPr>
          <p:nvPr/>
        </p:nvSpPr>
        <p:spPr>
          <a:xfrm xmlns:a="http://schemas.openxmlformats.org/drawingml/2006/main">
            <a:off x="7973568" y="2395728"/>
            <a:ext cx="283464" cy="283464"/>
          </a:xfrm>
          <a:prstGeom xmlns:a="http://schemas.openxmlformats.org/drawingml/2006/main" prst="ellipse">
            <a:avLst/>
          </a:prstGeom>
          <a:solidFill xmlns:a="http://schemas.openxmlformats.org/drawingml/2006/main">
            <a:srgbClr val="54BEF0"/>
          </a:solidFill>
          <a:ln xmlns:a="http://schemas.openxmlformats.org/drawingml/2006/main">
            <a:solidFill>
              <a:srgbClr val="54BE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4AA02D7-B28D-494A-866E-11A3CEBC0CF6}"/>
              </a:ext>
            </a:extLst>
          </p:cNvPr>
          <p:cNvSpPr>
            <a:spLocks xmlns:a="http://schemas.openxmlformats.org/drawingml/2006/main" noGrp="1"/>
          </p:cNvSpPr>
          <p:nvPr/>
        </p:nvSpPr>
        <p:spPr>
          <a:xfrm xmlns:a="http://schemas.openxmlformats.org/drawingml/2006/main">
            <a:off x="8394192" y="2432304"/>
            <a:ext cx="2788920" cy="20116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1050" b="1">
                <a:solidFill>
                  <a:srgbClr val="F2F7FC"/>
                </a:solidFill>
                <a:latin typeface="Aptos"/>
                <a:ea typeface="Aptos"/>
                <a:cs typeface="Aptos"/>
              </a:rPr>
              <a:t>Patient observations</a:t>
            </a:r>
          </a:p>
        </p:txBody>
      </p:sp>
      <p:sp>
        <p:nvSpPr>
          <p:cNvPr id="14" name="Oval 13">
            <a:extLst xmlns:a="http://schemas.openxmlformats.org/drawingml/2006/main">
              <a:ext uri="{FF2B5EF4-FFF2-40B4-BE49-F238E27FC236}">
                <a16:creationId xmlns:a16="http://schemas.microsoft.com/office/drawing/2014/main" id="{52276878-E091-4D09-81D2-9461C2F13A73}"/>
              </a:ext>
            </a:extLst>
          </p:cNvPr>
          <p:cNvSpPr>
            <a:spLocks xmlns:a="http://schemas.openxmlformats.org/drawingml/2006/main" noGrp="1"/>
          </p:cNvSpPr>
          <p:nvPr/>
        </p:nvSpPr>
        <p:spPr>
          <a:xfrm xmlns:a="http://schemas.openxmlformats.org/drawingml/2006/main">
            <a:off x="7973568" y="2962656"/>
            <a:ext cx="283464" cy="283464"/>
          </a:xfrm>
          <a:prstGeom xmlns:a="http://schemas.openxmlformats.org/drawingml/2006/main" prst="ellipse">
            <a:avLst/>
          </a:prstGeom>
          <a:solidFill xmlns:a="http://schemas.openxmlformats.org/drawingml/2006/main">
            <a:srgbClr val="9C7DFF"/>
          </a:solidFill>
          <a:ln xmlns:a="http://schemas.openxmlformats.org/drawingml/2006/main">
            <a:solidFill>
              <a:srgbClr val="9C7D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995705AB-49C1-4785-A3AB-A842C277605E}"/>
              </a:ext>
            </a:extLst>
          </p:cNvPr>
          <p:cNvSpPr>
            <a:spLocks xmlns:a="http://schemas.openxmlformats.org/drawingml/2006/main" noGrp="1"/>
          </p:cNvSpPr>
          <p:nvPr/>
        </p:nvSpPr>
        <p:spPr>
          <a:xfrm xmlns:a="http://schemas.openxmlformats.org/drawingml/2006/main">
            <a:off x="8394192" y="2999232"/>
            <a:ext cx="2788920" cy="20116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1050" b="1">
                <a:solidFill>
                  <a:srgbClr val="F2F7FC"/>
                </a:solidFill>
                <a:latin typeface="Aptos"/>
                <a:ea typeface="Aptos"/>
                <a:cs typeface="Aptos"/>
              </a:rPr>
              <a:t>Automated system risk</a:t>
            </a:r>
          </a:p>
        </p:txBody>
      </p:sp>
      <p:sp>
        <p:nvSpPr>
          <p:cNvPr id="16" name="Oval 15">
            <a:extLst xmlns:a="http://schemas.openxmlformats.org/drawingml/2006/main">
              <a:ext uri="{FF2B5EF4-FFF2-40B4-BE49-F238E27FC236}">
                <a16:creationId xmlns:a16="http://schemas.microsoft.com/office/drawing/2014/main" id="{C38FC732-40C7-4851-BF00-DD76A7E6FB31}"/>
              </a:ext>
            </a:extLst>
          </p:cNvPr>
          <p:cNvSpPr>
            <a:spLocks xmlns:a="http://schemas.openxmlformats.org/drawingml/2006/main" noGrp="1"/>
          </p:cNvSpPr>
          <p:nvPr/>
        </p:nvSpPr>
        <p:spPr>
          <a:xfrm xmlns:a="http://schemas.openxmlformats.org/drawingml/2006/main">
            <a:off x="7973568" y="3529584"/>
            <a:ext cx="283464" cy="283464"/>
          </a:xfrm>
          <a:prstGeom xmlns:a="http://schemas.openxmlformats.org/drawingml/2006/main" prst="ellipse">
            <a:avLst/>
          </a:prstGeom>
          <a:solidFill xmlns:a="http://schemas.openxmlformats.org/drawingml/2006/main">
            <a:srgbClr val="49DC9E"/>
          </a:solidFill>
          <a:ln xmlns:a="http://schemas.openxmlformats.org/drawingml/2006/main">
            <a:solidFill>
              <a:srgbClr val="49DC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95773AD3-D4E3-4A2D-9C26-04494C18723B}"/>
              </a:ext>
            </a:extLst>
          </p:cNvPr>
          <p:cNvSpPr>
            <a:spLocks xmlns:a="http://schemas.openxmlformats.org/drawingml/2006/main" noGrp="1"/>
          </p:cNvSpPr>
          <p:nvPr/>
        </p:nvSpPr>
        <p:spPr>
          <a:xfrm xmlns:a="http://schemas.openxmlformats.org/drawingml/2006/main">
            <a:off x="8394192" y="3566160"/>
            <a:ext cx="2788920" cy="20116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1050" b="1">
                <a:solidFill>
                  <a:srgbClr val="F2F7FC"/>
                </a:solidFill>
                <a:latin typeface="Aptos"/>
                <a:ea typeface="Aptos"/>
                <a:cs typeface="Aptos"/>
              </a:rPr>
              <a:t>Doctor assessment</a:t>
            </a:r>
          </a:p>
        </p:txBody>
      </p:sp>
      <p:sp>
        <p:nvSpPr>
          <p:cNvPr id="18" name="Oval 17">
            <a:extLst xmlns:a="http://schemas.openxmlformats.org/drawingml/2006/main">
              <a:ext uri="{FF2B5EF4-FFF2-40B4-BE49-F238E27FC236}">
                <a16:creationId xmlns:a16="http://schemas.microsoft.com/office/drawing/2014/main" id="{88E08448-1C65-4264-B06B-FB70FD36DD65}"/>
              </a:ext>
            </a:extLst>
          </p:cNvPr>
          <p:cNvSpPr>
            <a:spLocks xmlns:a="http://schemas.openxmlformats.org/drawingml/2006/main" noGrp="1"/>
          </p:cNvSpPr>
          <p:nvPr/>
        </p:nvSpPr>
        <p:spPr>
          <a:xfrm xmlns:a="http://schemas.openxmlformats.org/drawingml/2006/main">
            <a:off x="7973568" y="4096512"/>
            <a:ext cx="283464" cy="283464"/>
          </a:xfrm>
          <a:prstGeom xmlns:a="http://schemas.openxmlformats.org/drawingml/2006/main" prst="ellipse">
            <a:avLst/>
          </a:prstGeom>
          <a:solidFill xmlns:a="http://schemas.openxmlformats.org/drawingml/2006/main">
            <a:srgbClr val="FFB153"/>
          </a:solidFill>
          <a:ln xmlns:a="http://schemas.openxmlformats.org/drawingml/2006/main">
            <a:solidFill>
              <a:srgbClr val="FFB15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6FADF33F-8A37-4AC8-95C5-C91F661F7005}"/>
              </a:ext>
            </a:extLst>
          </p:cNvPr>
          <p:cNvSpPr>
            <a:spLocks xmlns:a="http://schemas.openxmlformats.org/drawingml/2006/main" noGrp="1"/>
          </p:cNvSpPr>
          <p:nvPr/>
        </p:nvSpPr>
        <p:spPr>
          <a:xfrm xmlns:a="http://schemas.openxmlformats.org/drawingml/2006/main">
            <a:off x="8394192" y="4133088"/>
            <a:ext cx="2788920" cy="20116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1050" b="1">
                <a:solidFill>
                  <a:srgbClr val="F2F7FC"/>
                </a:solidFill>
                <a:latin typeface="Aptos"/>
                <a:ea typeface="Aptos"/>
                <a:cs typeface="Aptos"/>
              </a:rPr>
              <a:t>Operational priority</a:t>
            </a:r>
          </a:p>
        </p:txBody>
      </p:sp>
      <p:sp>
        <p:nvSpPr>
          <p:cNvPr id="20" name="Oval 19">
            <a:extLst xmlns:a="http://schemas.openxmlformats.org/drawingml/2006/main">
              <a:ext uri="{FF2B5EF4-FFF2-40B4-BE49-F238E27FC236}">
                <a16:creationId xmlns:a16="http://schemas.microsoft.com/office/drawing/2014/main" id="{1EF3649A-F84D-422D-A0F7-BAAD351CD1FA}"/>
              </a:ext>
            </a:extLst>
          </p:cNvPr>
          <p:cNvSpPr>
            <a:spLocks xmlns:a="http://schemas.openxmlformats.org/drawingml/2006/main" noGrp="1"/>
          </p:cNvSpPr>
          <p:nvPr/>
        </p:nvSpPr>
        <p:spPr>
          <a:xfrm xmlns:a="http://schemas.openxmlformats.org/drawingml/2006/main">
            <a:off x="7973568" y="4663440"/>
            <a:ext cx="283464" cy="283464"/>
          </a:xfrm>
          <a:prstGeom xmlns:a="http://schemas.openxmlformats.org/drawingml/2006/main" prst="ellipse">
            <a:avLst/>
          </a:prstGeom>
          <a:solidFill xmlns:a="http://schemas.openxmlformats.org/drawingml/2006/main">
            <a:srgbClr val="2BD2BE"/>
          </a:solidFill>
          <a:ln xmlns:a="http://schemas.openxmlformats.org/drawingml/2006/main">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7312E7F1-CC67-4D00-93F1-EDD3509233EF}"/>
              </a:ext>
            </a:extLst>
          </p:cNvPr>
          <p:cNvSpPr>
            <a:spLocks xmlns:a="http://schemas.openxmlformats.org/drawingml/2006/main" noGrp="1"/>
          </p:cNvSpPr>
          <p:nvPr/>
        </p:nvSpPr>
        <p:spPr>
          <a:xfrm xmlns:a="http://schemas.openxmlformats.org/drawingml/2006/main">
            <a:off x="8394192" y="4700016"/>
            <a:ext cx="2788920" cy="20116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1050" b="1">
                <a:solidFill>
                  <a:srgbClr val="F2F7FC"/>
                </a:solidFill>
                <a:latin typeface="Aptos"/>
                <a:ea typeface="Aptos"/>
                <a:cs typeface="Aptos"/>
              </a:rPr>
              <a:t>Resource allocation</a:t>
            </a:r>
          </a:p>
        </p:txBody>
      </p:sp>
      <p:sp>
        <p:nvSpPr>
          <p:cNvPr id="22" name="Rounded Rectangle 21">
            <a:extLst xmlns:a="http://schemas.openxmlformats.org/drawingml/2006/main">
              <a:ext uri="{FF2B5EF4-FFF2-40B4-BE49-F238E27FC236}">
                <a16:creationId xmlns:a16="http://schemas.microsoft.com/office/drawing/2014/main" id="{950FEE3D-BF75-4C78-BD8F-599A4A2CC11D}"/>
              </a:ext>
            </a:extLst>
          </p:cNvPr>
          <p:cNvSpPr>
            <a:spLocks xmlns:a="http://schemas.openxmlformats.org/drawingml/2006/main" noGrp="1"/>
          </p:cNvSpPr>
          <p:nvPr/>
        </p:nvSpPr>
        <p:spPr>
          <a:xfrm xmlns:a="http://schemas.openxmlformats.org/drawingml/2006/main">
            <a:off x="621792" y="5879592"/>
            <a:ext cx="10927080" cy="384048"/>
          </a:xfrm>
          <a:prstGeom xmlns:a="http://schemas.openxmlformats.org/drawingml/2006/main" prst="roundRect">
            <a:avLst/>
          </a:prstGeom>
          <a:solidFill xmlns:a="http://schemas.openxmlformats.org/drawingml/2006/main">
            <a:srgbClr val="0F383C"/>
          </a:solidFill>
          <a:ln xmlns:a="http://schemas.openxmlformats.org/drawingml/2006/main" w="10160">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61DD7D85-AFDD-4348-A3C2-DCEAEAAC9A57}"/>
              </a:ext>
            </a:extLst>
          </p:cNvPr>
          <p:cNvSpPr>
            <a:spLocks xmlns:a="http://schemas.openxmlformats.org/drawingml/2006/main" noGrp="1"/>
          </p:cNvSpPr>
          <p:nvPr/>
        </p:nvSpPr>
        <p:spPr>
          <a:xfrm xmlns:a="http://schemas.openxmlformats.org/drawingml/2006/main">
            <a:off x="822960" y="5952744"/>
            <a:ext cx="10515600" cy="20116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950" b="1">
                <a:solidFill>
                  <a:srgbClr val="2BD2BE"/>
                </a:solidFill>
                <a:latin typeface="Aptos"/>
                <a:ea typeface="Aptos"/>
                <a:cs typeface="Aptos"/>
              </a:rPr>
              <a:t>AI SUPPORTS DECISIONS — HEALTHCARE PROFESSIONALS RETAIN CLINICAL AUTHORITY</a:t>
            </a:r>
          </a:p>
        </p:txBody>
      </p:sp>
    </p:spTree>
    <p:extLst>
      <p:ext uri="{BB962C8B-B14F-4D97-AF65-F5344CB8AC3E}">
        <p14:creationId xmlns:p14="http://schemas.microsoft.com/office/powerpoint/2010/main" val="1881828517"/>
      </p:ext>
    </p:extLst>
  </p:cSld>
</p:sld>
</file>

<file path=ppt/slides/slide3.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6979D11-ACBB-430B-9E98-79D41721113D}"/>
              </a:ext>
            </a:extLst>
          </p:cNvPr>
          <p:cNvSpPr>
            <a:spLocks xmlns:a="http://schemas.openxmlformats.org/drawingml/2006/main" noGrp="1"/>
          </p:cNvSpPr>
          <p:nvPr/>
        </p:nvSpPr>
        <p:spPr>
          <a:xfrm xmlns:a="http://schemas.openxmlformats.org/drawingml/2006/main">
            <a:off x="502920" y="201168"/>
            <a:ext cx="7315200" cy="22860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900" b="1">
                <a:solidFill>
                  <a:srgbClr val="2BD2BE"/>
                </a:solidFill>
                <a:latin typeface="Aptos"/>
                <a:ea typeface="Aptos"/>
                <a:cs typeface="Aptos"/>
              </a:rPr>
              <a:t>02 / BACKGROUND</a:t>
            </a:r>
          </a:p>
        </p:txBody>
      </p:sp>
      <p:sp>
        <p:nvSpPr>
          <p:cNvPr id="3" name="TextBox 2">
            <a:extLst xmlns:a="http://schemas.openxmlformats.org/drawingml/2006/main">
              <a:ext uri="{FF2B5EF4-FFF2-40B4-BE49-F238E27FC236}">
                <a16:creationId xmlns:a16="http://schemas.microsoft.com/office/drawing/2014/main" id="{00066435-15BF-49F9-BBFE-E2F165156A2C}"/>
              </a:ext>
            </a:extLst>
          </p:cNvPr>
          <p:cNvSpPr>
            <a:spLocks xmlns:a="http://schemas.openxmlformats.org/drawingml/2006/main" noGrp="1"/>
          </p:cNvSpPr>
          <p:nvPr/>
        </p:nvSpPr>
        <p:spPr>
          <a:xfrm xmlns:a="http://schemas.openxmlformats.org/drawingml/2006/main">
            <a:off x="502920" y="475488"/>
            <a:ext cx="10972800" cy="45720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2500" b="1">
                <a:solidFill>
                  <a:srgbClr val="F2F7FC"/>
                </a:solidFill>
                <a:latin typeface="Aptos"/>
                <a:ea typeface="Aptos"/>
                <a:cs typeface="Aptos"/>
              </a:rPr>
              <a:t>Literature Survey</a:t>
            </a:r>
          </a:p>
        </p:txBody>
      </p:sp>
      <p:sp>
        <p:nvSpPr>
          <p:cNvPr id="4" name="TextBox 3">
            <a:extLst xmlns:a="http://schemas.openxmlformats.org/drawingml/2006/main">
              <a:ext uri="{FF2B5EF4-FFF2-40B4-BE49-F238E27FC236}">
                <a16:creationId xmlns:a16="http://schemas.microsoft.com/office/drawing/2014/main" id="{C0DA8CF7-4CBC-40F0-814B-50A1C3EC9649}"/>
              </a:ext>
            </a:extLst>
          </p:cNvPr>
          <p:cNvSpPr>
            <a:spLocks xmlns:a="http://schemas.openxmlformats.org/drawingml/2006/main" noGrp="1"/>
          </p:cNvSpPr>
          <p:nvPr/>
        </p:nvSpPr>
        <p:spPr>
          <a:xfrm xmlns:a="http://schemas.openxmlformats.org/drawingml/2006/main">
            <a:off x="530352" y="987552"/>
            <a:ext cx="10972800" cy="27432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1000" b="0">
                <a:solidFill>
                  <a:srgbClr val="A9BBCD"/>
                </a:solidFill>
                <a:latin typeface="Aptos"/>
                <a:ea typeface="Aptos"/>
                <a:cs typeface="Aptos"/>
              </a:rPr>
              <a:t>Research themes and design opportunities — no fabricated paper-level citations</a:t>
            </a:r>
          </a:p>
        </p:txBody>
      </p:sp>
      <p:sp>
        <p:nvSpPr>
          <p:cNvPr id="5" name="Connector 4">
            <a:extLst xmlns:a="http://schemas.openxmlformats.org/drawingml/2006/main">
              <a:ext uri="{FF2B5EF4-FFF2-40B4-BE49-F238E27FC236}">
                <a16:creationId xmlns:a16="http://schemas.microsoft.com/office/drawing/2014/main" id="{B0D12EF7-432D-4328-86D8-3DC6CE7ECE33}"/>
              </a:ext>
            </a:extLst>
          </p:cNvPr>
          <p:cNvSpPr>
            <a:spLocks xmlns:a="http://schemas.openxmlformats.org/drawingml/2006/main" noGrp="1"/>
          </p:cNvSpPr>
          <p:nvPr/>
        </p:nvSpPr>
        <p:spPr>
          <a:xfrm xmlns:a="http://schemas.openxmlformats.org/drawingml/2006/main">
            <a:off x="502920" y="1371600"/>
            <a:ext cx="11183112" cy="0"/>
          </a:xfrm>
          <a:prstGeom xmlns:a="http://schemas.openxmlformats.org/drawingml/2006/main" prst="line">
            <a:avLst/>
          </a:prstGeom>
          <a:ln xmlns:a="http://schemas.openxmlformats.org/drawingml/2006/main" w="1016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7AFC1C41-AC1B-4C97-B1AE-69AEE8F85D51}"/>
              </a:ext>
            </a:extLst>
          </p:cNvPr>
          <p:cNvSpPr>
            <a:spLocks xmlns:a="http://schemas.openxmlformats.org/drawingml/2006/main" noGrp="1"/>
          </p:cNvSpPr>
          <p:nvPr/>
        </p:nvSpPr>
        <p:spPr>
          <a:xfrm xmlns:a="http://schemas.openxmlformats.org/drawingml/2006/main">
            <a:off x="548640" y="6537960"/>
            <a:ext cx="5486400"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CAREBRIDGE 2.0 • ACADEMIC PROJECT</a:t>
            </a:r>
          </a:p>
        </p:txBody>
      </p:sp>
      <p:sp>
        <p:nvSpPr>
          <p:cNvPr id="7" name="TextBox 6">
            <a:extLst xmlns:a="http://schemas.openxmlformats.org/drawingml/2006/main">
              <a:ext uri="{FF2B5EF4-FFF2-40B4-BE49-F238E27FC236}">
                <a16:creationId xmlns:a16="http://schemas.microsoft.com/office/drawing/2014/main" id="{9082A970-3EAF-466B-A4AB-CD79CA364377}"/>
              </a:ext>
            </a:extLst>
          </p:cNvPr>
          <p:cNvSpPr>
            <a:spLocks xmlns:a="http://schemas.openxmlformats.org/drawingml/2006/main" noGrp="1"/>
          </p:cNvSpPr>
          <p:nvPr/>
        </p:nvSpPr>
        <p:spPr>
          <a:xfrm xmlns:a="http://schemas.openxmlformats.org/drawingml/2006/main">
            <a:off x="11155680" y="6537960"/>
            <a:ext cx="457200"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r">
              <a:buNone/>
            </a:pPr>
            <a:r>
              <a:rPr sz="750" b="1">
                <a:solidFill>
                  <a:srgbClr val="A9BBCD"/>
                </a:solidFill>
                <a:latin typeface="Aptos"/>
                <a:ea typeface="Aptos"/>
                <a:cs typeface="Aptos"/>
              </a:rPr>
              <a:t>03</a:t>
            </a:r>
          </a:p>
        </p:txBody>
      </p:sp>
      <p:sp>
        <p:nvSpPr>
          <p:cNvPr id="8" name="Rectangle 7">
            <a:extLst xmlns:a="http://schemas.openxmlformats.org/drawingml/2006/main">
              <a:ext uri="{FF2B5EF4-FFF2-40B4-BE49-F238E27FC236}">
                <a16:creationId xmlns:a16="http://schemas.microsoft.com/office/drawing/2014/main" id="{30A5202B-0FED-4FA7-8CE9-888E1C2EA329}"/>
              </a:ext>
            </a:extLst>
          </p:cNvPr>
          <p:cNvSpPr>
            <a:spLocks xmlns:a="http://schemas.openxmlformats.org/drawingml/2006/main" noGrp="1"/>
          </p:cNvSpPr>
          <p:nvPr/>
        </p:nvSpPr>
        <p:spPr>
          <a:xfrm xmlns:a="http://schemas.openxmlformats.org/drawingml/2006/main">
            <a:off x="530352" y="1627632"/>
            <a:ext cx="1965960" cy="393192"/>
          </a:xfrm>
          <a:prstGeom xmlns:a="http://schemas.openxmlformats.org/drawingml/2006/main" prst="rect">
            <a:avLst/>
          </a:prstGeom>
          <a:solidFill xmlns:a="http://schemas.openxmlformats.org/drawingml/2006/main">
            <a:srgbClr val="184352"/>
          </a:solidFill>
          <a:ln xmlns:a="http://schemas.openxmlformats.org/drawingml/2006/main" w="10160">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A2246F65-FA12-4CA0-AC2F-04652DAE44FE}"/>
              </a:ext>
            </a:extLst>
          </p:cNvPr>
          <p:cNvSpPr>
            <a:spLocks xmlns:a="http://schemas.openxmlformats.org/drawingml/2006/main" noGrp="1"/>
          </p:cNvSpPr>
          <p:nvPr/>
        </p:nvSpPr>
        <p:spPr>
          <a:xfrm xmlns:a="http://schemas.openxmlformats.org/drawingml/2006/main">
            <a:off x="585215" y="1719072"/>
            <a:ext cx="1856231" cy="20116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80" b="1">
                <a:solidFill>
                  <a:srgbClr val="2BD2BE"/>
                </a:solidFill>
                <a:latin typeface="Aptos"/>
                <a:ea typeface="Aptos"/>
                <a:cs typeface="Aptos"/>
              </a:rPr>
              <a:t>RESEARCH AREA</a:t>
            </a:r>
          </a:p>
        </p:txBody>
      </p:sp>
      <p:sp>
        <p:nvSpPr>
          <p:cNvPr id="10" name="Rectangle 9">
            <a:extLst xmlns:a="http://schemas.openxmlformats.org/drawingml/2006/main">
              <a:ext uri="{FF2B5EF4-FFF2-40B4-BE49-F238E27FC236}">
                <a16:creationId xmlns:a16="http://schemas.microsoft.com/office/drawing/2014/main" id="{10728CB6-AE88-488E-91BE-6A2B708EEB20}"/>
              </a:ext>
            </a:extLst>
          </p:cNvPr>
          <p:cNvSpPr>
            <a:spLocks xmlns:a="http://schemas.openxmlformats.org/drawingml/2006/main" noGrp="1"/>
          </p:cNvSpPr>
          <p:nvPr/>
        </p:nvSpPr>
        <p:spPr>
          <a:xfrm xmlns:a="http://schemas.openxmlformats.org/drawingml/2006/main">
            <a:off x="2514600" y="1627632"/>
            <a:ext cx="2880360" cy="393192"/>
          </a:xfrm>
          <a:prstGeom xmlns:a="http://schemas.openxmlformats.org/drawingml/2006/main" prst="rect">
            <a:avLst/>
          </a:prstGeom>
          <a:solidFill xmlns:a="http://schemas.openxmlformats.org/drawingml/2006/main">
            <a:srgbClr val="184352"/>
          </a:solidFill>
          <a:ln xmlns:a="http://schemas.openxmlformats.org/drawingml/2006/main" w="10160">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BC5D0A2C-457F-4459-9CAE-D67C3B329F2A}"/>
              </a:ext>
            </a:extLst>
          </p:cNvPr>
          <p:cNvSpPr>
            <a:spLocks xmlns:a="http://schemas.openxmlformats.org/drawingml/2006/main" noGrp="1"/>
          </p:cNvSpPr>
          <p:nvPr/>
        </p:nvSpPr>
        <p:spPr>
          <a:xfrm xmlns:a="http://schemas.openxmlformats.org/drawingml/2006/main">
            <a:off x="2569464" y="1719072"/>
            <a:ext cx="2770632" cy="20116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80" b="1">
                <a:solidFill>
                  <a:srgbClr val="2BD2BE"/>
                </a:solidFill>
                <a:latin typeface="Aptos"/>
                <a:ea typeface="Aptos"/>
                <a:cs typeface="Aptos"/>
              </a:rPr>
              <a:t>EXISTING APPROACH</a:t>
            </a:r>
          </a:p>
        </p:txBody>
      </p:sp>
      <p:sp>
        <p:nvSpPr>
          <p:cNvPr id="12" name="Rectangle 11">
            <a:extLst xmlns:a="http://schemas.openxmlformats.org/drawingml/2006/main">
              <a:ext uri="{FF2B5EF4-FFF2-40B4-BE49-F238E27FC236}">
                <a16:creationId xmlns:a16="http://schemas.microsoft.com/office/drawing/2014/main" id="{862792E3-F8A7-4C16-AC5E-971CC835010A}"/>
              </a:ext>
            </a:extLst>
          </p:cNvPr>
          <p:cNvSpPr>
            <a:spLocks xmlns:a="http://schemas.openxmlformats.org/drawingml/2006/main" noGrp="1"/>
          </p:cNvSpPr>
          <p:nvPr/>
        </p:nvSpPr>
        <p:spPr>
          <a:xfrm xmlns:a="http://schemas.openxmlformats.org/drawingml/2006/main">
            <a:off x="5413248" y="1627632"/>
            <a:ext cx="2880360" cy="393192"/>
          </a:xfrm>
          <a:prstGeom xmlns:a="http://schemas.openxmlformats.org/drawingml/2006/main" prst="rect">
            <a:avLst/>
          </a:prstGeom>
          <a:solidFill xmlns:a="http://schemas.openxmlformats.org/drawingml/2006/main">
            <a:srgbClr val="184352"/>
          </a:solidFill>
          <a:ln xmlns:a="http://schemas.openxmlformats.org/drawingml/2006/main" w="10160">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940FDEA-27B6-407A-B3AE-95E494EC7DE2}"/>
              </a:ext>
            </a:extLst>
          </p:cNvPr>
          <p:cNvSpPr>
            <a:spLocks xmlns:a="http://schemas.openxmlformats.org/drawingml/2006/main" noGrp="1"/>
          </p:cNvSpPr>
          <p:nvPr/>
        </p:nvSpPr>
        <p:spPr>
          <a:xfrm xmlns:a="http://schemas.openxmlformats.org/drawingml/2006/main">
            <a:off x="5468112" y="1719072"/>
            <a:ext cx="2770632" cy="20116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80" b="1">
                <a:solidFill>
                  <a:srgbClr val="2BD2BE"/>
                </a:solidFill>
                <a:latin typeface="Aptos"/>
                <a:ea typeface="Aptos"/>
                <a:cs typeface="Aptos"/>
              </a:rPr>
              <a:t>LIMITATION</a:t>
            </a:r>
          </a:p>
        </p:txBody>
      </p:sp>
      <p:sp>
        <p:nvSpPr>
          <p:cNvPr id="14" name="Rectangle 13">
            <a:extLst xmlns:a="http://schemas.openxmlformats.org/drawingml/2006/main">
              <a:ext uri="{FF2B5EF4-FFF2-40B4-BE49-F238E27FC236}">
                <a16:creationId xmlns:a16="http://schemas.microsoft.com/office/drawing/2014/main" id="{95242450-60F3-4CC0-8A22-31CCDA35089D}"/>
              </a:ext>
            </a:extLst>
          </p:cNvPr>
          <p:cNvSpPr>
            <a:spLocks xmlns:a="http://schemas.openxmlformats.org/drawingml/2006/main" noGrp="1"/>
          </p:cNvSpPr>
          <p:nvPr/>
        </p:nvSpPr>
        <p:spPr>
          <a:xfrm xmlns:a="http://schemas.openxmlformats.org/drawingml/2006/main">
            <a:off x="8311896" y="1627632"/>
            <a:ext cx="2971800" cy="393192"/>
          </a:xfrm>
          <a:prstGeom xmlns:a="http://schemas.openxmlformats.org/drawingml/2006/main" prst="rect">
            <a:avLst/>
          </a:prstGeom>
          <a:solidFill xmlns:a="http://schemas.openxmlformats.org/drawingml/2006/main">
            <a:srgbClr val="184352"/>
          </a:solidFill>
          <a:ln xmlns:a="http://schemas.openxmlformats.org/drawingml/2006/main" w="10160">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65B6C5AA-C165-4E79-A791-E75882C44628}"/>
              </a:ext>
            </a:extLst>
          </p:cNvPr>
          <p:cNvSpPr>
            <a:spLocks xmlns:a="http://schemas.openxmlformats.org/drawingml/2006/main" noGrp="1"/>
          </p:cNvSpPr>
          <p:nvPr/>
        </p:nvSpPr>
        <p:spPr>
          <a:xfrm xmlns:a="http://schemas.openxmlformats.org/drawingml/2006/main">
            <a:off x="8366760" y="1719072"/>
            <a:ext cx="2862072" cy="20116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80" b="1">
                <a:solidFill>
                  <a:srgbClr val="2BD2BE"/>
                </a:solidFill>
                <a:latin typeface="Aptos"/>
                <a:ea typeface="Aptos"/>
                <a:cs typeface="Aptos"/>
              </a:rPr>
              <a:t>RESEARCH GAP</a:t>
            </a:r>
          </a:p>
        </p:txBody>
      </p:sp>
      <p:sp>
        <p:nvSpPr>
          <p:cNvPr id="16" name="Rectangle 15">
            <a:extLst xmlns:a="http://schemas.openxmlformats.org/drawingml/2006/main">
              <a:ext uri="{FF2B5EF4-FFF2-40B4-BE49-F238E27FC236}">
                <a16:creationId xmlns:a16="http://schemas.microsoft.com/office/drawing/2014/main" id="{E45F3994-C088-4318-970B-F619D9605DBC}"/>
              </a:ext>
            </a:extLst>
          </p:cNvPr>
          <p:cNvSpPr>
            <a:spLocks xmlns:a="http://schemas.openxmlformats.org/drawingml/2006/main" noGrp="1"/>
          </p:cNvSpPr>
          <p:nvPr/>
        </p:nvSpPr>
        <p:spPr>
          <a:xfrm xmlns:a="http://schemas.openxmlformats.org/drawingml/2006/main">
            <a:off x="530352" y="2066543"/>
            <a:ext cx="196596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9EE4158A-4DA5-4D84-AF2A-9314E7696A76}"/>
              </a:ext>
            </a:extLst>
          </p:cNvPr>
          <p:cNvSpPr>
            <a:spLocks xmlns:a="http://schemas.openxmlformats.org/drawingml/2006/main" noGrp="1"/>
          </p:cNvSpPr>
          <p:nvPr/>
        </p:nvSpPr>
        <p:spPr>
          <a:xfrm xmlns:a="http://schemas.openxmlformats.org/drawingml/2006/main">
            <a:off x="585215" y="2103120"/>
            <a:ext cx="1856231"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1">
                <a:solidFill>
                  <a:srgbClr val="F2F7FC"/>
                </a:solidFill>
                <a:latin typeface="Aptos"/>
                <a:ea typeface="Aptos"/>
                <a:cs typeface="Aptos"/>
              </a:rPr>
              <a:t>Emergency triage</a:t>
            </a:r>
          </a:p>
        </p:txBody>
      </p:sp>
      <p:sp>
        <p:nvSpPr>
          <p:cNvPr id="18" name="Rectangle 17">
            <a:extLst xmlns:a="http://schemas.openxmlformats.org/drawingml/2006/main">
              <a:ext uri="{FF2B5EF4-FFF2-40B4-BE49-F238E27FC236}">
                <a16:creationId xmlns:a16="http://schemas.microsoft.com/office/drawing/2014/main" id="{4AD1CB91-FC85-48B1-A42A-7C5B9F9855FE}"/>
              </a:ext>
            </a:extLst>
          </p:cNvPr>
          <p:cNvSpPr>
            <a:spLocks xmlns:a="http://schemas.openxmlformats.org/drawingml/2006/main" noGrp="1"/>
          </p:cNvSpPr>
          <p:nvPr/>
        </p:nvSpPr>
        <p:spPr>
          <a:xfrm xmlns:a="http://schemas.openxmlformats.org/drawingml/2006/main">
            <a:off x="2514600" y="2066543"/>
            <a:ext cx="288036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E5FE4518-1642-4F72-B4AC-A024E2208A31}"/>
              </a:ext>
            </a:extLst>
          </p:cNvPr>
          <p:cNvSpPr>
            <a:spLocks xmlns:a="http://schemas.openxmlformats.org/drawingml/2006/main" noGrp="1"/>
          </p:cNvSpPr>
          <p:nvPr/>
        </p:nvSpPr>
        <p:spPr>
          <a:xfrm xmlns:a="http://schemas.openxmlformats.org/drawingml/2006/main">
            <a:off x="2569464" y="2103120"/>
            <a:ext cx="2770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Rule-based protocols and urgency scores</a:t>
            </a:r>
          </a:p>
        </p:txBody>
      </p:sp>
      <p:sp>
        <p:nvSpPr>
          <p:cNvPr id="20" name="Rectangle 19">
            <a:extLst xmlns:a="http://schemas.openxmlformats.org/drawingml/2006/main">
              <a:ext uri="{FF2B5EF4-FFF2-40B4-BE49-F238E27FC236}">
                <a16:creationId xmlns:a16="http://schemas.microsoft.com/office/drawing/2014/main" id="{4D1B13B4-612E-43F8-831E-07E6A014FA21}"/>
              </a:ext>
            </a:extLst>
          </p:cNvPr>
          <p:cNvSpPr>
            <a:spLocks xmlns:a="http://schemas.openxmlformats.org/drawingml/2006/main" noGrp="1"/>
          </p:cNvSpPr>
          <p:nvPr/>
        </p:nvSpPr>
        <p:spPr>
          <a:xfrm xmlns:a="http://schemas.openxmlformats.org/drawingml/2006/main">
            <a:off x="5413248" y="2066543"/>
            <a:ext cx="288036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0315A91C-08C0-42D2-9432-05F8057F15C4}"/>
              </a:ext>
            </a:extLst>
          </p:cNvPr>
          <p:cNvSpPr>
            <a:spLocks xmlns:a="http://schemas.openxmlformats.org/drawingml/2006/main" noGrp="1"/>
          </p:cNvSpPr>
          <p:nvPr/>
        </p:nvSpPr>
        <p:spPr>
          <a:xfrm xmlns:a="http://schemas.openxmlformats.org/drawingml/2006/main">
            <a:off x="5468112" y="2103120"/>
            <a:ext cx="2770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Scores alone do not coordinate every resource</a:t>
            </a:r>
          </a:p>
        </p:txBody>
      </p:sp>
      <p:sp>
        <p:nvSpPr>
          <p:cNvPr id="22" name="Rectangle 21">
            <a:extLst xmlns:a="http://schemas.openxmlformats.org/drawingml/2006/main">
              <a:ext uri="{FF2B5EF4-FFF2-40B4-BE49-F238E27FC236}">
                <a16:creationId xmlns:a16="http://schemas.microsoft.com/office/drawing/2014/main" id="{ED0A4775-9072-450E-A48F-ADD50E6FC8E3}"/>
              </a:ext>
            </a:extLst>
          </p:cNvPr>
          <p:cNvSpPr>
            <a:spLocks xmlns:a="http://schemas.openxmlformats.org/drawingml/2006/main" noGrp="1"/>
          </p:cNvSpPr>
          <p:nvPr/>
        </p:nvSpPr>
        <p:spPr>
          <a:xfrm xmlns:a="http://schemas.openxmlformats.org/drawingml/2006/main">
            <a:off x="8311896" y="2066543"/>
            <a:ext cx="297180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DAF4088F-BA72-4EFF-9467-78C6638830CB}"/>
              </a:ext>
            </a:extLst>
          </p:cNvPr>
          <p:cNvSpPr>
            <a:spLocks xmlns:a="http://schemas.openxmlformats.org/drawingml/2006/main" noGrp="1"/>
          </p:cNvSpPr>
          <p:nvPr/>
        </p:nvSpPr>
        <p:spPr>
          <a:xfrm xmlns:a="http://schemas.openxmlformats.org/drawingml/2006/main">
            <a:off x="8366760" y="2103120"/>
            <a:ext cx="286207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Connect triage state to operations</a:t>
            </a:r>
          </a:p>
        </p:txBody>
      </p:sp>
      <p:sp>
        <p:nvSpPr>
          <p:cNvPr id="24" name="Rectangle 23">
            <a:extLst xmlns:a="http://schemas.openxmlformats.org/drawingml/2006/main">
              <a:ext uri="{FF2B5EF4-FFF2-40B4-BE49-F238E27FC236}">
                <a16:creationId xmlns:a16="http://schemas.microsoft.com/office/drawing/2014/main" id="{69398D52-A78B-4591-94AB-2567AD38A89D}"/>
              </a:ext>
            </a:extLst>
          </p:cNvPr>
          <p:cNvSpPr>
            <a:spLocks xmlns:a="http://schemas.openxmlformats.org/drawingml/2006/main" noGrp="1"/>
          </p:cNvSpPr>
          <p:nvPr/>
        </p:nvSpPr>
        <p:spPr>
          <a:xfrm xmlns:a="http://schemas.openxmlformats.org/drawingml/2006/main">
            <a:off x="530352" y="2514600"/>
            <a:ext cx="1965960" cy="411480"/>
          </a:xfrm>
          <a:prstGeom xmlns:a="http://schemas.openxmlformats.org/drawingml/2006/main" prst="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20BF95AB-9F9C-4615-86C6-8BA13720051D}"/>
              </a:ext>
            </a:extLst>
          </p:cNvPr>
          <p:cNvSpPr>
            <a:spLocks xmlns:a="http://schemas.openxmlformats.org/drawingml/2006/main" noGrp="1"/>
          </p:cNvSpPr>
          <p:nvPr/>
        </p:nvSpPr>
        <p:spPr>
          <a:xfrm xmlns:a="http://schemas.openxmlformats.org/drawingml/2006/main">
            <a:off x="585215" y="2551176"/>
            <a:ext cx="1856231"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1">
                <a:solidFill>
                  <a:srgbClr val="F2F7FC"/>
                </a:solidFill>
                <a:latin typeface="Aptos"/>
                <a:ea typeface="Aptos"/>
                <a:cs typeface="Aptos"/>
              </a:rPr>
              <a:t>Early-warning systems</a:t>
            </a:r>
          </a:p>
        </p:txBody>
      </p:sp>
      <p:sp>
        <p:nvSpPr>
          <p:cNvPr id="26" name="Rectangle 25">
            <a:extLst xmlns:a="http://schemas.openxmlformats.org/drawingml/2006/main">
              <a:ext uri="{FF2B5EF4-FFF2-40B4-BE49-F238E27FC236}">
                <a16:creationId xmlns:a16="http://schemas.microsoft.com/office/drawing/2014/main" id="{457BDB73-2146-4428-A2BC-0C2B6C6DD583}"/>
              </a:ext>
            </a:extLst>
          </p:cNvPr>
          <p:cNvSpPr>
            <a:spLocks xmlns:a="http://schemas.openxmlformats.org/drawingml/2006/main" noGrp="1"/>
          </p:cNvSpPr>
          <p:nvPr/>
        </p:nvSpPr>
        <p:spPr>
          <a:xfrm xmlns:a="http://schemas.openxmlformats.org/drawingml/2006/main">
            <a:off x="2514600" y="2514600"/>
            <a:ext cx="2880360" cy="411480"/>
          </a:xfrm>
          <a:prstGeom xmlns:a="http://schemas.openxmlformats.org/drawingml/2006/main" prst="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F9A61887-5844-432E-B87C-A78F79C0B9E8}"/>
              </a:ext>
            </a:extLst>
          </p:cNvPr>
          <p:cNvSpPr>
            <a:spLocks xmlns:a="http://schemas.openxmlformats.org/drawingml/2006/main" noGrp="1"/>
          </p:cNvSpPr>
          <p:nvPr/>
        </p:nvSpPr>
        <p:spPr>
          <a:xfrm xmlns:a="http://schemas.openxmlformats.org/drawingml/2006/main">
            <a:off x="2569464" y="2551176"/>
            <a:ext cx="2770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Vitals and trends flag deterioration</a:t>
            </a:r>
          </a:p>
        </p:txBody>
      </p:sp>
      <p:sp>
        <p:nvSpPr>
          <p:cNvPr id="28" name="Rectangle 27">
            <a:extLst xmlns:a="http://schemas.openxmlformats.org/drawingml/2006/main">
              <a:ext uri="{FF2B5EF4-FFF2-40B4-BE49-F238E27FC236}">
                <a16:creationId xmlns:a16="http://schemas.microsoft.com/office/drawing/2014/main" id="{FAF61D65-C58F-4849-BDB9-9061FB314161}"/>
              </a:ext>
            </a:extLst>
          </p:cNvPr>
          <p:cNvSpPr>
            <a:spLocks xmlns:a="http://schemas.openxmlformats.org/drawingml/2006/main" noGrp="1"/>
          </p:cNvSpPr>
          <p:nvPr/>
        </p:nvSpPr>
        <p:spPr>
          <a:xfrm xmlns:a="http://schemas.openxmlformats.org/drawingml/2006/main">
            <a:off x="5413248" y="2514600"/>
            <a:ext cx="2880360" cy="411480"/>
          </a:xfrm>
          <a:prstGeom xmlns:a="http://schemas.openxmlformats.org/drawingml/2006/main" prst="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TextBox 28">
            <a:extLst xmlns:a="http://schemas.openxmlformats.org/drawingml/2006/main">
              <a:ext uri="{FF2B5EF4-FFF2-40B4-BE49-F238E27FC236}">
                <a16:creationId xmlns:a16="http://schemas.microsoft.com/office/drawing/2014/main" id="{6187B0CC-CC66-4490-9B48-4A4209C512C1}"/>
              </a:ext>
            </a:extLst>
          </p:cNvPr>
          <p:cNvSpPr>
            <a:spLocks xmlns:a="http://schemas.openxmlformats.org/drawingml/2006/main" noGrp="1"/>
          </p:cNvSpPr>
          <p:nvPr/>
        </p:nvSpPr>
        <p:spPr>
          <a:xfrm xmlns:a="http://schemas.openxmlformats.org/drawingml/2006/main">
            <a:off x="5468112" y="2551176"/>
            <a:ext cx="2770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Alerts may be separate from resource planning</a:t>
            </a:r>
          </a:p>
        </p:txBody>
      </p:sp>
      <p:sp>
        <p:nvSpPr>
          <p:cNvPr id="30" name="Rectangle 29">
            <a:extLst xmlns:a="http://schemas.openxmlformats.org/drawingml/2006/main">
              <a:ext uri="{FF2B5EF4-FFF2-40B4-BE49-F238E27FC236}">
                <a16:creationId xmlns:a16="http://schemas.microsoft.com/office/drawing/2014/main" id="{59ACBA47-0534-40CD-94D1-11A9FCEEC53D}"/>
              </a:ext>
            </a:extLst>
          </p:cNvPr>
          <p:cNvSpPr>
            <a:spLocks xmlns:a="http://schemas.openxmlformats.org/drawingml/2006/main" noGrp="1"/>
          </p:cNvSpPr>
          <p:nvPr/>
        </p:nvSpPr>
        <p:spPr>
          <a:xfrm xmlns:a="http://schemas.openxmlformats.org/drawingml/2006/main">
            <a:off x="8311896" y="2514600"/>
            <a:ext cx="2971800" cy="411480"/>
          </a:xfrm>
          <a:prstGeom xmlns:a="http://schemas.openxmlformats.org/drawingml/2006/main" prst="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7DE25720-40CA-40DF-A3D0-87E310866CF1}"/>
              </a:ext>
            </a:extLst>
          </p:cNvPr>
          <p:cNvSpPr>
            <a:spLocks xmlns:a="http://schemas.openxmlformats.org/drawingml/2006/main" noGrp="1"/>
          </p:cNvSpPr>
          <p:nvPr/>
        </p:nvSpPr>
        <p:spPr>
          <a:xfrm xmlns:a="http://schemas.openxmlformats.org/drawingml/2006/main">
            <a:off x="8366760" y="2551176"/>
            <a:ext cx="286207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Propagate reassessment to priority and alerts</a:t>
            </a:r>
          </a:p>
        </p:txBody>
      </p:sp>
      <p:sp>
        <p:nvSpPr>
          <p:cNvPr id="32" name="Rectangle 31">
            <a:extLst xmlns:a="http://schemas.openxmlformats.org/drawingml/2006/main">
              <a:ext uri="{FF2B5EF4-FFF2-40B4-BE49-F238E27FC236}">
                <a16:creationId xmlns:a16="http://schemas.microsoft.com/office/drawing/2014/main" id="{623C412B-D213-45B1-924B-F531AF6AEBF6}"/>
              </a:ext>
            </a:extLst>
          </p:cNvPr>
          <p:cNvSpPr>
            <a:spLocks xmlns:a="http://schemas.openxmlformats.org/drawingml/2006/main" noGrp="1"/>
          </p:cNvSpPr>
          <p:nvPr/>
        </p:nvSpPr>
        <p:spPr>
          <a:xfrm xmlns:a="http://schemas.openxmlformats.org/drawingml/2006/main">
            <a:off x="530352" y="2962656"/>
            <a:ext cx="196596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76D198D3-DE18-4D0C-8FC4-61882ABAF3BA}"/>
              </a:ext>
            </a:extLst>
          </p:cNvPr>
          <p:cNvSpPr>
            <a:spLocks xmlns:a="http://schemas.openxmlformats.org/drawingml/2006/main" noGrp="1"/>
          </p:cNvSpPr>
          <p:nvPr/>
        </p:nvSpPr>
        <p:spPr>
          <a:xfrm xmlns:a="http://schemas.openxmlformats.org/drawingml/2006/main">
            <a:off x="585215" y="2999232"/>
            <a:ext cx="1856231"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1">
                <a:solidFill>
                  <a:srgbClr val="F2F7FC"/>
                </a:solidFill>
                <a:latin typeface="Aptos"/>
                <a:ea typeface="Aptos"/>
                <a:cs typeface="Aptos"/>
              </a:rPr>
              <a:t>ML in healthcare</a:t>
            </a:r>
          </a:p>
        </p:txBody>
      </p:sp>
      <p:sp>
        <p:nvSpPr>
          <p:cNvPr id="34" name="Rectangle 33">
            <a:extLst xmlns:a="http://schemas.openxmlformats.org/drawingml/2006/main">
              <a:ext uri="{FF2B5EF4-FFF2-40B4-BE49-F238E27FC236}">
                <a16:creationId xmlns:a16="http://schemas.microsoft.com/office/drawing/2014/main" id="{836C3584-1A88-4112-8C8B-C3C758095B3A}"/>
              </a:ext>
            </a:extLst>
          </p:cNvPr>
          <p:cNvSpPr>
            <a:spLocks xmlns:a="http://schemas.openxmlformats.org/drawingml/2006/main" noGrp="1"/>
          </p:cNvSpPr>
          <p:nvPr/>
        </p:nvSpPr>
        <p:spPr>
          <a:xfrm xmlns:a="http://schemas.openxmlformats.org/drawingml/2006/main">
            <a:off x="2514600" y="2962656"/>
            <a:ext cx="288036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TextBox 34">
            <a:extLst xmlns:a="http://schemas.openxmlformats.org/drawingml/2006/main">
              <a:ext uri="{FF2B5EF4-FFF2-40B4-BE49-F238E27FC236}">
                <a16:creationId xmlns:a16="http://schemas.microsoft.com/office/drawing/2014/main" id="{3A00F311-8861-4C99-ADD3-05C759DC3E89}"/>
              </a:ext>
            </a:extLst>
          </p:cNvPr>
          <p:cNvSpPr>
            <a:spLocks xmlns:a="http://schemas.openxmlformats.org/drawingml/2006/main" noGrp="1"/>
          </p:cNvSpPr>
          <p:nvPr/>
        </p:nvSpPr>
        <p:spPr>
          <a:xfrm xmlns:a="http://schemas.openxmlformats.org/drawingml/2006/main">
            <a:off x="2569464" y="2999232"/>
            <a:ext cx="2770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Models estimate risk from data</a:t>
            </a:r>
          </a:p>
        </p:txBody>
      </p:sp>
      <p:sp>
        <p:nvSpPr>
          <p:cNvPr id="36" name="Rectangle 35">
            <a:extLst xmlns:a="http://schemas.openxmlformats.org/drawingml/2006/main">
              <a:ext uri="{FF2B5EF4-FFF2-40B4-BE49-F238E27FC236}">
                <a16:creationId xmlns:a16="http://schemas.microsoft.com/office/drawing/2014/main" id="{8D5D0838-0E5A-4310-B163-5C7E20B5F025}"/>
              </a:ext>
            </a:extLst>
          </p:cNvPr>
          <p:cNvSpPr>
            <a:spLocks xmlns:a="http://schemas.openxmlformats.org/drawingml/2006/main" noGrp="1"/>
          </p:cNvSpPr>
          <p:nvPr/>
        </p:nvSpPr>
        <p:spPr>
          <a:xfrm xmlns:a="http://schemas.openxmlformats.org/drawingml/2006/main">
            <a:off x="5413248" y="2962656"/>
            <a:ext cx="288036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TextBox 36">
            <a:extLst xmlns:a="http://schemas.openxmlformats.org/drawingml/2006/main">
              <a:ext uri="{FF2B5EF4-FFF2-40B4-BE49-F238E27FC236}">
                <a16:creationId xmlns:a16="http://schemas.microsoft.com/office/drawing/2014/main" id="{AED6B597-7ABA-49BA-BBF6-033F6401B367}"/>
              </a:ext>
            </a:extLst>
          </p:cNvPr>
          <p:cNvSpPr>
            <a:spLocks xmlns:a="http://schemas.openxmlformats.org/drawingml/2006/main" noGrp="1"/>
          </p:cNvSpPr>
          <p:nvPr/>
        </p:nvSpPr>
        <p:spPr>
          <a:xfrm xmlns:a="http://schemas.openxmlformats.org/drawingml/2006/main">
            <a:off x="5468112" y="2999232"/>
            <a:ext cx="2770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Needs representative data and validation</a:t>
            </a:r>
          </a:p>
        </p:txBody>
      </p:sp>
      <p:sp>
        <p:nvSpPr>
          <p:cNvPr id="38" name="Rectangle 37">
            <a:extLst xmlns:a="http://schemas.openxmlformats.org/drawingml/2006/main">
              <a:ext uri="{FF2B5EF4-FFF2-40B4-BE49-F238E27FC236}">
                <a16:creationId xmlns:a16="http://schemas.microsoft.com/office/drawing/2014/main" id="{796D056F-2114-4B56-9AD0-8F5D7866E033}"/>
              </a:ext>
            </a:extLst>
          </p:cNvPr>
          <p:cNvSpPr>
            <a:spLocks xmlns:a="http://schemas.openxmlformats.org/drawingml/2006/main" noGrp="1"/>
          </p:cNvSpPr>
          <p:nvPr/>
        </p:nvSpPr>
        <p:spPr>
          <a:xfrm xmlns:a="http://schemas.openxmlformats.org/drawingml/2006/main">
            <a:off x="8311896" y="2962656"/>
            <a:ext cx="297180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TextBox 38">
            <a:extLst xmlns:a="http://schemas.openxmlformats.org/drawingml/2006/main">
              <a:ext uri="{FF2B5EF4-FFF2-40B4-BE49-F238E27FC236}">
                <a16:creationId xmlns:a16="http://schemas.microsoft.com/office/drawing/2014/main" id="{5605FA9D-B288-4919-942B-1287CF298F15}"/>
              </a:ext>
            </a:extLst>
          </p:cNvPr>
          <p:cNvSpPr>
            <a:spLocks xmlns:a="http://schemas.openxmlformats.org/drawingml/2006/main" noGrp="1"/>
          </p:cNvSpPr>
          <p:nvPr/>
        </p:nvSpPr>
        <p:spPr>
          <a:xfrm xmlns:a="http://schemas.openxmlformats.org/drawingml/2006/main">
            <a:off x="8366760" y="2999232"/>
            <a:ext cx="286207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Use only where configured and validated</a:t>
            </a:r>
          </a:p>
        </p:txBody>
      </p:sp>
      <p:sp>
        <p:nvSpPr>
          <p:cNvPr id="40" name="Rectangle 39">
            <a:extLst xmlns:a="http://schemas.openxmlformats.org/drawingml/2006/main">
              <a:ext uri="{FF2B5EF4-FFF2-40B4-BE49-F238E27FC236}">
                <a16:creationId xmlns:a16="http://schemas.microsoft.com/office/drawing/2014/main" id="{A5CC1EF1-B487-4875-B64E-80D7F47BEBA3}"/>
              </a:ext>
            </a:extLst>
          </p:cNvPr>
          <p:cNvSpPr>
            <a:spLocks xmlns:a="http://schemas.openxmlformats.org/drawingml/2006/main" noGrp="1"/>
          </p:cNvSpPr>
          <p:nvPr/>
        </p:nvSpPr>
        <p:spPr>
          <a:xfrm xmlns:a="http://schemas.openxmlformats.org/drawingml/2006/main">
            <a:off x="530352" y="3410711"/>
            <a:ext cx="1965960" cy="411480"/>
          </a:xfrm>
          <a:prstGeom xmlns:a="http://schemas.openxmlformats.org/drawingml/2006/main" prst="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TextBox 40">
            <a:extLst xmlns:a="http://schemas.openxmlformats.org/drawingml/2006/main">
              <a:ext uri="{FF2B5EF4-FFF2-40B4-BE49-F238E27FC236}">
                <a16:creationId xmlns:a16="http://schemas.microsoft.com/office/drawing/2014/main" id="{C9FC4CD8-694A-4131-B4BA-04C1CDFF5EBC}"/>
              </a:ext>
            </a:extLst>
          </p:cNvPr>
          <p:cNvSpPr>
            <a:spLocks xmlns:a="http://schemas.openxmlformats.org/drawingml/2006/main" noGrp="1"/>
          </p:cNvSpPr>
          <p:nvPr/>
        </p:nvSpPr>
        <p:spPr>
          <a:xfrm xmlns:a="http://schemas.openxmlformats.org/drawingml/2006/main">
            <a:off x="585215" y="3447287"/>
            <a:ext cx="1856231"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1">
                <a:solidFill>
                  <a:srgbClr val="F2F7FC"/>
                </a:solidFill>
                <a:latin typeface="Aptos"/>
                <a:ea typeface="Aptos"/>
                <a:cs typeface="Aptos"/>
              </a:rPr>
              <a:t>Hospital allocation</a:t>
            </a:r>
          </a:p>
        </p:txBody>
      </p:sp>
      <p:sp>
        <p:nvSpPr>
          <p:cNvPr id="42" name="Rectangle 41">
            <a:extLst xmlns:a="http://schemas.openxmlformats.org/drawingml/2006/main">
              <a:ext uri="{FF2B5EF4-FFF2-40B4-BE49-F238E27FC236}">
                <a16:creationId xmlns:a16="http://schemas.microsoft.com/office/drawing/2014/main" id="{06046FC6-77B0-4126-AEE8-2DC00A12A8BA}"/>
              </a:ext>
            </a:extLst>
          </p:cNvPr>
          <p:cNvSpPr>
            <a:spLocks xmlns:a="http://schemas.openxmlformats.org/drawingml/2006/main" noGrp="1"/>
          </p:cNvSpPr>
          <p:nvPr/>
        </p:nvSpPr>
        <p:spPr>
          <a:xfrm xmlns:a="http://schemas.openxmlformats.org/drawingml/2006/main">
            <a:off x="2514600" y="3410711"/>
            <a:ext cx="2880360" cy="411480"/>
          </a:xfrm>
          <a:prstGeom xmlns:a="http://schemas.openxmlformats.org/drawingml/2006/main" prst="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TextBox 42">
            <a:extLst xmlns:a="http://schemas.openxmlformats.org/drawingml/2006/main">
              <a:ext uri="{FF2B5EF4-FFF2-40B4-BE49-F238E27FC236}">
                <a16:creationId xmlns:a16="http://schemas.microsoft.com/office/drawing/2014/main" id="{C96F9093-1DFF-4DB1-903A-9817E7DE40A8}"/>
              </a:ext>
            </a:extLst>
          </p:cNvPr>
          <p:cNvSpPr>
            <a:spLocks xmlns:a="http://schemas.openxmlformats.org/drawingml/2006/main" noGrp="1"/>
          </p:cNvSpPr>
          <p:nvPr/>
        </p:nvSpPr>
        <p:spPr>
          <a:xfrm xmlns:a="http://schemas.openxmlformats.org/drawingml/2006/main">
            <a:off x="2569464" y="3447287"/>
            <a:ext cx="2770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Staff, rooms and beds assigned by policy</a:t>
            </a:r>
          </a:p>
        </p:txBody>
      </p:sp>
      <p:sp>
        <p:nvSpPr>
          <p:cNvPr id="44" name="Rectangle 43">
            <a:extLst xmlns:a="http://schemas.openxmlformats.org/drawingml/2006/main">
              <a:ext uri="{FF2B5EF4-FFF2-40B4-BE49-F238E27FC236}">
                <a16:creationId xmlns:a16="http://schemas.microsoft.com/office/drawing/2014/main" id="{A6D2FCE0-5E6A-442F-B2B6-C9F40BEEB2F5}"/>
              </a:ext>
            </a:extLst>
          </p:cNvPr>
          <p:cNvSpPr>
            <a:spLocks xmlns:a="http://schemas.openxmlformats.org/drawingml/2006/main" noGrp="1"/>
          </p:cNvSpPr>
          <p:nvPr/>
        </p:nvSpPr>
        <p:spPr>
          <a:xfrm xmlns:a="http://schemas.openxmlformats.org/drawingml/2006/main">
            <a:off x="5413248" y="3410711"/>
            <a:ext cx="2880360" cy="411480"/>
          </a:xfrm>
          <a:prstGeom xmlns:a="http://schemas.openxmlformats.org/drawingml/2006/main" prst="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TextBox 44">
            <a:extLst xmlns:a="http://schemas.openxmlformats.org/drawingml/2006/main">
              <a:ext uri="{FF2B5EF4-FFF2-40B4-BE49-F238E27FC236}">
                <a16:creationId xmlns:a16="http://schemas.microsoft.com/office/drawing/2014/main" id="{120EAB0A-09DB-4D6C-A2DF-20B77C2D15AB}"/>
              </a:ext>
            </a:extLst>
          </p:cNvPr>
          <p:cNvSpPr>
            <a:spLocks xmlns:a="http://schemas.openxmlformats.org/drawingml/2006/main" noGrp="1"/>
          </p:cNvSpPr>
          <p:nvPr/>
        </p:nvSpPr>
        <p:spPr>
          <a:xfrm xmlns:a="http://schemas.openxmlformats.org/drawingml/2006/main">
            <a:off x="5468112" y="3447287"/>
            <a:ext cx="2770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Static assignments can become outdated</a:t>
            </a:r>
          </a:p>
        </p:txBody>
      </p:sp>
      <p:sp>
        <p:nvSpPr>
          <p:cNvPr id="46" name="Rectangle 45">
            <a:extLst xmlns:a="http://schemas.openxmlformats.org/drawingml/2006/main">
              <a:ext uri="{FF2B5EF4-FFF2-40B4-BE49-F238E27FC236}">
                <a16:creationId xmlns:a16="http://schemas.microsoft.com/office/drawing/2014/main" id="{CC125E69-D857-4698-AD3F-3B966C38C87B}"/>
              </a:ext>
            </a:extLst>
          </p:cNvPr>
          <p:cNvSpPr>
            <a:spLocks xmlns:a="http://schemas.openxmlformats.org/drawingml/2006/main" noGrp="1"/>
          </p:cNvSpPr>
          <p:nvPr/>
        </p:nvSpPr>
        <p:spPr>
          <a:xfrm xmlns:a="http://schemas.openxmlformats.org/drawingml/2006/main">
            <a:off x="8311896" y="3410711"/>
            <a:ext cx="2971800" cy="411480"/>
          </a:xfrm>
          <a:prstGeom xmlns:a="http://schemas.openxmlformats.org/drawingml/2006/main" prst="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TextBox 46">
            <a:extLst xmlns:a="http://schemas.openxmlformats.org/drawingml/2006/main">
              <a:ext uri="{FF2B5EF4-FFF2-40B4-BE49-F238E27FC236}">
                <a16:creationId xmlns:a16="http://schemas.microsoft.com/office/drawing/2014/main" id="{5504F5F6-5CC9-4558-B8ED-5FC823A12B5A}"/>
              </a:ext>
            </a:extLst>
          </p:cNvPr>
          <p:cNvSpPr>
            <a:spLocks xmlns:a="http://schemas.openxmlformats.org/drawingml/2006/main" noGrp="1"/>
          </p:cNvSpPr>
          <p:nvPr/>
        </p:nvSpPr>
        <p:spPr>
          <a:xfrm xmlns:a="http://schemas.openxmlformats.org/drawingml/2006/main">
            <a:off x="8366760" y="3447287"/>
            <a:ext cx="286207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Reevaluate when patient/resources change</a:t>
            </a:r>
          </a:p>
        </p:txBody>
      </p:sp>
      <p:sp>
        <p:nvSpPr>
          <p:cNvPr id="48" name="Rectangle 47">
            <a:extLst xmlns:a="http://schemas.openxmlformats.org/drawingml/2006/main">
              <a:ext uri="{FF2B5EF4-FFF2-40B4-BE49-F238E27FC236}">
                <a16:creationId xmlns:a16="http://schemas.microsoft.com/office/drawing/2014/main" id="{DFD92D4C-AF5B-40B5-B977-65AB8C9B0F5B}"/>
              </a:ext>
            </a:extLst>
          </p:cNvPr>
          <p:cNvSpPr>
            <a:spLocks xmlns:a="http://schemas.openxmlformats.org/drawingml/2006/main" noGrp="1"/>
          </p:cNvSpPr>
          <p:nvPr/>
        </p:nvSpPr>
        <p:spPr>
          <a:xfrm xmlns:a="http://schemas.openxmlformats.org/drawingml/2006/main">
            <a:off x="530352" y="3858768"/>
            <a:ext cx="196596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TextBox 48">
            <a:extLst xmlns:a="http://schemas.openxmlformats.org/drawingml/2006/main">
              <a:ext uri="{FF2B5EF4-FFF2-40B4-BE49-F238E27FC236}">
                <a16:creationId xmlns:a16="http://schemas.microsoft.com/office/drawing/2014/main" id="{6B546A5B-FF7C-4F38-ACBA-6BC2BC5FFDEA}"/>
              </a:ext>
            </a:extLst>
          </p:cNvPr>
          <p:cNvSpPr>
            <a:spLocks xmlns:a="http://schemas.openxmlformats.org/drawingml/2006/main" noGrp="1"/>
          </p:cNvSpPr>
          <p:nvPr/>
        </p:nvSpPr>
        <p:spPr>
          <a:xfrm xmlns:a="http://schemas.openxmlformats.org/drawingml/2006/main">
            <a:off x="585215" y="3895344"/>
            <a:ext cx="1856231"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1">
                <a:solidFill>
                  <a:srgbClr val="F2F7FC"/>
                </a:solidFill>
                <a:latin typeface="Aptos"/>
                <a:ea typeface="Aptos"/>
                <a:cs typeface="Aptos"/>
              </a:rPr>
              <a:t>Constraint scheduling</a:t>
            </a:r>
          </a:p>
        </p:txBody>
      </p:sp>
      <p:sp>
        <p:nvSpPr>
          <p:cNvPr id="50" name="Rectangle 49">
            <a:extLst xmlns:a="http://schemas.openxmlformats.org/drawingml/2006/main">
              <a:ext uri="{FF2B5EF4-FFF2-40B4-BE49-F238E27FC236}">
                <a16:creationId xmlns:a16="http://schemas.microsoft.com/office/drawing/2014/main" id="{86A7047B-8EA7-4749-8C2F-4E33BEAAF4EC}"/>
              </a:ext>
            </a:extLst>
          </p:cNvPr>
          <p:cNvSpPr>
            <a:spLocks xmlns:a="http://schemas.openxmlformats.org/drawingml/2006/main" noGrp="1"/>
          </p:cNvSpPr>
          <p:nvPr/>
        </p:nvSpPr>
        <p:spPr>
          <a:xfrm xmlns:a="http://schemas.openxmlformats.org/drawingml/2006/main">
            <a:off x="2514600" y="3858768"/>
            <a:ext cx="288036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TextBox 50">
            <a:extLst xmlns:a="http://schemas.openxmlformats.org/drawingml/2006/main">
              <a:ext uri="{FF2B5EF4-FFF2-40B4-BE49-F238E27FC236}">
                <a16:creationId xmlns:a16="http://schemas.microsoft.com/office/drawing/2014/main" id="{FF89DBE0-5896-4423-9768-1BD260B6D18B}"/>
              </a:ext>
            </a:extLst>
          </p:cNvPr>
          <p:cNvSpPr>
            <a:spLocks xmlns:a="http://schemas.openxmlformats.org/drawingml/2006/main" noGrp="1"/>
          </p:cNvSpPr>
          <p:nvPr/>
        </p:nvSpPr>
        <p:spPr>
          <a:xfrm xmlns:a="http://schemas.openxmlformats.org/drawingml/2006/main">
            <a:off x="2569464" y="3895344"/>
            <a:ext cx="2770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Constraints define feasible schedules</a:t>
            </a:r>
          </a:p>
        </p:txBody>
      </p:sp>
      <p:sp>
        <p:nvSpPr>
          <p:cNvPr id="52" name="Rectangle 51">
            <a:extLst xmlns:a="http://schemas.openxmlformats.org/drawingml/2006/main">
              <a:ext uri="{FF2B5EF4-FFF2-40B4-BE49-F238E27FC236}">
                <a16:creationId xmlns:a16="http://schemas.microsoft.com/office/drawing/2014/main" id="{86B1447B-9B58-4BDA-830F-C44F436B636A}"/>
              </a:ext>
            </a:extLst>
          </p:cNvPr>
          <p:cNvSpPr>
            <a:spLocks xmlns:a="http://schemas.openxmlformats.org/drawingml/2006/main" noGrp="1"/>
          </p:cNvSpPr>
          <p:nvPr/>
        </p:nvSpPr>
        <p:spPr>
          <a:xfrm xmlns:a="http://schemas.openxmlformats.org/drawingml/2006/main">
            <a:off x="5413248" y="3858768"/>
            <a:ext cx="288036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3" name="TextBox 52">
            <a:extLst xmlns:a="http://schemas.openxmlformats.org/drawingml/2006/main">
              <a:ext uri="{FF2B5EF4-FFF2-40B4-BE49-F238E27FC236}">
                <a16:creationId xmlns:a16="http://schemas.microsoft.com/office/drawing/2014/main" id="{365BA224-7DB4-4AB0-9D56-F86D0812A380}"/>
              </a:ext>
            </a:extLst>
          </p:cNvPr>
          <p:cNvSpPr>
            <a:spLocks xmlns:a="http://schemas.openxmlformats.org/drawingml/2006/main" noGrp="1"/>
          </p:cNvSpPr>
          <p:nvPr/>
        </p:nvSpPr>
        <p:spPr>
          <a:xfrm xmlns:a="http://schemas.openxmlformats.org/drawingml/2006/main">
            <a:off x="5468112" y="3895344"/>
            <a:ext cx="2770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Availability changes can invalidate plans</a:t>
            </a:r>
          </a:p>
        </p:txBody>
      </p:sp>
      <p:sp>
        <p:nvSpPr>
          <p:cNvPr id="54" name="Rectangle 53">
            <a:extLst xmlns:a="http://schemas.openxmlformats.org/drawingml/2006/main">
              <a:ext uri="{FF2B5EF4-FFF2-40B4-BE49-F238E27FC236}">
                <a16:creationId xmlns:a16="http://schemas.microsoft.com/office/drawing/2014/main" id="{486EA4A8-D977-490A-A2F1-297864BEFF5B}"/>
              </a:ext>
            </a:extLst>
          </p:cNvPr>
          <p:cNvSpPr>
            <a:spLocks xmlns:a="http://schemas.openxmlformats.org/drawingml/2006/main" noGrp="1"/>
          </p:cNvSpPr>
          <p:nvPr/>
        </p:nvSpPr>
        <p:spPr>
          <a:xfrm xmlns:a="http://schemas.openxmlformats.org/drawingml/2006/main">
            <a:off x="8311896" y="3858768"/>
            <a:ext cx="297180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5" name="TextBox 54">
            <a:extLst xmlns:a="http://schemas.openxmlformats.org/drawingml/2006/main">
              <a:ext uri="{FF2B5EF4-FFF2-40B4-BE49-F238E27FC236}">
                <a16:creationId xmlns:a16="http://schemas.microsoft.com/office/drawing/2014/main" id="{C7603CD6-BFAD-4470-9AD0-9B5DCC3DE3BA}"/>
              </a:ext>
            </a:extLst>
          </p:cNvPr>
          <p:cNvSpPr>
            <a:spLocks xmlns:a="http://schemas.openxmlformats.org/drawingml/2006/main" noGrp="1"/>
          </p:cNvSpPr>
          <p:nvPr/>
        </p:nvSpPr>
        <p:spPr>
          <a:xfrm xmlns:a="http://schemas.openxmlformats.org/drawingml/2006/main">
            <a:off x="8366760" y="3895344"/>
            <a:ext cx="286207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Recheck feasibility during replanning</a:t>
            </a:r>
          </a:p>
        </p:txBody>
      </p:sp>
      <p:sp>
        <p:nvSpPr>
          <p:cNvPr id="56" name="Rectangle 55">
            <a:extLst xmlns:a="http://schemas.openxmlformats.org/drawingml/2006/main">
              <a:ext uri="{FF2B5EF4-FFF2-40B4-BE49-F238E27FC236}">
                <a16:creationId xmlns:a16="http://schemas.microsoft.com/office/drawing/2014/main" id="{9A66100F-F094-4CA8-86D1-42FCD5D8FADD}"/>
              </a:ext>
            </a:extLst>
          </p:cNvPr>
          <p:cNvSpPr>
            <a:spLocks xmlns:a="http://schemas.openxmlformats.org/drawingml/2006/main" noGrp="1"/>
          </p:cNvSpPr>
          <p:nvPr/>
        </p:nvSpPr>
        <p:spPr>
          <a:xfrm xmlns:a="http://schemas.openxmlformats.org/drawingml/2006/main">
            <a:off x="530352" y="4306824"/>
            <a:ext cx="1965960" cy="411480"/>
          </a:xfrm>
          <a:prstGeom xmlns:a="http://schemas.openxmlformats.org/drawingml/2006/main" prst="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7" name="TextBox 56">
            <a:extLst xmlns:a="http://schemas.openxmlformats.org/drawingml/2006/main">
              <a:ext uri="{FF2B5EF4-FFF2-40B4-BE49-F238E27FC236}">
                <a16:creationId xmlns:a16="http://schemas.microsoft.com/office/drawing/2014/main" id="{B4ECDEB7-5C89-41B3-8ABA-092E61EB7A35}"/>
              </a:ext>
            </a:extLst>
          </p:cNvPr>
          <p:cNvSpPr>
            <a:spLocks xmlns:a="http://schemas.openxmlformats.org/drawingml/2006/main" noGrp="1"/>
          </p:cNvSpPr>
          <p:nvPr/>
        </p:nvSpPr>
        <p:spPr>
          <a:xfrm xmlns:a="http://schemas.openxmlformats.org/drawingml/2006/main">
            <a:off x="585215" y="4343400"/>
            <a:ext cx="1856231"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1">
                <a:solidFill>
                  <a:srgbClr val="F2F7FC"/>
                </a:solidFill>
                <a:latin typeface="Aptos"/>
                <a:ea typeface="Aptos"/>
                <a:cs typeface="Aptos"/>
              </a:rPr>
              <a:t>Search &amp; optimization</a:t>
            </a:r>
          </a:p>
        </p:txBody>
      </p:sp>
      <p:sp>
        <p:nvSpPr>
          <p:cNvPr id="58" name="Rectangle 57">
            <a:extLst xmlns:a="http://schemas.openxmlformats.org/drawingml/2006/main">
              <a:ext uri="{FF2B5EF4-FFF2-40B4-BE49-F238E27FC236}">
                <a16:creationId xmlns:a16="http://schemas.microsoft.com/office/drawing/2014/main" id="{E1DBE7C5-47B3-40D2-B309-8F0956B6966A}"/>
              </a:ext>
            </a:extLst>
          </p:cNvPr>
          <p:cNvSpPr>
            <a:spLocks xmlns:a="http://schemas.openxmlformats.org/drawingml/2006/main" noGrp="1"/>
          </p:cNvSpPr>
          <p:nvPr/>
        </p:nvSpPr>
        <p:spPr>
          <a:xfrm xmlns:a="http://schemas.openxmlformats.org/drawingml/2006/main">
            <a:off x="2514600" y="4306824"/>
            <a:ext cx="2880360" cy="411480"/>
          </a:xfrm>
          <a:prstGeom xmlns:a="http://schemas.openxmlformats.org/drawingml/2006/main" prst="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9" name="TextBox 58">
            <a:extLst xmlns:a="http://schemas.openxmlformats.org/drawingml/2006/main">
              <a:ext uri="{FF2B5EF4-FFF2-40B4-BE49-F238E27FC236}">
                <a16:creationId xmlns:a16="http://schemas.microsoft.com/office/drawing/2014/main" id="{A69A11DA-1D90-418C-B5F4-3886F596A118}"/>
              </a:ext>
            </a:extLst>
          </p:cNvPr>
          <p:cNvSpPr>
            <a:spLocks xmlns:a="http://schemas.openxmlformats.org/drawingml/2006/main" noGrp="1"/>
          </p:cNvSpPr>
          <p:nvPr/>
        </p:nvSpPr>
        <p:spPr>
          <a:xfrm xmlns:a="http://schemas.openxmlformats.org/drawingml/2006/main">
            <a:off x="2569464" y="4343400"/>
            <a:ext cx="2770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Compare actions using a cost function</a:t>
            </a:r>
          </a:p>
        </p:txBody>
      </p:sp>
      <p:sp>
        <p:nvSpPr>
          <p:cNvPr id="60" name="Rectangle 59">
            <a:extLst xmlns:a="http://schemas.openxmlformats.org/drawingml/2006/main">
              <a:ext uri="{FF2B5EF4-FFF2-40B4-BE49-F238E27FC236}">
                <a16:creationId xmlns:a16="http://schemas.microsoft.com/office/drawing/2014/main" id="{00F481F4-C706-4487-A3BF-8A7E95DC7204}"/>
              </a:ext>
            </a:extLst>
          </p:cNvPr>
          <p:cNvSpPr>
            <a:spLocks xmlns:a="http://schemas.openxmlformats.org/drawingml/2006/main" noGrp="1"/>
          </p:cNvSpPr>
          <p:nvPr/>
        </p:nvSpPr>
        <p:spPr>
          <a:xfrm xmlns:a="http://schemas.openxmlformats.org/drawingml/2006/main">
            <a:off x="5413248" y="4306824"/>
            <a:ext cx="2880360" cy="411480"/>
          </a:xfrm>
          <a:prstGeom xmlns:a="http://schemas.openxmlformats.org/drawingml/2006/main" prst="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1" name="TextBox 60">
            <a:extLst xmlns:a="http://schemas.openxmlformats.org/drawingml/2006/main">
              <a:ext uri="{FF2B5EF4-FFF2-40B4-BE49-F238E27FC236}">
                <a16:creationId xmlns:a16="http://schemas.microsoft.com/office/drawing/2014/main" id="{115D6377-7AF5-405F-B91C-8B70C1F5B15C}"/>
              </a:ext>
            </a:extLst>
          </p:cNvPr>
          <p:cNvSpPr>
            <a:spLocks xmlns:a="http://schemas.openxmlformats.org/drawingml/2006/main" noGrp="1"/>
          </p:cNvSpPr>
          <p:nvPr/>
        </p:nvSpPr>
        <p:spPr>
          <a:xfrm xmlns:a="http://schemas.openxmlformats.org/drawingml/2006/main">
            <a:off x="5468112" y="4343400"/>
            <a:ext cx="2770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Depends on state, objective and heuristic</a:t>
            </a:r>
          </a:p>
        </p:txBody>
      </p:sp>
      <p:sp>
        <p:nvSpPr>
          <p:cNvPr id="62" name="Rectangle 61">
            <a:extLst xmlns:a="http://schemas.openxmlformats.org/drawingml/2006/main">
              <a:ext uri="{FF2B5EF4-FFF2-40B4-BE49-F238E27FC236}">
                <a16:creationId xmlns:a16="http://schemas.microsoft.com/office/drawing/2014/main" id="{EC31967E-2226-442C-ADC8-B717EEEA5710}"/>
              </a:ext>
            </a:extLst>
          </p:cNvPr>
          <p:cNvSpPr>
            <a:spLocks xmlns:a="http://schemas.openxmlformats.org/drawingml/2006/main" noGrp="1"/>
          </p:cNvSpPr>
          <p:nvPr/>
        </p:nvSpPr>
        <p:spPr>
          <a:xfrm xmlns:a="http://schemas.openxmlformats.org/drawingml/2006/main">
            <a:off x="8311896" y="4306824"/>
            <a:ext cx="2971800" cy="411480"/>
          </a:xfrm>
          <a:prstGeom xmlns:a="http://schemas.openxmlformats.org/drawingml/2006/main" prst="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3" name="TextBox 62">
            <a:extLst xmlns:a="http://schemas.openxmlformats.org/drawingml/2006/main">
              <a:ext uri="{FF2B5EF4-FFF2-40B4-BE49-F238E27FC236}">
                <a16:creationId xmlns:a16="http://schemas.microsoft.com/office/drawing/2014/main" id="{DFF763AA-E35D-4B93-A26B-AF6D28EB7999}"/>
              </a:ext>
            </a:extLst>
          </p:cNvPr>
          <p:cNvSpPr>
            <a:spLocks xmlns:a="http://schemas.openxmlformats.org/drawingml/2006/main" noGrp="1"/>
          </p:cNvSpPr>
          <p:nvPr/>
        </p:nvSpPr>
        <p:spPr>
          <a:xfrm xmlns:a="http://schemas.openxmlformats.org/drawingml/2006/main">
            <a:off x="8366760" y="4343400"/>
            <a:ext cx="286207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Make decisions and costs traceable</a:t>
            </a:r>
          </a:p>
        </p:txBody>
      </p:sp>
      <p:sp>
        <p:nvSpPr>
          <p:cNvPr id="64" name="Rectangle 63">
            <a:extLst xmlns:a="http://schemas.openxmlformats.org/drawingml/2006/main">
              <a:ext uri="{FF2B5EF4-FFF2-40B4-BE49-F238E27FC236}">
                <a16:creationId xmlns:a16="http://schemas.microsoft.com/office/drawing/2014/main" id="{A6AC4A30-4847-4433-A387-73BB01990E5C}"/>
              </a:ext>
            </a:extLst>
          </p:cNvPr>
          <p:cNvSpPr>
            <a:spLocks xmlns:a="http://schemas.openxmlformats.org/drawingml/2006/main" noGrp="1"/>
          </p:cNvSpPr>
          <p:nvPr/>
        </p:nvSpPr>
        <p:spPr>
          <a:xfrm xmlns:a="http://schemas.openxmlformats.org/drawingml/2006/main">
            <a:off x="530352" y="4754879"/>
            <a:ext cx="196596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5" name="TextBox 64">
            <a:extLst xmlns:a="http://schemas.openxmlformats.org/drawingml/2006/main">
              <a:ext uri="{FF2B5EF4-FFF2-40B4-BE49-F238E27FC236}">
                <a16:creationId xmlns:a16="http://schemas.microsoft.com/office/drawing/2014/main" id="{17975864-9CC8-46F2-8649-669DDF2309B7}"/>
              </a:ext>
            </a:extLst>
          </p:cNvPr>
          <p:cNvSpPr>
            <a:spLocks xmlns:a="http://schemas.openxmlformats.org/drawingml/2006/main" noGrp="1"/>
          </p:cNvSpPr>
          <p:nvPr/>
        </p:nvSpPr>
        <p:spPr>
          <a:xfrm xmlns:a="http://schemas.openxmlformats.org/drawingml/2006/main">
            <a:off x="585215" y="4791455"/>
            <a:ext cx="1856231"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1">
                <a:solidFill>
                  <a:srgbClr val="F2F7FC"/>
                </a:solidFill>
                <a:latin typeface="Aptos"/>
                <a:ea typeface="Aptos"/>
                <a:cs typeface="Aptos"/>
              </a:rPr>
              <a:t>Intelligent coordination</a:t>
            </a:r>
          </a:p>
        </p:txBody>
      </p:sp>
      <p:sp>
        <p:nvSpPr>
          <p:cNvPr id="66" name="Rectangle 65">
            <a:extLst xmlns:a="http://schemas.openxmlformats.org/drawingml/2006/main">
              <a:ext uri="{FF2B5EF4-FFF2-40B4-BE49-F238E27FC236}">
                <a16:creationId xmlns:a16="http://schemas.microsoft.com/office/drawing/2014/main" id="{963E8085-8F90-4B33-A9CF-1D9DAF496EDB}"/>
              </a:ext>
            </a:extLst>
          </p:cNvPr>
          <p:cNvSpPr>
            <a:spLocks xmlns:a="http://schemas.openxmlformats.org/drawingml/2006/main" noGrp="1"/>
          </p:cNvSpPr>
          <p:nvPr/>
        </p:nvSpPr>
        <p:spPr>
          <a:xfrm xmlns:a="http://schemas.openxmlformats.org/drawingml/2006/main">
            <a:off x="2514600" y="4754879"/>
            <a:ext cx="288036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7" name="TextBox 66">
            <a:extLst xmlns:a="http://schemas.openxmlformats.org/drawingml/2006/main">
              <a:ext uri="{FF2B5EF4-FFF2-40B4-BE49-F238E27FC236}">
                <a16:creationId xmlns:a16="http://schemas.microsoft.com/office/drawing/2014/main" id="{56FF455D-2FD2-42F7-9B6F-41BEFCDA5ED7}"/>
              </a:ext>
            </a:extLst>
          </p:cNvPr>
          <p:cNvSpPr>
            <a:spLocks xmlns:a="http://schemas.openxmlformats.org/drawingml/2006/main" noGrp="1"/>
          </p:cNvSpPr>
          <p:nvPr/>
        </p:nvSpPr>
        <p:spPr>
          <a:xfrm xmlns:a="http://schemas.openxmlformats.org/drawingml/2006/main">
            <a:off x="2569464" y="4791455"/>
            <a:ext cx="2770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Dashboards combine queues and alerts</a:t>
            </a:r>
          </a:p>
        </p:txBody>
      </p:sp>
      <p:sp>
        <p:nvSpPr>
          <p:cNvPr id="68" name="Rectangle 67">
            <a:extLst xmlns:a="http://schemas.openxmlformats.org/drawingml/2006/main">
              <a:ext uri="{FF2B5EF4-FFF2-40B4-BE49-F238E27FC236}">
                <a16:creationId xmlns:a16="http://schemas.microsoft.com/office/drawing/2014/main" id="{E82863AC-3DC0-480E-9FFC-01B8E010DDEE}"/>
              </a:ext>
            </a:extLst>
          </p:cNvPr>
          <p:cNvSpPr>
            <a:spLocks xmlns:a="http://schemas.openxmlformats.org/drawingml/2006/main" noGrp="1"/>
          </p:cNvSpPr>
          <p:nvPr/>
        </p:nvSpPr>
        <p:spPr>
          <a:xfrm xmlns:a="http://schemas.openxmlformats.org/drawingml/2006/main">
            <a:off x="5413248" y="4754879"/>
            <a:ext cx="288036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9" name="TextBox 68">
            <a:extLst xmlns:a="http://schemas.openxmlformats.org/drawingml/2006/main">
              <a:ext uri="{FF2B5EF4-FFF2-40B4-BE49-F238E27FC236}">
                <a16:creationId xmlns:a16="http://schemas.microsoft.com/office/drawing/2014/main" id="{8E8E4F94-3ED9-4CCA-AE1B-97C2E59C56AB}"/>
              </a:ext>
            </a:extLst>
          </p:cNvPr>
          <p:cNvSpPr>
            <a:spLocks xmlns:a="http://schemas.openxmlformats.org/drawingml/2006/main" noGrp="1"/>
          </p:cNvSpPr>
          <p:nvPr/>
        </p:nvSpPr>
        <p:spPr>
          <a:xfrm xmlns:a="http://schemas.openxmlformats.org/drawingml/2006/main">
            <a:off x="5468112" y="4791455"/>
            <a:ext cx="2770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Views can become stale or inconsistent</a:t>
            </a:r>
          </a:p>
        </p:txBody>
      </p:sp>
      <p:sp>
        <p:nvSpPr>
          <p:cNvPr id="70" name="Rectangle 69">
            <a:extLst xmlns:a="http://schemas.openxmlformats.org/drawingml/2006/main">
              <a:ext uri="{FF2B5EF4-FFF2-40B4-BE49-F238E27FC236}">
                <a16:creationId xmlns:a16="http://schemas.microsoft.com/office/drawing/2014/main" id="{62F19577-3958-486A-BFCF-9B9872B62953}"/>
              </a:ext>
            </a:extLst>
          </p:cNvPr>
          <p:cNvSpPr>
            <a:spLocks xmlns:a="http://schemas.openxmlformats.org/drawingml/2006/main" noGrp="1"/>
          </p:cNvSpPr>
          <p:nvPr/>
        </p:nvSpPr>
        <p:spPr>
          <a:xfrm xmlns:a="http://schemas.openxmlformats.org/drawingml/2006/main">
            <a:off x="8311896" y="4754879"/>
            <a:ext cx="2971800" cy="411480"/>
          </a:xfrm>
          <a:prstGeom xmlns:a="http://schemas.openxmlformats.org/drawingml/2006/main" prst="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1" name="TextBox 70">
            <a:extLst xmlns:a="http://schemas.openxmlformats.org/drawingml/2006/main">
              <a:ext uri="{FF2B5EF4-FFF2-40B4-BE49-F238E27FC236}">
                <a16:creationId xmlns:a16="http://schemas.microsoft.com/office/drawing/2014/main" id="{2F76C065-B52D-4C94-A7B0-3D1607B1601B}"/>
              </a:ext>
            </a:extLst>
          </p:cNvPr>
          <p:cNvSpPr>
            <a:spLocks xmlns:a="http://schemas.openxmlformats.org/drawingml/2006/main" noGrp="1"/>
          </p:cNvSpPr>
          <p:nvPr/>
        </p:nvSpPr>
        <p:spPr>
          <a:xfrm xmlns:a="http://schemas.openxmlformats.org/drawingml/2006/main">
            <a:off x="8366760" y="4791455"/>
            <a:ext cx="286207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Synchronize views to persisted state</a:t>
            </a:r>
          </a:p>
        </p:txBody>
      </p:sp>
      <p:sp>
        <p:nvSpPr>
          <p:cNvPr id="72" name="Rounded Rectangle 71">
            <a:extLst xmlns:a="http://schemas.openxmlformats.org/drawingml/2006/main">
              <a:ext uri="{FF2B5EF4-FFF2-40B4-BE49-F238E27FC236}">
                <a16:creationId xmlns:a16="http://schemas.microsoft.com/office/drawing/2014/main" id="{8AAE8C23-1F01-45FE-8987-C5EAA7CA571D}"/>
              </a:ext>
            </a:extLst>
          </p:cNvPr>
          <p:cNvSpPr>
            <a:spLocks xmlns:a="http://schemas.openxmlformats.org/drawingml/2006/main" noGrp="1"/>
          </p:cNvSpPr>
          <p:nvPr/>
        </p:nvSpPr>
        <p:spPr>
          <a:xfrm xmlns:a="http://schemas.openxmlformats.org/drawingml/2006/main">
            <a:off x="566928" y="5440680"/>
            <a:ext cx="11018520" cy="822960"/>
          </a:xfrm>
          <a:prstGeom xmlns:a="http://schemas.openxmlformats.org/drawingml/2006/main" prst="roundRect">
            <a:avLst/>
          </a:prstGeom>
          <a:solidFill xmlns:a="http://schemas.openxmlformats.org/drawingml/2006/main">
            <a:srgbClr val="162B41"/>
          </a:solidFill>
          <a:ln xmlns:a="http://schemas.openxmlformats.org/drawingml/2006/main" w="10160">
            <a:solidFill>
              <a:srgbClr val="9C7D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3" name="TextBox 72">
            <a:extLst xmlns:a="http://schemas.openxmlformats.org/drawingml/2006/main">
              <a:ext uri="{FF2B5EF4-FFF2-40B4-BE49-F238E27FC236}">
                <a16:creationId xmlns:a16="http://schemas.microsoft.com/office/drawing/2014/main" id="{C98F8087-BABF-44C4-9CBF-FBE90410A637}"/>
              </a:ext>
            </a:extLst>
          </p:cNvPr>
          <p:cNvSpPr>
            <a:spLocks xmlns:a="http://schemas.openxmlformats.org/drawingml/2006/main" noGrp="1"/>
          </p:cNvSpPr>
          <p:nvPr/>
        </p:nvSpPr>
        <p:spPr>
          <a:xfrm xmlns:a="http://schemas.openxmlformats.org/drawingml/2006/main">
            <a:off x="786384" y="5559552"/>
            <a:ext cx="1645920"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900" b="1">
                <a:solidFill>
                  <a:srgbClr val="9C7DFF"/>
                </a:solidFill>
                <a:latin typeface="Aptos"/>
                <a:ea typeface="Aptos"/>
                <a:cs typeface="Aptos"/>
              </a:rPr>
              <a:t>RESEARCH GAP</a:t>
            </a:r>
          </a:p>
        </p:txBody>
      </p:sp>
      <p:sp>
        <p:nvSpPr>
          <p:cNvPr id="74" name="TextBox 73">
            <a:extLst xmlns:a="http://schemas.openxmlformats.org/drawingml/2006/main">
              <a:ext uri="{FF2B5EF4-FFF2-40B4-BE49-F238E27FC236}">
                <a16:creationId xmlns:a16="http://schemas.microsoft.com/office/drawing/2014/main" id="{A58CB90B-3A51-4EDA-932B-3B79F84BB309}"/>
              </a:ext>
            </a:extLst>
          </p:cNvPr>
          <p:cNvSpPr>
            <a:spLocks xmlns:a="http://schemas.openxmlformats.org/drawingml/2006/main" noGrp="1"/>
          </p:cNvSpPr>
          <p:nvPr/>
        </p:nvSpPr>
        <p:spPr>
          <a:xfrm xmlns:a="http://schemas.openxmlformats.org/drawingml/2006/main">
            <a:off x="2331720" y="5532120"/>
            <a:ext cx="8961120" cy="53035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1000" b="1">
                <a:solidFill>
                  <a:srgbClr val="F2F7FC"/>
                </a:solidFill>
                <a:latin typeface="Aptos"/>
                <a:ea typeface="Aptos"/>
                <a:cs typeface="Aptos"/>
              </a:rPr>
              <a:t>Existing approaches often address risk prediction, resource allocation, or scheduling independently. CareBridge 2.0 aims to integrate them into a continuous emergency-care workflow with human oversight.</a:t>
            </a:r>
          </a:p>
        </p:txBody>
      </p:sp>
    </p:spTree>
    <p:extLst>
      <p:ext uri="{BB962C8B-B14F-4D97-AF65-F5344CB8AC3E}">
        <p14:creationId xmlns:p14="http://schemas.microsoft.com/office/powerpoint/2010/main" val="1815564731"/>
      </p:ext>
    </p:extLst>
  </p:cSld>
</p:sld>
</file>

<file path=ppt/slides/slide4.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5567687-98F9-476B-A8C2-796216173C2A}"/>
              </a:ext>
            </a:extLst>
          </p:cNvPr>
          <p:cNvSpPr>
            <a:spLocks xmlns:a="http://schemas.openxmlformats.org/drawingml/2006/main" noGrp="1"/>
          </p:cNvSpPr>
          <p:nvPr/>
        </p:nvSpPr>
        <p:spPr>
          <a:xfrm xmlns:a="http://schemas.openxmlformats.org/drawingml/2006/main">
            <a:off x="502920" y="201168"/>
            <a:ext cx="7315200" cy="22860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900" b="1">
                <a:solidFill>
                  <a:srgbClr val="2BD2BE"/>
                </a:solidFill>
                <a:latin typeface="Aptos"/>
                <a:ea typeface="Aptos"/>
                <a:cs typeface="Aptos"/>
              </a:rPr>
              <a:t>03 / TECHNICAL DESIGN</a:t>
            </a:r>
          </a:p>
        </p:txBody>
      </p:sp>
      <p:sp>
        <p:nvSpPr>
          <p:cNvPr id="3" name="TextBox 2">
            <a:extLst xmlns:a="http://schemas.openxmlformats.org/drawingml/2006/main">
              <a:ext uri="{FF2B5EF4-FFF2-40B4-BE49-F238E27FC236}">
                <a16:creationId xmlns:a16="http://schemas.microsoft.com/office/drawing/2014/main" id="{C4128357-1F80-4C12-8C34-D2CF856EB1F0}"/>
              </a:ext>
            </a:extLst>
          </p:cNvPr>
          <p:cNvSpPr>
            <a:spLocks xmlns:a="http://schemas.openxmlformats.org/drawingml/2006/main" noGrp="1"/>
          </p:cNvSpPr>
          <p:nvPr/>
        </p:nvSpPr>
        <p:spPr>
          <a:xfrm xmlns:a="http://schemas.openxmlformats.org/drawingml/2006/main">
            <a:off x="502920" y="475488"/>
            <a:ext cx="10972800" cy="45720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2500" b="1">
                <a:solidFill>
                  <a:srgbClr val="F2F7FC"/>
                </a:solidFill>
                <a:latin typeface="Aptos"/>
                <a:ea typeface="Aptos"/>
                <a:cs typeface="Aptos"/>
              </a:rPr>
              <a:t>System Architecture</a:t>
            </a:r>
          </a:p>
        </p:txBody>
      </p:sp>
      <p:sp>
        <p:nvSpPr>
          <p:cNvPr id="4" name="TextBox 3">
            <a:extLst xmlns:a="http://schemas.openxmlformats.org/drawingml/2006/main">
              <a:ext uri="{FF2B5EF4-FFF2-40B4-BE49-F238E27FC236}">
                <a16:creationId xmlns:a16="http://schemas.microsoft.com/office/drawing/2014/main" id="{B8C5DBB8-63EA-4B41-B4BF-6386B2FF468F}"/>
              </a:ext>
            </a:extLst>
          </p:cNvPr>
          <p:cNvSpPr>
            <a:spLocks xmlns:a="http://schemas.openxmlformats.org/drawingml/2006/main" noGrp="1"/>
          </p:cNvSpPr>
          <p:nvPr/>
        </p:nvSpPr>
        <p:spPr>
          <a:xfrm xmlns:a="http://schemas.openxmlformats.org/drawingml/2006/main">
            <a:off x="530352" y="987552"/>
            <a:ext cx="10972800" cy="27432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1000" b="0">
                <a:solidFill>
                  <a:srgbClr val="A9BBCD"/>
                </a:solidFill>
                <a:latin typeface="Aptos"/>
                <a:ea typeface="Aptos"/>
                <a:cs typeface="Aptos"/>
              </a:rPr>
              <a:t>From patient observations to coordinated care — with a continuous reassessment loop</a:t>
            </a:r>
          </a:p>
        </p:txBody>
      </p:sp>
      <p:sp>
        <p:nvSpPr>
          <p:cNvPr id="5" name="Connector 4">
            <a:extLst xmlns:a="http://schemas.openxmlformats.org/drawingml/2006/main">
              <a:ext uri="{FF2B5EF4-FFF2-40B4-BE49-F238E27FC236}">
                <a16:creationId xmlns:a16="http://schemas.microsoft.com/office/drawing/2014/main" id="{D4C1C577-AC99-4344-8448-C613BC7F19EA}"/>
              </a:ext>
            </a:extLst>
          </p:cNvPr>
          <p:cNvSpPr>
            <a:spLocks xmlns:a="http://schemas.openxmlformats.org/drawingml/2006/main" noGrp="1"/>
          </p:cNvSpPr>
          <p:nvPr/>
        </p:nvSpPr>
        <p:spPr>
          <a:xfrm xmlns:a="http://schemas.openxmlformats.org/drawingml/2006/main">
            <a:off x="502920" y="1371600"/>
            <a:ext cx="11183112" cy="0"/>
          </a:xfrm>
          <a:prstGeom xmlns:a="http://schemas.openxmlformats.org/drawingml/2006/main" prst="line">
            <a:avLst/>
          </a:prstGeom>
          <a:ln xmlns:a="http://schemas.openxmlformats.org/drawingml/2006/main" w="1016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4875FFD2-878D-4074-8D13-0FD10BFD8440}"/>
              </a:ext>
            </a:extLst>
          </p:cNvPr>
          <p:cNvSpPr>
            <a:spLocks xmlns:a="http://schemas.openxmlformats.org/drawingml/2006/main" noGrp="1"/>
          </p:cNvSpPr>
          <p:nvPr/>
        </p:nvSpPr>
        <p:spPr>
          <a:xfrm xmlns:a="http://schemas.openxmlformats.org/drawingml/2006/main">
            <a:off x="548640" y="6537960"/>
            <a:ext cx="5486400"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CAREBRIDGE 2.0 • ACADEMIC PROJECT</a:t>
            </a:r>
          </a:p>
        </p:txBody>
      </p:sp>
      <p:sp>
        <p:nvSpPr>
          <p:cNvPr id="7" name="TextBox 6">
            <a:extLst xmlns:a="http://schemas.openxmlformats.org/drawingml/2006/main">
              <a:ext uri="{FF2B5EF4-FFF2-40B4-BE49-F238E27FC236}">
                <a16:creationId xmlns:a16="http://schemas.microsoft.com/office/drawing/2014/main" id="{9F6DB144-51C7-4A24-B3DC-4F27228BD130}"/>
              </a:ext>
            </a:extLst>
          </p:cNvPr>
          <p:cNvSpPr>
            <a:spLocks xmlns:a="http://schemas.openxmlformats.org/drawingml/2006/main" noGrp="1"/>
          </p:cNvSpPr>
          <p:nvPr/>
        </p:nvSpPr>
        <p:spPr>
          <a:xfrm xmlns:a="http://schemas.openxmlformats.org/drawingml/2006/main">
            <a:off x="11155680" y="6537960"/>
            <a:ext cx="457200"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r">
              <a:buNone/>
            </a:pPr>
            <a:r>
              <a:rPr sz="750" b="1">
                <a:solidFill>
                  <a:srgbClr val="A9BBCD"/>
                </a:solidFill>
                <a:latin typeface="Aptos"/>
                <a:ea typeface="Aptos"/>
                <a:cs typeface="Aptos"/>
              </a:rPr>
              <a:t>04</a:t>
            </a:r>
          </a:p>
        </p:txBody>
      </p:sp>
      <p:sp>
        <p:nvSpPr>
          <p:cNvPr id="8" name="Rounded Rectangle 7">
            <a:extLst xmlns:a="http://schemas.openxmlformats.org/drawingml/2006/main">
              <a:ext uri="{FF2B5EF4-FFF2-40B4-BE49-F238E27FC236}">
                <a16:creationId xmlns:a16="http://schemas.microsoft.com/office/drawing/2014/main" id="{0820DC4F-D416-4A9E-97FB-B5262904C37E}"/>
              </a:ext>
            </a:extLst>
          </p:cNvPr>
          <p:cNvSpPr>
            <a:spLocks xmlns:a="http://schemas.openxmlformats.org/drawingml/2006/main" noGrp="1"/>
          </p:cNvSpPr>
          <p:nvPr/>
        </p:nvSpPr>
        <p:spPr>
          <a:xfrm xmlns:a="http://schemas.openxmlformats.org/drawingml/2006/main">
            <a:off x="594360" y="1572768"/>
            <a:ext cx="1783080" cy="292608"/>
          </a:xfrm>
          <a:prstGeom xmlns:a="http://schemas.openxmlformats.org/drawingml/2006/main" prst="roundRect">
            <a:avLst/>
          </a:prstGeom>
          <a:solidFill xmlns:a="http://schemas.openxmlformats.org/drawingml/2006/main">
            <a:srgbClr val="18293E"/>
          </a:solidFill>
          <a:ln xmlns:a="http://schemas.openxmlformats.org/drawingml/2006/main" w="10160">
            <a:solidFill>
              <a:srgbClr val="54BE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BFDAD084-50B8-4219-925E-17959219BA6D}"/>
              </a:ext>
            </a:extLst>
          </p:cNvPr>
          <p:cNvSpPr>
            <a:spLocks xmlns:a="http://schemas.openxmlformats.org/drawingml/2006/main" noGrp="1"/>
          </p:cNvSpPr>
          <p:nvPr/>
        </p:nvSpPr>
        <p:spPr>
          <a:xfrm xmlns:a="http://schemas.openxmlformats.org/drawingml/2006/main">
            <a:off x="621792" y="1618488"/>
            <a:ext cx="1728216"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800" b="1">
                <a:solidFill>
                  <a:srgbClr val="54BEF0"/>
                </a:solidFill>
                <a:latin typeface="Aptos"/>
                <a:ea typeface="Aptos"/>
                <a:cs typeface="Aptos"/>
              </a:rPr>
              <a:t>INPUT</a:t>
            </a:r>
          </a:p>
        </p:txBody>
      </p:sp>
      <p:sp>
        <p:nvSpPr>
          <p:cNvPr id="10" name="Rounded Rectangle 9">
            <a:extLst xmlns:a="http://schemas.openxmlformats.org/drawingml/2006/main">
              <a:ext uri="{FF2B5EF4-FFF2-40B4-BE49-F238E27FC236}">
                <a16:creationId xmlns:a16="http://schemas.microsoft.com/office/drawing/2014/main" id="{3BE41331-FC2A-4F19-A56F-C5CB7926A9A6}"/>
              </a:ext>
            </a:extLst>
          </p:cNvPr>
          <p:cNvSpPr>
            <a:spLocks xmlns:a="http://schemas.openxmlformats.org/drawingml/2006/main" noGrp="1"/>
          </p:cNvSpPr>
          <p:nvPr/>
        </p:nvSpPr>
        <p:spPr>
          <a:xfrm xmlns:a="http://schemas.openxmlformats.org/drawingml/2006/main">
            <a:off x="2880360" y="1572768"/>
            <a:ext cx="1783080" cy="292608"/>
          </a:xfrm>
          <a:prstGeom xmlns:a="http://schemas.openxmlformats.org/drawingml/2006/main" prst="roundRect">
            <a:avLst/>
          </a:prstGeom>
          <a:solidFill xmlns:a="http://schemas.openxmlformats.org/drawingml/2006/main">
            <a:srgbClr val="18293E"/>
          </a:solidFill>
          <a:ln xmlns:a="http://schemas.openxmlformats.org/drawingml/2006/main" w="10160">
            <a:solidFill>
              <a:srgbClr val="9C7D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A75FFDC0-C161-46B9-990F-28B773343EE0}"/>
              </a:ext>
            </a:extLst>
          </p:cNvPr>
          <p:cNvSpPr>
            <a:spLocks xmlns:a="http://schemas.openxmlformats.org/drawingml/2006/main" noGrp="1"/>
          </p:cNvSpPr>
          <p:nvPr/>
        </p:nvSpPr>
        <p:spPr>
          <a:xfrm xmlns:a="http://schemas.openxmlformats.org/drawingml/2006/main">
            <a:off x="2907791" y="1618488"/>
            <a:ext cx="1728216"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800" b="1">
                <a:solidFill>
                  <a:srgbClr val="9C7DFF"/>
                </a:solidFill>
                <a:latin typeface="Aptos"/>
                <a:ea typeface="Aptos"/>
                <a:cs typeface="Aptos"/>
              </a:rPr>
              <a:t>REASONING</a:t>
            </a:r>
          </a:p>
        </p:txBody>
      </p:sp>
      <p:sp>
        <p:nvSpPr>
          <p:cNvPr id="12" name="Rounded Rectangle 11">
            <a:extLst xmlns:a="http://schemas.openxmlformats.org/drawingml/2006/main">
              <a:ext uri="{FF2B5EF4-FFF2-40B4-BE49-F238E27FC236}">
                <a16:creationId xmlns:a16="http://schemas.microsoft.com/office/drawing/2014/main" id="{CB4D1469-81A5-413C-83F3-A914E92D476A}"/>
              </a:ext>
            </a:extLst>
          </p:cNvPr>
          <p:cNvSpPr>
            <a:spLocks xmlns:a="http://schemas.openxmlformats.org/drawingml/2006/main" noGrp="1"/>
          </p:cNvSpPr>
          <p:nvPr/>
        </p:nvSpPr>
        <p:spPr>
          <a:xfrm xmlns:a="http://schemas.openxmlformats.org/drawingml/2006/main">
            <a:off x="5166360" y="1572768"/>
            <a:ext cx="1783080" cy="292608"/>
          </a:xfrm>
          <a:prstGeom xmlns:a="http://schemas.openxmlformats.org/drawingml/2006/main" prst="roundRect">
            <a:avLst/>
          </a:prstGeom>
          <a:solidFill xmlns:a="http://schemas.openxmlformats.org/drawingml/2006/main">
            <a:srgbClr val="18293E"/>
          </a:solidFill>
          <a:ln xmlns:a="http://schemas.openxmlformats.org/drawingml/2006/main" w="10160">
            <a:solidFill>
              <a:srgbClr val="FFB15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58A208AA-F943-4D27-9ADA-BE1AB045AB80}"/>
              </a:ext>
            </a:extLst>
          </p:cNvPr>
          <p:cNvSpPr>
            <a:spLocks xmlns:a="http://schemas.openxmlformats.org/drawingml/2006/main" noGrp="1"/>
          </p:cNvSpPr>
          <p:nvPr/>
        </p:nvSpPr>
        <p:spPr>
          <a:xfrm xmlns:a="http://schemas.openxmlformats.org/drawingml/2006/main">
            <a:off x="5193792" y="1618488"/>
            <a:ext cx="1728216"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800" b="1">
                <a:solidFill>
                  <a:srgbClr val="FFB153"/>
                </a:solidFill>
                <a:latin typeface="Aptos"/>
                <a:ea typeface="Aptos"/>
                <a:cs typeface="Aptos"/>
              </a:rPr>
              <a:t>DECISION</a:t>
            </a:r>
          </a:p>
        </p:txBody>
      </p:sp>
      <p:sp>
        <p:nvSpPr>
          <p:cNvPr id="14" name="Rounded Rectangle 13">
            <a:extLst xmlns:a="http://schemas.openxmlformats.org/drawingml/2006/main">
              <a:ext uri="{FF2B5EF4-FFF2-40B4-BE49-F238E27FC236}">
                <a16:creationId xmlns:a16="http://schemas.microsoft.com/office/drawing/2014/main" id="{C9AA1C63-235A-4FE2-93FE-FD029C52D2A1}"/>
              </a:ext>
            </a:extLst>
          </p:cNvPr>
          <p:cNvSpPr>
            <a:spLocks xmlns:a="http://schemas.openxmlformats.org/drawingml/2006/main" noGrp="1"/>
          </p:cNvSpPr>
          <p:nvPr/>
        </p:nvSpPr>
        <p:spPr>
          <a:xfrm xmlns:a="http://schemas.openxmlformats.org/drawingml/2006/main">
            <a:off x="7452360" y="1572768"/>
            <a:ext cx="1783080" cy="292608"/>
          </a:xfrm>
          <a:prstGeom xmlns:a="http://schemas.openxmlformats.org/drawingml/2006/main" prst="roundRect">
            <a:avLst/>
          </a:prstGeom>
          <a:solidFill xmlns:a="http://schemas.openxmlformats.org/drawingml/2006/main">
            <a:srgbClr val="18293E"/>
          </a:solidFill>
          <a:ln xmlns:a="http://schemas.openxmlformats.org/drawingml/2006/main" w="10160">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9907E319-8CB6-4651-BFCE-0043E40C2789}"/>
              </a:ext>
            </a:extLst>
          </p:cNvPr>
          <p:cNvSpPr>
            <a:spLocks xmlns:a="http://schemas.openxmlformats.org/drawingml/2006/main" noGrp="1"/>
          </p:cNvSpPr>
          <p:nvPr/>
        </p:nvSpPr>
        <p:spPr>
          <a:xfrm xmlns:a="http://schemas.openxmlformats.org/drawingml/2006/main">
            <a:off x="7479792" y="1618488"/>
            <a:ext cx="1728216"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800" b="1">
                <a:solidFill>
                  <a:srgbClr val="2BD2BE"/>
                </a:solidFill>
                <a:latin typeface="Aptos"/>
                <a:ea typeface="Aptos"/>
                <a:cs typeface="Aptos"/>
              </a:rPr>
              <a:t>ALLOCATION</a:t>
            </a:r>
          </a:p>
        </p:txBody>
      </p:sp>
      <p:sp>
        <p:nvSpPr>
          <p:cNvPr id="16" name="Rounded Rectangle 15">
            <a:extLst xmlns:a="http://schemas.openxmlformats.org/drawingml/2006/main">
              <a:ext uri="{FF2B5EF4-FFF2-40B4-BE49-F238E27FC236}">
                <a16:creationId xmlns:a16="http://schemas.microsoft.com/office/drawing/2014/main" id="{CF4E9EE0-9B78-4FD3-9010-70653F1EE9BD}"/>
              </a:ext>
            </a:extLst>
          </p:cNvPr>
          <p:cNvSpPr>
            <a:spLocks xmlns:a="http://schemas.openxmlformats.org/drawingml/2006/main" noGrp="1"/>
          </p:cNvSpPr>
          <p:nvPr/>
        </p:nvSpPr>
        <p:spPr>
          <a:xfrm xmlns:a="http://schemas.openxmlformats.org/drawingml/2006/main">
            <a:off x="9738360" y="1572768"/>
            <a:ext cx="1783080" cy="292608"/>
          </a:xfrm>
          <a:prstGeom xmlns:a="http://schemas.openxmlformats.org/drawingml/2006/main" prst="roundRect">
            <a:avLst/>
          </a:prstGeom>
          <a:solidFill xmlns:a="http://schemas.openxmlformats.org/drawingml/2006/main">
            <a:srgbClr val="18293E"/>
          </a:solidFill>
          <a:ln xmlns:a="http://schemas.openxmlformats.org/drawingml/2006/main" w="10160">
            <a:solidFill>
              <a:srgbClr val="49DC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90741657-35F6-4B7B-8900-AD2297220464}"/>
              </a:ext>
            </a:extLst>
          </p:cNvPr>
          <p:cNvSpPr>
            <a:spLocks xmlns:a="http://schemas.openxmlformats.org/drawingml/2006/main" noGrp="1"/>
          </p:cNvSpPr>
          <p:nvPr/>
        </p:nvSpPr>
        <p:spPr>
          <a:xfrm xmlns:a="http://schemas.openxmlformats.org/drawingml/2006/main">
            <a:off x="9765792" y="1618488"/>
            <a:ext cx="1728216"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800" b="1">
                <a:solidFill>
                  <a:srgbClr val="49DC9E"/>
                </a:solidFill>
                <a:latin typeface="Aptos"/>
                <a:ea typeface="Aptos"/>
                <a:cs typeface="Aptos"/>
              </a:rPr>
              <a:t>FEEDBACK</a:t>
            </a:r>
          </a:p>
        </p:txBody>
      </p:sp>
      <p:sp>
        <p:nvSpPr>
          <p:cNvPr id="18" name="Rounded Rectangle 17">
            <a:extLst xmlns:a="http://schemas.openxmlformats.org/drawingml/2006/main">
              <a:ext uri="{FF2B5EF4-FFF2-40B4-BE49-F238E27FC236}">
                <a16:creationId xmlns:a16="http://schemas.microsoft.com/office/drawing/2014/main" id="{FCB237BC-9151-4282-B0FA-6AFE18731ED8}"/>
              </a:ext>
            </a:extLst>
          </p:cNvPr>
          <p:cNvSpPr>
            <a:spLocks xmlns:a="http://schemas.openxmlformats.org/drawingml/2006/main" noGrp="1"/>
          </p:cNvSpPr>
          <p:nvPr/>
        </p:nvSpPr>
        <p:spPr>
          <a:xfrm xmlns:a="http://schemas.openxmlformats.org/drawingml/2006/main">
            <a:off x="685800" y="2057400"/>
            <a:ext cx="1965960" cy="47548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54BE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6E65D2CD-F81B-4C77-912E-DDA1FF7B135F}"/>
              </a:ext>
            </a:extLst>
          </p:cNvPr>
          <p:cNvSpPr>
            <a:spLocks xmlns:a="http://schemas.openxmlformats.org/drawingml/2006/main" noGrp="1"/>
          </p:cNvSpPr>
          <p:nvPr/>
        </p:nvSpPr>
        <p:spPr>
          <a:xfrm xmlns:a="http://schemas.openxmlformats.org/drawingml/2006/main">
            <a:off x="740664" y="2148840"/>
            <a:ext cx="1856231" cy="3383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ctr">
            <a:spAutoFit/>
          </a:bodyPr>
          <a:lstStyle xmlns:a="http://schemas.openxmlformats.org/drawingml/2006/main"/>
          <a:p xmlns:a="http://schemas.openxmlformats.org/drawingml/2006/main">
            <a:pPr algn="ctr">
              <a:buNone/>
            </a:pPr>
            <a:r>
              <a:rPr sz="940" b="1">
                <a:solidFill>
                  <a:srgbClr val="F2F7FC"/>
                </a:solidFill>
                <a:latin typeface="Aptos"/>
                <a:ea typeface="Aptos"/>
                <a:cs typeface="Aptos"/>
              </a:rPr>
              <a:t>Patient registration</a:t>
            </a:r>
          </a:p>
        </p:txBody>
      </p:sp>
      <p:sp>
        <p:nvSpPr>
          <p:cNvPr id="20" name="Rounded Rectangle 19">
            <a:extLst xmlns:a="http://schemas.openxmlformats.org/drawingml/2006/main">
              <a:ext uri="{FF2B5EF4-FFF2-40B4-BE49-F238E27FC236}">
                <a16:creationId xmlns:a16="http://schemas.microsoft.com/office/drawing/2014/main" id="{2B10E1A8-1047-49B0-B416-1C55BF392C94}"/>
              </a:ext>
            </a:extLst>
          </p:cNvPr>
          <p:cNvSpPr>
            <a:spLocks xmlns:a="http://schemas.openxmlformats.org/drawingml/2006/main" noGrp="1"/>
          </p:cNvSpPr>
          <p:nvPr/>
        </p:nvSpPr>
        <p:spPr>
          <a:xfrm xmlns:a="http://schemas.openxmlformats.org/drawingml/2006/main">
            <a:off x="685800" y="2670048"/>
            <a:ext cx="1965960" cy="47548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54BE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670A35A2-0C4B-4C10-9752-30F07D8F43B5}"/>
              </a:ext>
            </a:extLst>
          </p:cNvPr>
          <p:cNvSpPr>
            <a:spLocks xmlns:a="http://schemas.openxmlformats.org/drawingml/2006/main" noGrp="1"/>
          </p:cNvSpPr>
          <p:nvPr/>
        </p:nvSpPr>
        <p:spPr>
          <a:xfrm xmlns:a="http://schemas.openxmlformats.org/drawingml/2006/main">
            <a:off x="740664" y="2761488"/>
            <a:ext cx="1856231" cy="3383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ctr">
            <a:spAutoFit/>
          </a:bodyPr>
          <a:lstStyle xmlns:a="http://schemas.openxmlformats.org/drawingml/2006/main"/>
          <a:p xmlns:a="http://schemas.openxmlformats.org/drawingml/2006/main">
            <a:pPr algn="ctr">
              <a:buNone/>
            </a:pPr>
            <a:r>
              <a:rPr sz="940" b="1">
                <a:solidFill>
                  <a:srgbClr val="F2F7FC"/>
                </a:solidFill>
                <a:latin typeface="Aptos"/>
                <a:ea typeface="Aptos"/>
                <a:cs typeface="Aptos"/>
              </a:rPr>
              <a:t>Clinical observations</a:t>
            </a:r>
          </a:p>
        </p:txBody>
      </p:sp>
      <p:sp>
        <p:nvSpPr>
          <p:cNvPr id="22" name="Rounded Rectangle 21">
            <a:extLst xmlns:a="http://schemas.openxmlformats.org/drawingml/2006/main">
              <a:ext uri="{FF2B5EF4-FFF2-40B4-BE49-F238E27FC236}">
                <a16:creationId xmlns:a16="http://schemas.microsoft.com/office/drawing/2014/main" id="{206147C0-7153-40F2-9275-ABB8B55A2850}"/>
              </a:ext>
            </a:extLst>
          </p:cNvPr>
          <p:cNvSpPr>
            <a:spLocks xmlns:a="http://schemas.openxmlformats.org/drawingml/2006/main" noGrp="1"/>
          </p:cNvSpPr>
          <p:nvPr/>
        </p:nvSpPr>
        <p:spPr>
          <a:xfrm xmlns:a="http://schemas.openxmlformats.org/drawingml/2006/main">
            <a:off x="2971800" y="2057400"/>
            <a:ext cx="1965960" cy="47548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9C7D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B31A2095-8A2F-40AF-82E4-14E84F3A27BE}"/>
              </a:ext>
            </a:extLst>
          </p:cNvPr>
          <p:cNvSpPr>
            <a:spLocks xmlns:a="http://schemas.openxmlformats.org/drawingml/2006/main" noGrp="1"/>
          </p:cNvSpPr>
          <p:nvPr/>
        </p:nvSpPr>
        <p:spPr>
          <a:xfrm xmlns:a="http://schemas.openxmlformats.org/drawingml/2006/main">
            <a:off x="3026664" y="2148840"/>
            <a:ext cx="1856231" cy="3383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ctr">
            <a:spAutoFit/>
          </a:bodyPr>
          <a:lstStyle xmlns:a="http://schemas.openxmlformats.org/drawingml/2006/main"/>
          <a:p xmlns:a="http://schemas.openxmlformats.org/drawingml/2006/main">
            <a:pPr algn="ctr">
              <a:buNone/>
            </a:pPr>
            <a:r>
              <a:rPr sz="940" b="1">
                <a:solidFill>
                  <a:srgbClr val="F2F7FC"/>
                </a:solidFill>
                <a:latin typeface="Aptos"/>
                <a:ea typeface="Aptos"/>
                <a:cs typeface="Aptos"/>
              </a:rPr>
              <a:t>Rule engine + ML*</a:t>
            </a:r>
          </a:p>
        </p:txBody>
      </p:sp>
      <p:sp>
        <p:nvSpPr>
          <p:cNvPr id="24" name="Rounded Rectangle 23">
            <a:extLst xmlns:a="http://schemas.openxmlformats.org/drawingml/2006/main">
              <a:ext uri="{FF2B5EF4-FFF2-40B4-BE49-F238E27FC236}">
                <a16:creationId xmlns:a16="http://schemas.microsoft.com/office/drawing/2014/main" id="{B014D4C6-CEC3-42DA-AA5B-F18FA94177E2}"/>
              </a:ext>
            </a:extLst>
          </p:cNvPr>
          <p:cNvSpPr>
            <a:spLocks xmlns:a="http://schemas.openxmlformats.org/drawingml/2006/main" noGrp="1"/>
          </p:cNvSpPr>
          <p:nvPr/>
        </p:nvSpPr>
        <p:spPr>
          <a:xfrm xmlns:a="http://schemas.openxmlformats.org/drawingml/2006/main">
            <a:off x="2971800" y="2670048"/>
            <a:ext cx="1965960" cy="47548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9C7D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BF29ACF2-F58A-4955-9749-605ACD1D25CD}"/>
              </a:ext>
            </a:extLst>
          </p:cNvPr>
          <p:cNvSpPr>
            <a:spLocks xmlns:a="http://schemas.openxmlformats.org/drawingml/2006/main" noGrp="1"/>
          </p:cNvSpPr>
          <p:nvPr/>
        </p:nvSpPr>
        <p:spPr>
          <a:xfrm xmlns:a="http://schemas.openxmlformats.org/drawingml/2006/main">
            <a:off x="3026664" y="2761488"/>
            <a:ext cx="1856231" cy="3383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ctr">
            <a:spAutoFit/>
          </a:bodyPr>
          <a:lstStyle xmlns:a="http://schemas.openxmlformats.org/drawingml/2006/main"/>
          <a:p xmlns:a="http://schemas.openxmlformats.org/drawingml/2006/main">
            <a:pPr algn="ctr">
              <a:buNone/>
            </a:pPr>
            <a:r>
              <a:rPr sz="940" b="1">
                <a:solidFill>
                  <a:srgbClr val="F2F7FC"/>
                </a:solidFill>
                <a:latin typeface="Aptos"/>
                <a:ea typeface="Aptos"/>
                <a:cs typeface="Aptos"/>
              </a:rPr>
              <a:t>Clinical risk</a:t>
            </a:r>
          </a:p>
        </p:txBody>
      </p:sp>
      <p:sp>
        <p:nvSpPr>
          <p:cNvPr id="26" name="Rounded Rectangle 25">
            <a:extLst xmlns:a="http://schemas.openxmlformats.org/drawingml/2006/main">
              <a:ext uri="{FF2B5EF4-FFF2-40B4-BE49-F238E27FC236}">
                <a16:creationId xmlns:a16="http://schemas.microsoft.com/office/drawing/2014/main" id="{2EAB639D-57D5-414C-AC8C-3E6E66B50DF2}"/>
              </a:ext>
            </a:extLst>
          </p:cNvPr>
          <p:cNvSpPr>
            <a:spLocks xmlns:a="http://schemas.openxmlformats.org/drawingml/2006/main" noGrp="1"/>
          </p:cNvSpPr>
          <p:nvPr/>
        </p:nvSpPr>
        <p:spPr>
          <a:xfrm xmlns:a="http://schemas.openxmlformats.org/drawingml/2006/main">
            <a:off x="5257800" y="2057400"/>
            <a:ext cx="1965960" cy="47548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FFB15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223FC656-A958-45F4-BA17-6FC10613B42D}"/>
              </a:ext>
            </a:extLst>
          </p:cNvPr>
          <p:cNvSpPr>
            <a:spLocks xmlns:a="http://schemas.openxmlformats.org/drawingml/2006/main" noGrp="1"/>
          </p:cNvSpPr>
          <p:nvPr/>
        </p:nvSpPr>
        <p:spPr>
          <a:xfrm xmlns:a="http://schemas.openxmlformats.org/drawingml/2006/main">
            <a:off x="5312664" y="2148840"/>
            <a:ext cx="1856231" cy="3383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ctr">
            <a:spAutoFit/>
          </a:bodyPr>
          <a:lstStyle xmlns:a="http://schemas.openxmlformats.org/drawingml/2006/main"/>
          <a:p xmlns:a="http://schemas.openxmlformats.org/drawingml/2006/main">
            <a:pPr algn="ctr">
              <a:buNone/>
            </a:pPr>
            <a:r>
              <a:rPr sz="940" b="1">
                <a:solidFill>
                  <a:srgbClr val="F2F7FC"/>
                </a:solidFill>
                <a:latin typeface="Aptos"/>
                <a:ea typeface="Aptos"/>
                <a:cs typeface="Aptos"/>
              </a:rPr>
              <a:t>Operational priority</a:t>
            </a:r>
          </a:p>
        </p:txBody>
      </p:sp>
      <p:sp>
        <p:nvSpPr>
          <p:cNvPr id="28" name="Rounded Rectangle 27">
            <a:extLst xmlns:a="http://schemas.openxmlformats.org/drawingml/2006/main">
              <a:ext uri="{FF2B5EF4-FFF2-40B4-BE49-F238E27FC236}">
                <a16:creationId xmlns:a16="http://schemas.microsoft.com/office/drawing/2014/main" id="{6E011C57-6E55-46AD-B8AF-1C8276FEE20B}"/>
              </a:ext>
            </a:extLst>
          </p:cNvPr>
          <p:cNvSpPr>
            <a:spLocks xmlns:a="http://schemas.openxmlformats.org/drawingml/2006/main" noGrp="1"/>
          </p:cNvSpPr>
          <p:nvPr/>
        </p:nvSpPr>
        <p:spPr>
          <a:xfrm xmlns:a="http://schemas.openxmlformats.org/drawingml/2006/main">
            <a:off x="5257800" y="2670048"/>
            <a:ext cx="1965960" cy="47548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FFB15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TextBox 28">
            <a:extLst xmlns:a="http://schemas.openxmlformats.org/drawingml/2006/main">
              <a:ext uri="{FF2B5EF4-FFF2-40B4-BE49-F238E27FC236}">
                <a16:creationId xmlns:a16="http://schemas.microsoft.com/office/drawing/2014/main" id="{658BA7DF-C2B8-4550-9552-2C41642C663D}"/>
              </a:ext>
            </a:extLst>
          </p:cNvPr>
          <p:cNvSpPr>
            <a:spLocks xmlns:a="http://schemas.openxmlformats.org/drawingml/2006/main" noGrp="1"/>
          </p:cNvSpPr>
          <p:nvPr/>
        </p:nvSpPr>
        <p:spPr>
          <a:xfrm xmlns:a="http://schemas.openxmlformats.org/drawingml/2006/main">
            <a:off x="5312664" y="2761488"/>
            <a:ext cx="1856231" cy="3383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ctr">
            <a:spAutoFit/>
          </a:bodyPr>
          <a:lstStyle xmlns:a="http://schemas.openxmlformats.org/drawingml/2006/main"/>
          <a:p xmlns:a="http://schemas.openxmlformats.org/drawingml/2006/main">
            <a:pPr algn="ctr">
              <a:buNone/>
            </a:pPr>
            <a:r>
              <a:rPr sz="940" b="1">
                <a:solidFill>
                  <a:srgbClr val="F2F7FC"/>
                </a:solidFill>
                <a:latin typeface="Aptos"/>
                <a:ea typeface="Aptos"/>
                <a:cs typeface="Aptos"/>
              </a:rPr>
              <a:t>Requirement engine</a:t>
            </a:r>
          </a:p>
        </p:txBody>
      </p:sp>
      <p:sp>
        <p:nvSpPr>
          <p:cNvPr id="30" name="Rounded Rectangle 29">
            <a:extLst xmlns:a="http://schemas.openxmlformats.org/drawingml/2006/main">
              <a:ext uri="{FF2B5EF4-FFF2-40B4-BE49-F238E27FC236}">
                <a16:creationId xmlns:a16="http://schemas.microsoft.com/office/drawing/2014/main" id="{F0BCB158-3F40-4179-80D0-EFCD36177C00}"/>
              </a:ext>
            </a:extLst>
          </p:cNvPr>
          <p:cNvSpPr>
            <a:spLocks xmlns:a="http://schemas.openxmlformats.org/drawingml/2006/main" noGrp="1"/>
          </p:cNvSpPr>
          <p:nvPr/>
        </p:nvSpPr>
        <p:spPr>
          <a:xfrm xmlns:a="http://schemas.openxmlformats.org/drawingml/2006/main">
            <a:off x="7543800" y="2057400"/>
            <a:ext cx="1965960" cy="47548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17493209-9725-4A8E-841D-E441C57D9131}"/>
              </a:ext>
            </a:extLst>
          </p:cNvPr>
          <p:cNvSpPr>
            <a:spLocks xmlns:a="http://schemas.openxmlformats.org/drawingml/2006/main" noGrp="1"/>
          </p:cNvSpPr>
          <p:nvPr/>
        </p:nvSpPr>
        <p:spPr>
          <a:xfrm xmlns:a="http://schemas.openxmlformats.org/drawingml/2006/main">
            <a:off x="7598664" y="2148840"/>
            <a:ext cx="1856231" cy="3383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ctr">
            <a:spAutoFit/>
          </a:bodyPr>
          <a:lstStyle xmlns:a="http://schemas.openxmlformats.org/drawingml/2006/main"/>
          <a:p xmlns:a="http://schemas.openxmlformats.org/drawingml/2006/main">
            <a:pPr algn="ctr">
              <a:buNone/>
            </a:pPr>
            <a:r>
              <a:rPr sz="940" b="1">
                <a:solidFill>
                  <a:srgbClr val="F2F7FC"/>
                </a:solidFill>
                <a:latin typeface="Aptos"/>
                <a:ea typeface="Aptos"/>
                <a:cs typeface="Aptos"/>
              </a:rPr>
              <a:t>Hospital state</a:t>
            </a:r>
          </a:p>
        </p:txBody>
      </p:sp>
      <p:sp>
        <p:nvSpPr>
          <p:cNvPr id="32" name="Rounded Rectangle 31">
            <a:extLst xmlns:a="http://schemas.openxmlformats.org/drawingml/2006/main">
              <a:ext uri="{FF2B5EF4-FFF2-40B4-BE49-F238E27FC236}">
                <a16:creationId xmlns:a16="http://schemas.microsoft.com/office/drawing/2014/main" id="{735F0D3E-5A15-42C8-BA4A-FA9CEC55BB68}"/>
              </a:ext>
            </a:extLst>
          </p:cNvPr>
          <p:cNvSpPr>
            <a:spLocks xmlns:a="http://schemas.openxmlformats.org/drawingml/2006/main" noGrp="1"/>
          </p:cNvSpPr>
          <p:nvPr/>
        </p:nvSpPr>
        <p:spPr>
          <a:xfrm xmlns:a="http://schemas.openxmlformats.org/drawingml/2006/main">
            <a:off x="7543800" y="2670048"/>
            <a:ext cx="1965960" cy="47548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B8FDDE7B-130D-4970-A646-7DA47E99B653}"/>
              </a:ext>
            </a:extLst>
          </p:cNvPr>
          <p:cNvSpPr>
            <a:spLocks xmlns:a="http://schemas.openxmlformats.org/drawingml/2006/main" noGrp="1"/>
          </p:cNvSpPr>
          <p:nvPr/>
        </p:nvSpPr>
        <p:spPr>
          <a:xfrm xmlns:a="http://schemas.openxmlformats.org/drawingml/2006/main">
            <a:off x="7598664" y="2761488"/>
            <a:ext cx="1856231" cy="3383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ctr">
            <a:spAutoFit/>
          </a:bodyPr>
          <a:lstStyle xmlns:a="http://schemas.openxmlformats.org/drawingml/2006/main"/>
          <a:p xmlns:a="http://schemas.openxmlformats.org/drawingml/2006/main">
            <a:pPr algn="ctr">
              <a:buNone/>
            </a:pPr>
            <a:r>
              <a:rPr sz="940" b="1">
                <a:solidFill>
                  <a:srgbClr val="F2F7FC"/>
                </a:solidFill>
                <a:latin typeface="Aptos"/>
                <a:ea typeface="Aptos"/>
                <a:cs typeface="Aptos"/>
              </a:rPr>
              <a:t>Resource constraints</a:t>
            </a:r>
          </a:p>
        </p:txBody>
      </p:sp>
      <p:sp>
        <p:nvSpPr>
          <p:cNvPr id="34" name="Rounded Rectangle 33">
            <a:extLst xmlns:a="http://schemas.openxmlformats.org/drawingml/2006/main">
              <a:ext uri="{FF2B5EF4-FFF2-40B4-BE49-F238E27FC236}">
                <a16:creationId xmlns:a16="http://schemas.microsoft.com/office/drawing/2014/main" id="{7D61E26D-974C-475B-8FE0-D009ACD03940}"/>
              </a:ext>
            </a:extLst>
          </p:cNvPr>
          <p:cNvSpPr>
            <a:spLocks xmlns:a="http://schemas.openxmlformats.org/drawingml/2006/main" noGrp="1"/>
          </p:cNvSpPr>
          <p:nvPr/>
        </p:nvSpPr>
        <p:spPr>
          <a:xfrm xmlns:a="http://schemas.openxmlformats.org/drawingml/2006/main">
            <a:off x="9829800" y="2057400"/>
            <a:ext cx="1783080" cy="47548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49DC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TextBox 34">
            <a:extLst xmlns:a="http://schemas.openxmlformats.org/drawingml/2006/main">
              <a:ext uri="{FF2B5EF4-FFF2-40B4-BE49-F238E27FC236}">
                <a16:creationId xmlns:a16="http://schemas.microsoft.com/office/drawing/2014/main" id="{30CE72B5-A735-458A-AFF6-1B78D7D11446}"/>
              </a:ext>
            </a:extLst>
          </p:cNvPr>
          <p:cNvSpPr>
            <a:spLocks xmlns:a="http://schemas.openxmlformats.org/drawingml/2006/main" noGrp="1"/>
          </p:cNvSpPr>
          <p:nvPr/>
        </p:nvSpPr>
        <p:spPr>
          <a:xfrm xmlns:a="http://schemas.openxmlformats.org/drawingml/2006/main">
            <a:off x="9884664" y="2148840"/>
            <a:ext cx="1673352" cy="3383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ctr">
            <a:spAutoFit/>
          </a:bodyPr>
          <a:lstStyle xmlns:a="http://schemas.openxmlformats.org/drawingml/2006/main"/>
          <a:p xmlns:a="http://schemas.openxmlformats.org/drawingml/2006/main">
            <a:pPr algn="ctr">
              <a:buNone/>
            </a:pPr>
            <a:r>
              <a:rPr sz="940" b="1">
                <a:solidFill>
                  <a:srgbClr val="F2F7FC"/>
                </a:solidFill>
                <a:latin typeface="Aptos"/>
                <a:ea typeface="Aptos"/>
                <a:cs typeface="Aptos"/>
              </a:rPr>
              <a:t>Planning engine</a:t>
            </a:r>
          </a:p>
        </p:txBody>
      </p:sp>
      <p:sp>
        <p:nvSpPr>
          <p:cNvPr id="36" name="Rounded Rectangle 35">
            <a:extLst xmlns:a="http://schemas.openxmlformats.org/drawingml/2006/main">
              <a:ext uri="{FF2B5EF4-FFF2-40B4-BE49-F238E27FC236}">
                <a16:creationId xmlns:a16="http://schemas.microsoft.com/office/drawing/2014/main" id="{8EB36ABA-9EC5-41E6-84B7-4C9D2E27A329}"/>
              </a:ext>
            </a:extLst>
          </p:cNvPr>
          <p:cNvSpPr>
            <a:spLocks xmlns:a="http://schemas.openxmlformats.org/drawingml/2006/main" noGrp="1"/>
          </p:cNvSpPr>
          <p:nvPr/>
        </p:nvSpPr>
        <p:spPr>
          <a:xfrm xmlns:a="http://schemas.openxmlformats.org/drawingml/2006/main">
            <a:off x="9829800" y="2670048"/>
            <a:ext cx="1783080" cy="47548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49DC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TextBox 36">
            <a:extLst xmlns:a="http://schemas.openxmlformats.org/drawingml/2006/main">
              <a:ext uri="{FF2B5EF4-FFF2-40B4-BE49-F238E27FC236}">
                <a16:creationId xmlns:a16="http://schemas.microsoft.com/office/drawing/2014/main" id="{0961C92B-9B19-4999-992C-ACDA42F957D8}"/>
              </a:ext>
            </a:extLst>
          </p:cNvPr>
          <p:cNvSpPr>
            <a:spLocks xmlns:a="http://schemas.openxmlformats.org/drawingml/2006/main" noGrp="1"/>
          </p:cNvSpPr>
          <p:nvPr/>
        </p:nvSpPr>
        <p:spPr>
          <a:xfrm xmlns:a="http://schemas.openxmlformats.org/drawingml/2006/main">
            <a:off x="9884664" y="2761488"/>
            <a:ext cx="1673352" cy="3383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ctr">
            <a:spAutoFit/>
          </a:bodyPr>
          <a:lstStyle xmlns:a="http://schemas.openxmlformats.org/drawingml/2006/main"/>
          <a:p xmlns:a="http://schemas.openxmlformats.org/drawingml/2006/main">
            <a:pPr algn="ctr">
              <a:buNone/>
            </a:pPr>
            <a:r>
              <a:rPr sz="940" b="1">
                <a:solidFill>
                  <a:srgbClr val="F2F7FC"/>
                </a:solidFill>
                <a:latin typeface="Aptos"/>
                <a:ea typeface="Aptos"/>
                <a:cs typeface="Aptos"/>
              </a:rPr>
              <a:t>Care allocation</a:t>
            </a:r>
          </a:p>
        </p:txBody>
      </p:sp>
      <p:sp>
        <p:nvSpPr>
          <p:cNvPr id="38" name="Connector 37">
            <a:extLst xmlns:a="http://schemas.openxmlformats.org/drawingml/2006/main">
              <a:ext uri="{FF2B5EF4-FFF2-40B4-BE49-F238E27FC236}">
                <a16:creationId xmlns:a16="http://schemas.microsoft.com/office/drawing/2014/main" id="{C6C9D0DC-1C1E-4ADB-BAD4-98231B1199FF}"/>
              </a:ext>
            </a:extLst>
          </p:cNvPr>
          <p:cNvSpPr>
            <a:spLocks xmlns:a="http://schemas.openxmlformats.org/drawingml/2006/main" noGrp="1"/>
          </p:cNvSpPr>
          <p:nvPr/>
        </p:nvSpPr>
        <p:spPr>
          <a:xfrm xmlns:a="http://schemas.openxmlformats.org/drawingml/2006/main">
            <a:off x="2651760" y="2295144"/>
            <a:ext cx="320040" cy="0"/>
          </a:xfrm>
          <a:prstGeom xmlns:a="http://schemas.openxmlformats.org/drawingml/2006/main" prst="line">
            <a:avLst/>
          </a:prstGeom>
          <a:ln xmlns:a="http://schemas.openxmlformats.org/drawingml/2006/main" w="1778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E5A6A72-3233-4BDF-8A31-CD40B7D8F289}"/>
              </a:ext>
            </a:extLst>
          </p:cNvPr>
          <p:cNvSpPr>
            <a:spLocks xmlns:a="http://schemas.openxmlformats.org/drawingml/2006/main" noGrp="1"/>
          </p:cNvSpPr>
          <p:nvPr/>
        </p:nvSpPr>
        <p:spPr>
          <a:xfrm xmlns:a="http://schemas.openxmlformats.org/drawingml/2006/main">
            <a:off x="4937760" y="2295144"/>
            <a:ext cx="320040" cy="0"/>
          </a:xfrm>
          <a:prstGeom xmlns:a="http://schemas.openxmlformats.org/drawingml/2006/main" prst="line">
            <a:avLst/>
          </a:prstGeom>
          <a:ln xmlns:a="http://schemas.openxmlformats.org/drawingml/2006/main" w="1778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E5B1829B-5CAB-4338-80ED-849BCEA4A2C7}"/>
              </a:ext>
            </a:extLst>
          </p:cNvPr>
          <p:cNvSpPr>
            <a:spLocks xmlns:a="http://schemas.openxmlformats.org/drawingml/2006/main" noGrp="1"/>
          </p:cNvSpPr>
          <p:nvPr/>
        </p:nvSpPr>
        <p:spPr>
          <a:xfrm xmlns:a="http://schemas.openxmlformats.org/drawingml/2006/main">
            <a:off x="7223760" y="2295144"/>
            <a:ext cx="320040" cy="0"/>
          </a:xfrm>
          <a:prstGeom xmlns:a="http://schemas.openxmlformats.org/drawingml/2006/main" prst="line">
            <a:avLst/>
          </a:prstGeom>
          <a:ln xmlns:a="http://schemas.openxmlformats.org/drawingml/2006/main" w="1778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1998248A-7FD3-449A-94F1-599C96B45D41}"/>
              </a:ext>
            </a:extLst>
          </p:cNvPr>
          <p:cNvSpPr>
            <a:spLocks xmlns:a="http://schemas.openxmlformats.org/drawingml/2006/main" noGrp="1"/>
          </p:cNvSpPr>
          <p:nvPr/>
        </p:nvSpPr>
        <p:spPr>
          <a:xfrm xmlns:a="http://schemas.openxmlformats.org/drawingml/2006/main">
            <a:off x="9509760" y="2295144"/>
            <a:ext cx="320040" cy="0"/>
          </a:xfrm>
          <a:prstGeom xmlns:a="http://schemas.openxmlformats.org/drawingml/2006/main" prst="line">
            <a:avLst/>
          </a:prstGeom>
          <a:ln xmlns:a="http://schemas.openxmlformats.org/drawingml/2006/main" w="1778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E4EF7158-CC30-4461-AB68-C17B929E3E82}"/>
              </a:ext>
            </a:extLst>
          </p:cNvPr>
          <p:cNvSpPr>
            <a:spLocks xmlns:a="http://schemas.openxmlformats.org/drawingml/2006/main" noGrp="1"/>
          </p:cNvSpPr>
          <p:nvPr/>
        </p:nvSpPr>
        <p:spPr>
          <a:xfrm xmlns:a="http://schemas.openxmlformats.org/drawingml/2006/main">
            <a:off x="1664208" y="2532888"/>
            <a:ext cx="0" cy="137160"/>
          </a:xfrm>
          <a:prstGeom xmlns:a="http://schemas.openxmlformats.org/drawingml/2006/main" prst="line">
            <a:avLst/>
          </a:prstGeom>
          <a:ln xmlns:a="http://schemas.openxmlformats.org/drawingml/2006/main" w="1397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35CF7034-EAA8-48AC-A977-34FCFF25879C}"/>
              </a:ext>
            </a:extLst>
          </p:cNvPr>
          <p:cNvSpPr>
            <a:spLocks xmlns:a="http://schemas.openxmlformats.org/drawingml/2006/main" noGrp="1"/>
          </p:cNvSpPr>
          <p:nvPr/>
        </p:nvSpPr>
        <p:spPr>
          <a:xfrm xmlns:a="http://schemas.openxmlformats.org/drawingml/2006/main">
            <a:off x="3950208" y="2532888"/>
            <a:ext cx="0" cy="137160"/>
          </a:xfrm>
          <a:prstGeom xmlns:a="http://schemas.openxmlformats.org/drawingml/2006/main" prst="line">
            <a:avLst/>
          </a:prstGeom>
          <a:ln xmlns:a="http://schemas.openxmlformats.org/drawingml/2006/main" w="1397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FDC22657-AF99-49E5-883E-8F761CC84CEE}"/>
              </a:ext>
            </a:extLst>
          </p:cNvPr>
          <p:cNvSpPr>
            <a:spLocks xmlns:a="http://schemas.openxmlformats.org/drawingml/2006/main" noGrp="1"/>
          </p:cNvSpPr>
          <p:nvPr/>
        </p:nvSpPr>
        <p:spPr>
          <a:xfrm xmlns:a="http://schemas.openxmlformats.org/drawingml/2006/main">
            <a:off x="6236208" y="2532888"/>
            <a:ext cx="0" cy="137160"/>
          </a:xfrm>
          <a:prstGeom xmlns:a="http://schemas.openxmlformats.org/drawingml/2006/main" prst="line">
            <a:avLst/>
          </a:prstGeom>
          <a:ln xmlns:a="http://schemas.openxmlformats.org/drawingml/2006/main" w="1397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2E81939-147C-4168-8E34-F6C7BAF7CE26}"/>
              </a:ext>
            </a:extLst>
          </p:cNvPr>
          <p:cNvSpPr>
            <a:spLocks xmlns:a="http://schemas.openxmlformats.org/drawingml/2006/main" noGrp="1"/>
          </p:cNvSpPr>
          <p:nvPr/>
        </p:nvSpPr>
        <p:spPr>
          <a:xfrm xmlns:a="http://schemas.openxmlformats.org/drawingml/2006/main">
            <a:off x="8522208" y="2532888"/>
            <a:ext cx="0" cy="137160"/>
          </a:xfrm>
          <a:prstGeom xmlns:a="http://schemas.openxmlformats.org/drawingml/2006/main" prst="line">
            <a:avLst/>
          </a:prstGeom>
          <a:ln xmlns:a="http://schemas.openxmlformats.org/drawingml/2006/main" w="1397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25FF3B83-F6B5-43B5-ACC6-98D71F667AF8}"/>
              </a:ext>
            </a:extLst>
          </p:cNvPr>
          <p:cNvSpPr>
            <a:spLocks xmlns:a="http://schemas.openxmlformats.org/drawingml/2006/main" noGrp="1"/>
          </p:cNvSpPr>
          <p:nvPr/>
        </p:nvSpPr>
        <p:spPr>
          <a:xfrm xmlns:a="http://schemas.openxmlformats.org/drawingml/2006/main">
            <a:off x="10716768" y="2532888"/>
            <a:ext cx="0" cy="137160"/>
          </a:xfrm>
          <a:prstGeom xmlns:a="http://schemas.openxmlformats.org/drawingml/2006/main" prst="line">
            <a:avLst/>
          </a:prstGeom>
          <a:ln xmlns:a="http://schemas.openxmlformats.org/drawingml/2006/main" w="1397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7" name="Rounded Rectangle 46">
            <a:extLst xmlns:a="http://schemas.openxmlformats.org/drawingml/2006/main">
              <a:ext uri="{FF2B5EF4-FFF2-40B4-BE49-F238E27FC236}">
                <a16:creationId xmlns:a16="http://schemas.microsoft.com/office/drawing/2014/main" id="{959A4441-C23B-4415-84A8-0EF588700908}"/>
              </a:ext>
            </a:extLst>
          </p:cNvPr>
          <p:cNvSpPr>
            <a:spLocks xmlns:a="http://schemas.openxmlformats.org/drawingml/2006/main" noGrp="1"/>
          </p:cNvSpPr>
          <p:nvPr/>
        </p:nvSpPr>
        <p:spPr>
          <a:xfrm xmlns:a="http://schemas.openxmlformats.org/drawingml/2006/main">
            <a:off x="2971800" y="3364992"/>
            <a:ext cx="7223760" cy="548640"/>
          </a:xfrm>
          <a:prstGeom xmlns:a="http://schemas.openxmlformats.org/drawingml/2006/main" prst="roundRect">
            <a:avLst/>
          </a:prstGeom>
          <a:solidFill xmlns:a="http://schemas.openxmlformats.org/drawingml/2006/main">
            <a:srgbClr val="152239"/>
          </a:solidFill>
          <a:ln xmlns:a="http://schemas.openxmlformats.org/drawingml/2006/main" w="10160">
            <a:solidFill>
              <a:srgbClr val="9C7D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TextBox 47">
            <a:extLst xmlns:a="http://schemas.openxmlformats.org/drawingml/2006/main">
              <a:ext uri="{FF2B5EF4-FFF2-40B4-BE49-F238E27FC236}">
                <a16:creationId xmlns:a16="http://schemas.microsoft.com/office/drawing/2014/main" id="{FF564174-2F12-4F00-A62C-ED8AECCFC58D}"/>
              </a:ext>
            </a:extLst>
          </p:cNvPr>
          <p:cNvSpPr>
            <a:spLocks xmlns:a="http://schemas.openxmlformats.org/drawingml/2006/main" noGrp="1"/>
          </p:cNvSpPr>
          <p:nvPr/>
        </p:nvSpPr>
        <p:spPr>
          <a:xfrm xmlns:a="http://schemas.openxmlformats.org/drawingml/2006/main">
            <a:off x="3154680" y="3502152"/>
            <a:ext cx="6858000" cy="219456"/>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950" b="1">
                <a:solidFill>
                  <a:srgbClr val="9C7DFF"/>
                </a:solidFill>
                <a:latin typeface="Aptos"/>
                <a:ea typeface="Aptos"/>
                <a:cs typeface="Aptos"/>
              </a:rPr>
              <a:t>CSP • A* SEARCH • MATCHING • PRIORITY QUEUE • OPTIMIZATION</a:t>
            </a:r>
          </a:p>
        </p:txBody>
      </p:sp>
      <p:sp>
        <p:nvSpPr>
          <p:cNvPr id="49" name="Rounded Rectangle 48">
            <a:extLst xmlns:a="http://schemas.openxmlformats.org/drawingml/2006/main">
              <a:ext uri="{FF2B5EF4-FFF2-40B4-BE49-F238E27FC236}">
                <a16:creationId xmlns:a16="http://schemas.microsoft.com/office/drawing/2014/main" id="{808C8ECC-64C9-4CB5-BE1A-11F1917CBC78}"/>
              </a:ext>
            </a:extLst>
          </p:cNvPr>
          <p:cNvSpPr>
            <a:spLocks xmlns:a="http://schemas.openxmlformats.org/drawingml/2006/main" noGrp="1"/>
          </p:cNvSpPr>
          <p:nvPr/>
        </p:nvSpPr>
        <p:spPr>
          <a:xfrm xmlns:a="http://schemas.openxmlformats.org/drawingml/2006/main">
            <a:off x="685800" y="4160520"/>
            <a:ext cx="10927080" cy="731520"/>
          </a:xfrm>
          <a:prstGeom xmlns:a="http://schemas.openxmlformats.org/drawingml/2006/main" prst="roundRect">
            <a:avLst/>
          </a:prstGeom>
          <a:solidFill xmlns:a="http://schemas.openxmlformats.org/drawingml/2006/main">
            <a:srgbClr val="0E3130"/>
          </a:solidFill>
          <a:ln xmlns:a="http://schemas.openxmlformats.org/drawingml/2006/main" w="10160">
            <a:solidFill>
              <a:srgbClr val="49DC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TextBox 49">
            <a:extLst xmlns:a="http://schemas.openxmlformats.org/drawingml/2006/main">
              <a:ext uri="{FF2B5EF4-FFF2-40B4-BE49-F238E27FC236}">
                <a16:creationId xmlns:a16="http://schemas.microsoft.com/office/drawing/2014/main" id="{20998B5B-2C37-4D64-B9FD-E3BDF131EE4A}"/>
              </a:ext>
            </a:extLst>
          </p:cNvPr>
          <p:cNvSpPr>
            <a:spLocks xmlns:a="http://schemas.openxmlformats.org/drawingml/2006/main" noGrp="1"/>
          </p:cNvSpPr>
          <p:nvPr/>
        </p:nvSpPr>
        <p:spPr>
          <a:xfrm xmlns:a="http://schemas.openxmlformats.org/drawingml/2006/main">
            <a:off x="914400" y="4315968"/>
            <a:ext cx="10469880" cy="34747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ctr">
            <a:spAutoFit/>
          </a:bodyPr>
          <a:lstStyle xmlns:a="http://schemas.openxmlformats.org/drawingml/2006/main"/>
          <a:p xmlns:a="http://schemas.openxmlformats.org/drawingml/2006/main">
            <a:pPr algn="ctr">
              <a:buNone/>
            </a:pPr>
            <a:r>
              <a:rPr sz="919" b="1">
                <a:solidFill>
                  <a:srgbClr val="49DC9E"/>
                </a:solidFill>
                <a:latin typeface="Aptos"/>
                <a:ea typeface="Aptos"/>
                <a:cs typeface="Aptos"/>
              </a:rPr>
              <a:t>PATIENT UNDER CARE → NEW OBSERVATIONS → REASSESSMENT → ESCALATE / CONTINUE / DE-ESCALATE → DYNAMIC REPLANNING</a:t>
            </a:r>
          </a:p>
        </p:txBody>
      </p:sp>
      <p:sp>
        <p:nvSpPr>
          <p:cNvPr id="51" name="Connector 50">
            <a:extLst xmlns:a="http://schemas.openxmlformats.org/drawingml/2006/main">
              <a:ext uri="{FF2B5EF4-FFF2-40B4-BE49-F238E27FC236}">
                <a16:creationId xmlns:a16="http://schemas.microsoft.com/office/drawing/2014/main" id="{44F2BD9F-B9F0-4F5D-B79A-556067F85C4C}"/>
              </a:ext>
            </a:extLst>
          </p:cNvPr>
          <p:cNvSpPr>
            <a:spLocks xmlns:a="http://schemas.openxmlformats.org/drawingml/2006/main" noGrp="1"/>
          </p:cNvSpPr>
          <p:nvPr/>
        </p:nvSpPr>
        <p:spPr>
          <a:xfrm xmlns:a="http://schemas.openxmlformats.org/drawingml/2006/main" flipV="1">
            <a:off x="868680" y="3200400"/>
            <a:ext cx="0" cy="960120"/>
          </a:xfrm>
          <a:prstGeom xmlns:a="http://schemas.openxmlformats.org/drawingml/2006/main" prst="line">
            <a:avLst/>
          </a:prstGeom>
          <a:ln xmlns:a="http://schemas.openxmlformats.org/drawingml/2006/main" w="16510">
            <a:solidFill>
              <a:srgbClr val="49DC9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7B7E230F-3835-40CA-8619-DCFC17AAB8DD}"/>
              </a:ext>
            </a:extLst>
          </p:cNvPr>
          <p:cNvSpPr>
            <a:spLocks xmlns:a="http://schemas.openxmlformats.org/drawingml/2006/main" noGrp="1"/>
          </p:cNvSpPr>
          <p:nvPr/>
        </p:nvSpPr>
        <p:spPr>
          <a:xfrm xmlns:a="http://schemas.openxmlformats.org/drawingml/2006/main" flipH="1">
            <a:off x="685800" y="3200400"/>
            <a:ext cx="182880" cy="0"/>
          </a:xfrm>
          <a:prstGeom xmlns:a="http://schemas.openxmlformats.org/drawingml/2006/main" prst="line">
            <a:avLst/>
          </a:prstGeom>
          <a:ln xmlns:a="http://schemas.openxmlformats.org/drawingml/2006/main" w="16510">
            <a:solidFill>
              <a:srgbClr val="49DC9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3" name="Rounded Rectangle 52">
            <a:extLst xmlns:a="http://schemas.openxmlformats.org/drawingml/2006/main">
              <a:ext uri="{FF2B5EF4-FFF2-40B4-BE49-F238E27FC236}">
                <a16:creationId xmlns:a16="http://schemas.microsoft.com/office/drawing/2014/main" id="{AC8F7553-B4F4-44B7-856D-DFB2BFE1A623}"/>
              </a:ext>
            </a:extLst>
          </p:cNvPr>
          <p:cNvSpPr>
            <a:spLocks xmlns:a="http://schemas.openxmlformats.org/drawingml/2006/main" noGrp="1"/>
          </p:cNvSpPr>
          <p:nvPr/>
        </p:nvSpPr>
        <p:spPr>
          <a:xfrm xmlns:a="http://schemas.openxmlformats.org/drawingml/2006/main">
            <a:off x="685800" y="5138928"/>
            <a:ext cx="10927080" cy="612648"/>
          </a:xfrm>
          <a:prstGeom xmlns:a="http://schemas.openxmlformats.org/drawingml/2006/main" prst="roundRect">
            <a:avLst/>
          </a:prstGeom>
          <a:solidFill xmlns:a="http://schemas.openxmlformats.org/drawingml/2006/main">
            <a:srgbClr val="142235"/>
          </a:solidFill>
          <a:ln xmlns:a="http://schemas.openxmlformats.org/drawingml/2006/main" w="10160">
            <a:solidFill>
              <a:srgbClr val="54BE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4" name="TextBox 53">
            <a:extLst xmlns:a="http://schemas.openxmlformats.org/drawingml/2006/main">
              <a:ext uri="{FF2B5EF4-FFF2-40B4-BE49-F238E27FC236}">
                <a16:creationId xmlns:a16="http://schemas.microsoft.com/office/drawing/2014/main" id="{6D1B63E0-99AF-4FCB-A79D-6C890D9FABEE}"/>
              </a:ext>
            </a:extLst>
          </p:cNvPr>
          <p:cNvSpPr>
            <a:spLocks xmlns:a="http://schemas.openxmlformats.org/drawingml/2006/main" noGrp="1"/>
          </p:cNvSpPr>
          <p:nvPr/>
        </p:nvSpPr>
        <p:spPr>
          <a:xfrm xmlns:a="http://schemas.openxmlformats.org/drawingml/2006/main">
            <a:off x="896112" y="5285232"/>
            <a:ext cx="10515600" cy="27432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980" b="1">
                <a:solidFill>
                  <a:srgbClr val="54BEF0"/>
                </a:solidFill>
                <a:latin typeface="Aptos"/>
                <a:ea typeface="Aptos"/>
                <a:cs typeface="Aptos"/>
              </a:rPr>
              <a:t>INVARIANT • Clinical observations remain historical facts; risk and priority changes never overwrite them.</a:t>
            </a:r>
          </a:p>
        </p:txBody>
      </p:sp>
      <p:sp>
        <p:nvSpPr>
          <p:cNvPr id="55" name="TextBox 54">
            <a:extLst xmlns:a="http://schemas.openxmlformats.org/drawingml/2006/main">
              <a:ext uri="{FF2B5EF4-FFF2-40B4-BE49-F238E27FC236}">
                <a16:creationId xmlns:a16="http://schemas.microsoft.com/office/drawing/2014/main" id="{A277AE64-3C20-4F55-B416-03F64D4A15C9}"/>
              </a:ext>
            </a:extLst>
          </p:cNvPr>
          <p:cNvSpPr>
            <a:spLocks xmlns:a="http://schemas.openxmlformats.org/drawingml/2006/main" noGrp="1"/>
          </p:cNvSpPr>
          <p:nvPr/>
        </p:nvSpPr>
        <p:spPr>
          <a:xfrm xmlns:a="http://schemas.openxmlformats.org/drawingml/2006/main">
            <a:off x="713232" y="5879592"/>
            <a:ext cx="10607040" cy="22860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*Machine-learning components should be claimed only to the extent they are implemented/configured; no performance metrics are asserted.</a:t>
            </a:r>
          </a:p>
        </p:txBody>
      </p:sp>
    </p:spTree>
    <p:extLst>
      <p:ext uri="{BB962C8B-B14F-4D97-AF65-F5344CB8AC3E}">
        <p14:creationId xmlns:p14="http://schemas.microsoft.com/office/powerpoint/2010/main" val="154983108"/>
      </p:ext>
    </p:extLst>
  </p:cSld>
</p:sld>
</file>

<file path=ppt/slides/slide5.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D9EB68D-255D-479C-8EE1-6C47260A5D88}"/>
              </a:ext>
            </a:extLst>
          </p:cNvPr>
          <p:cNvSpPr>
            <a:spLocks xmlns:a="http://schemas.openxmlformats.org/drawingml/2006/main" noGrp="1"/>
          </p:cNvSpPr>
          <p:nvPr/>
        </p:nvSpPr>
        <p:spPr>
          <a:xfrm xmlns:a="http://schemas.openxmlformats.org/drawingml/2006/main">
            <a:off x="502920" y="201168"/>
            <a:ext cx="7315200" cy="22860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900" b="1">
                <a:solidFill>
                  <a:srgbClr val="2BD2BE"/>
                </a:solidFill>
                <a:latin typeface="Aptos"/>
                <a:ea typeface="Aptos"/>
                <a:cs typeface="Aptos"/>
              </a:rPr>
              <a:t>04 / PRODUCT DESIGN</a:t>
            </a:r>
          </a:p>
        </p:txBody>
      </p:sp>
      <p:sp>
        <p:nvSpPr>
          <p:cNvPr id="3" name="TextBox 2">
            <a:extLst xmlns:a="http://schemas.openxmlformats.org/drawingml/2006/main">
              <a:ext uri="{FF2B5EF4-FFF2-40B4-BE49-F238E27FC236}">
                <a16:creationId xmlns:a16="http://schemas.microsoft.com/office/drawing/2014/main" id="{C991E6FC-50C7-456B-96EA-A05477DDE1C8}"/>
              </a:ext>
            </a:extLst>
          </p:cNvPr>
          <p:cNvSpPr>
            <a:spLocks xmlns:a="http://schemas.openxmlformats.org/drawingml/2006/main" noGrp="1"/>
          </p:cNvSpPr>
          <p:nvPr/>
        </p:nvSpPr>
        <p:spPr>
          <a:xfrm xmlns:a="http://schemas.openxmlformats.org/drawingml/2006/main">
            <a:off x="502920" y="475488"/>
            <a:ext cx="10972800" cy="45720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2500" b="1">
                <a:solidFill>
                  <a:srgbClr val="F2F7FC"/>
                </a:solidFill>
                <a:latin typeface="Aptos"/>
                <a:ea typeface="Aptos"/>
                <a:cs typeface="Aptos"/>
              </a:rPr>
              <a:t>Modules</a:t>
            </a:r>
          </a:p>
        </p:txBody>
      </p:sp>
      <p:sp>
        <p:nvSpPr>
          <p:cNvPr id="4" name="TextBox 3">
            <a:extLst xmlns:a="http://schemas.openxmlformats.org/drawingml/2006/main">
              <a:ext uri="{FF2B5EF4-FFF2-40B4-BE49-F238E27FC236}">
                <a16:creationId xmlns:a16="http://schemas.microsoft.com/office/drawing/2014/main" id="{2F173711-B8E4-41B4-8035-8AD759D3D798}"/>
              </a:ext>
            </a:extLst>
          </p:cNvPr>
          <p:cNvSpPr>
            <a:spLocks xmlns:a="http://schemas.openxmlformats.org/drawingml/2006/main" noGrp="1"/>
          </p:cNvSpPr>
          <p:nvPr/>
        </p:nvSpPr>
        <p:spPr>
          <a:xfrm xmlns:a="http://schemas.openxmlformats.org/drawingml/2006/main">
            <a:off x="530352" y="987552"/>
            <a:ext cx="10972800" cy="27432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1000" b="0">
                <a:solidFill>
                  <a:srgbClr val="A9BBCD"/>
                </a:solidFill>
                <a:latin typeface="Aptos"/>
                <a:ea typeface="Aptos"/>
                <a:cs typeface="Aptos"/>
              </a:rPr>
              <a:t>Eight connected modules across intake, clinical review, planning, and discharge</a:t>
            </a:r>
          </a:p>
        </p:txBody>
      </p:sp>
      <p:sp>
        <p:nvSpPr>
          <p:cNvPr id="5" name="Connector 4">
            <a:extLst xmlns:a="http://schemas.openxmlformats.org/drawingml/2006/main">
              <a:ext uri="{FF2B5EF4-FFF2-40B4-BE49-F238E27FC236}">
                <a16:creationId xmlns:a16="http://schemas.microsoft.com/office/drawing/2014/main" id="{9AF66C8D-714C-47E1-ABAD-65B9376AEE63}"/>
              </a:ext>
            </a:extLst>
          </p:cNvPr>
          <p:cNvSpPr>
            <a:spLocks xmlns:a="http://schemas.openxmlformats.org/drawingml/2006/main" noGrp="1"/>
          </p:cNvSpPr>
          <p:nvPr/>
        </p:nvSpPr>
        <p:spPr>
          <a:xfrm xmlns:a="http://schemas.openxmlformats.org/drawingml/2006/main">
            <a:off x="502920" y="1371600"/>
            <a:ext cx="11183112" cy="0"/>
          </a:xfrm>
          <a:prstGeom xmlns:a="http://schemas.openxmlformats.org/drawingml/2006/main" prst="line">
            <a:avLst/>
          </a:prstGeom>
          <a:ln xmlns:a="http://schemas.openxmlformats.org/drawingml/2006/main" w="1016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41CD9FCF-9923-4FE7-8DCB-B5EC1677E30F}"/>
              </a:ext>
            </a:extLst>
          </p:cNvPr>
          <p:cNvSpPr>
            <a:spLocks xmlns:a="http://schemas.openxmlformats.org/drawingml/2006/main" noGrp="1"/>
          </p:cNvSpPr>
          <p:nvPr/>
        </p:nvSpPr>
        <p:spPr>
          <a:xfrm xmlns:a="http://schemas.openxmlformats.org/drawingml/2006/main">
            <a:off x="548640" y="6537960"/>
            <a:ext cx="5486400"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CAREBRIDGE 2.0 • ACADEMIC PROJECT</a:t>
            </a:r>
          </a:p>
        </p:txBody>
      </p:sp>
      <p:sp>
        <p:nvSpPr>
          <p:cNvPr id="7" name="TextBox 6">
            <a:extLst xmlns:a="http://schemas.openxmlformats.org/drawingml/2006/main">
              <a:ext uri="{FF2B5EF4-FFF2-40B4-BE49-F238E27FC236}">
                <a16:creationId xmlns:a16="http://schemas.microsoft.com/office/drawing/2014/main" id="{C7B93DF5-5CB5-479F-9979-67AA9386B295}"/>
              </a:ext>
            </a:extLst>
          </p:cNvPr>
          <p:cNvSpPr>
            <a:spLocks xmlns:a="http://schemas.openxmlformats.org/drawingml/2006/main" noGrp="1"/>
          </p:cNvSpPr>
          <p:nvPr/>
        </p:nvSpPr>
        <p:spPr>
          <a:xfrm xmlns:a="http://schemas.openxmlformats.org/drawingml/2006/main">
            <a:off x="11155680" y="6537960"/>
            <a:ext cx="457200"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r">
              <a:buNone/>
            </a:pPr>
            <a:r>
              <a:rPr sz="750" b="1">
                <a:solidFill>
                  <a:srgbClr val="A9BBCD"/>
                </a:solidFill>
                <a:latin typeface="Aptos"/>
                <a:ea typeface="Aptos"/>
                <a:cs typeface="Aptos"/>
              </a:rPr>
              <a:t>05</a:t>
            </a:r>
          </a:p>
        </p:txBody>
      </p:sp>
      <p:sp>
        <p:nvSpPr>
          <p:cNvPr id="8" name="Rounded Rectangle 7">
            <a:extLst xmlns:a="http://schemas.openxmlformats.org/drawingml/2006/main">
              <a:ext uri="{FF2B5EF4-FFF2-40B4-BE49-F238E27FC236}">
                <a16:creationId xmlns:a16="http://schemas.microsoft.com/office/drawing/2014/main" id="{4FD61C50-96D8-4247-9A56-DF24AB425913}"/>
              </a:ext>
            </a:extLst>
          </p:cNvPr>
          <p:cNvSpPr>
            <a:spLocks xmlns:a="http://schemas.openxmlformats.org/drawingml/2006/main" noGrp="1"/>
          </p:cNvSpPr>
          <p:nvPr/>
        </p:nvSpPr>
        <p:spPr>
          <a:xfrm xmlns:a="http://schemas.openxmlformats.org/drawingml/2006/main">
            <a:off x="594360" y="1691640"/>
            <a:ext cx="2304288" cy="148132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54BE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147F61A4-5A8D-474F-872B-E8CE76FF447F}"/>
              </a:ext>
            </a:extLst>
          </p:cNvPr>
          <p:cNvSpPr>
            <a:spLocks xmlns:a="http://schemas.openxmlformats.org/drawingml/2006/main" noGrp="1"/>
          </p:cNvSpPr>
          <p:nvPr/>
        </p:nvSpPr>
        <p:spPr>
          <a:xfrm xmlns:a="http://schemas.openxmlformats.org/drawingml/2006/main">
            <a:off x="731520" y="1828800"/>
            <a:ext cx="329184" cy="329184"/>
          </a:xfrm>
          <a:prstGeom xmlns:a="http://schemas.openxmlformats.org/drawingml/2006/main" prst="ellipse">
            <a:avLst/>
          </a:prstGeom>
          <a:solidFill xmlns:a="http://schemas.openxmlformats.org/drawingml/2006/main">
            <a:srgbClr val="54BEF0"/>
          </a:solidFill>
          <a:ln xmlns:a="http://schemas.openxmlformats.org/drawingml/2006/main">
            <a:solidFill>
              <a:srgbClr val="54BE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19DBC520-EB48-41E1-8C8C-01BD99B5AB31}"/>
              </a:ext>
            </a:extLst>
          </p:cNvPr>
          <p:cNvSpPr>
            <a:spLocks xmlns:a="http://schemas.openxmlformats.org/drawingml/2006/main" noGrp="1"/>
          </p:cNvSpPr>
          <p:nvPr/>
        </p:nvSpPr>
        <p:spPr>
          <a:xfrm xmlns:a="http://schemas.openxmlformats.org/drawingml/2006/main">
            <a:off x="731520" y="1883664"/>
            <a:ext cx="329184"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750" b="1">
                <a:solidFill>
                  <a:srgbClr val="0A1220"/>
                </a:solidFill>
                <a:latin typeface="Aptos"/>
                <a:ea typeface="Aptos"/>
                <a:cs typeface="Aptos"/>
              </a:rPr>
              <a:t>01</a:t>
            </a:r>
          </a:p>
        </p:txBody>
      </p:sp>
      <p:sp>
        <p:nvSpPr>
          <p:cNvPr id="11" name="TextBox 10">
            <a:extLst xmlns:a="http://schemas.openxmlformats.org/drawingml/2006/main">
              <a:ext uri="{FF2B5EF4-FFF2-40B4-BE49-F238E27FC236}">
                <a16:creationId xmlns:a16="http://schemas.microsoft.com/office/drawing/2014/main" id="{F22E8A95-73D8-4CAB-9343-623B34D736FB}"/>
              </a:ext>
            </a:extLst>
          </p:cNvPr>
          <p:cNvSpPr>
            <a:spLocks xmlns:a="http://schemas.openxmlformats.org/drawingml/2006/main" noGrp="1"/>
          </p:cNvSpPr>
          <p:nvPr/>
        </p:nvSpPr>
        <p:spPr>
          <a:xfrm xmlns:a="http://schemas.openxmlformats.org/drawingml/2006/main">
            <a:off x="1143000" y="1847088"/>
            <a:ext cx="1627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60" b="1">
                <a:solidFill>
                  <a:srgbClr val="F2F7FC"/>
                </a:solidFill>
                <a:latin typeface="Aptos"/>
                <a:ea typeface="Aptos"/>
                <a:cs typeface="Aptos"/>
              </a:rPr>
              <a:t>PATIENT MANAGEMENT</a:t>
            </a:r>
          </a:p>
        </p:txBody>
      </p:sp>
      <p:sp>
        <p:nvSpPr>
          <p:cNvPr id="12" name="Connector 11">
            <a:extLst xmlns:a="http://schemas.openxmlformats.org/drawingml/2006/main">
              <a:ext uri="{FF2B5EF4-FFF2-40B4-BE49-F238E27FC236}">
                <a16:creationId xmlns:a16="http://schemas.microsoft.com/office/drawing/2014/main" id="{0E727808-DD98-456C-BBBC-27BF296ED7DA}"/>
              </a:ext>
            </a:extLst>
          </p:cNvPr>
          <p:cNvSpPr>
            <a:spLocks xmlns:a="http://schemas.openxmlformats.org/drawingml/2006/main" noGrp="1"/>
          </p:cNvSpPr>
          <p:nvPr/>
        </p:nvSpPr>
        <p:spPr>
          <a:xfrm xmlns:a="http://schemas.openxmlformats.org/drawingml/2006/main">
            <a:off x="731520" y="2258568"/>
            <a:ext cx="2011680" cy="0"/>
          </a:xfrm>
          <a:prstGeom xmlns:a="http://schemas.openxmlformats.org/drawingml/2006/main" prst="line">
            <a:avLst/>
          </a:prstGeom>
          <a:ln xmlns:a="http://schemas.openxmlformats.org/drawingml/2006/main" w="889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2475611E-F913-40B2-88C5-E163EC96B0FC}"/>
              </a:ext>
            </a:extLst>
          </p:cNvPr>
          <p:cNvSpPr>
            <a:spLocks xmlns:a="http://schemas.openxmlformats.org/drawingml/2006/main" noGrp="1"/>
          </p:cNvSpPr>
          <p:nvPr/>
        </p:nvSpPr>
        <p:spPr>
          <a:xfrm xmlns:a="http://schemas.openxmlformats.org/drawingml/2006/main">
            <a:off x="731520" y="2386584"/>
            <a:ext cx="2011680" cy="5669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19" b="0">
                <a:solidFill>
                  <a:srgbClr val="A9BBCD"/>
                </a:solidFill>
                <a:latin typeface="Aptos"/>
                <a:ea typeface="Aptos"/>
                <a:cs typeface="Aptos"/>
              </a:rPr>
              <a:t>Registration • Admission</a:t>
            </a:r>
          </a:p>
          <a:p xmlns:a="http://schemas.openxmlformats.org/drawingml/2006/main">
            <a:pPr algn="l">
              <a:buNone/>
            </a:pPr>
            <a:r>
              <a:rPr sz="819" b="0">
                <a:solidFill>
                  <a:srgbClr val="A9BBCD"/>
                </a:solidFill>
                <a:latin typeface="Aptos"/>
                <a:ea typeface="Aptos"/>
                <a:cs typeface="Aptos"/>
              </a:rPr>
              <a:t>Records • Encounters</a:t>
            </a:r>
          </a:p>
        </p:txBody>
      </p:sp>
      <p:sp>
        <p:nvSpPr>
          <p:cNvPr id="14" name="Rounded Rectangle 13">
            <a:extLst xmlns:a="http://schemas.openxmlformats.org/drawingml/2006/main">
              <a:ext uri="{FF2B5EF4-FFF2-40B4-BE49-F238E27FC236}">
                <a16:creationId xmlns:a16="http://schemas.microsoft.com/office/drawing/2014/main" id="{4D4946AC-B91B-4155-B6AA-A091C4D2654B}"/>
              </a:ext>
            </a:extLst>
          </p:cNvPr>
          <p:cNvSpPr>
            <a:spLocks xmlns:a="http://schemas.openxmlformats.org/drawingml/2006/main" noGrp="1"/>
          </p:cNvSpPr>
          <p:nvPr/>
        </p:nvSpPr>
        <p:spPr>
          <a:xfrm xmlns:a="http://schemas.openxmlformats.org/drawingml/2006/main">
            <a:off x="3493008" y="1691640"/>
            <a:ext cx="2304288" cy="148132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9C7D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0014C0C7-EA95-4F6F-812C-C8CAE3BE593E}"/>
              </a:ext>
            </a:extLst>
          </p:cNvPr>
          <p:cNvSpPr>
            <a:spLocks xmlns:a="http://schemas.openxmlformats.org/drawingml/2006/main" noGrp="1"/>
          </p:cNvSpPr>
          <p:nvPr/>
        </p:nvSpPr>
        <p:spPr>
          <a:xfrm xmlns:a="http://schemas.openxmlformats.org/drawingml/2006/main">
            <a:off x="3630168" y="1828800"/>
            <a:ext cx="329184" cy="329184"/>
          </a:xfrm>
          <a:prstGeom xmlns:a="http://schemas.openxmlformats.org/drawingml/2006/main" prst="ellipse">
            <a:avLst/>
          </a:prstGeom>
          <a:solidFill xmlns:a="http://schemas.openxmlformats.org/drawingml/2006/main">
            <a:srgbClr val="9C7DFF"/>
          </a:solidFill>
          <a:ln xmlns:a="http://schemas.openxmlformats.org/drawingml/2006/main">
            <a:solidFill>
              <a:srgbClr val="9C7D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CD6B5DBA-C690-4268-BCDE-BFC5159FF269}"/>
              </a:ext>
            </a:extLst>
          </p:cNvPr>
          <p:cNvSpPr>
            <a:spLocks xmlns:a="http://schemas.openxmlformats.org/drawingml/2006/main" noGrp="1"/>
          </p:cNvSpPr>
          <p:nvPr/>
        </p:nvSpPr>
        <p:spPr>
          <a:xfrm xmlns:a="http://schemas.openxmlformats.org/drawingml/2006/main">
            <a:off x="3630168" y="1883664"/>
            <a:ext cx="329184"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750" b="1">
                <a:solidFill>
                  <a:srgbClr val="0A1220"/>
                </a:solidFill>
                <a:latin typeface="Aptos"/>
                <a:ea typeface="Aptos"/>
                <a:cs typeface="Aptos"/>
              </a:rPr>
              <a:t>02</a:t>
            </a:r>
          </a:p>
        </p:txBody>
      </p:sp>
      <p:sp>
        <p:nvSpPr>
          <p:cNvPr id="17" name="TextBox 16">
            <a:extLst xmlns:a="http://schemas.openxmlformats.org/drawingml/2006/main">
              <a:ext uri="{FF2B5EF4-FFF2-40B4-BE49-F238E27FC236}">
                <a16:creationId xmlns:a16="http://schemas.microsoft.com/office/drawing/2014/main" id="{EDD15DD4-A64E-435E-A70F-023C732310BF}"/>
              </a:ext>
            </a:extLst>
          </p:cNvPr>
          <p:cNvSpPr>
            <a:spLocks xmlns:a="http://schemas.openxmlformats.org/drawingml/2006/main" noGrp="1"/>
          </p:cNvSpPr>
          <p:nvPr/>
        </p:nvSpPr>
        <p:spPr>
          <a:xfrm xmlns:a="http://schemas.openxmlformats.org/drawingml/2006/main">
            <a:off x="4041648" y="1847088"/>
            <a:ext cx="1627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60" b="1">
                <a:solidFill>
                  <a:srgbClr val="F2F7FC"/>
                </a:solidFill>
                <a:latin typeface="Aptos"/>
                <a:ea typeface="Aptos"/>
                <a:cs typeface="Aptos"/>
              </a:rPr>
              <a:t>CLINICAL RISK</a:t>
            </a:r>
          </a:p>
        </p:txBody>
      </p:sp>
      <p:sp>
        <p:nvSpPr>
          <p:cNvPr id="18" name="Connector 17">
            <a:extLst xmlns:a="http://schemas.openxmlformats.org/drawingml/2006/main">
              <a:ext uri="{FF2B5EF4-FFF2-40B4-BE49-F238E27FC236}">
                <a16:creationId xmlns:a16="http://schemas.microsoft.com/office/drawing/2014/main" id="{410F7B5A-B1DB-4E0D-AC25-48DD5851387C}"/>
              </a:ext>
            </a:extLst>
          </p:cNvPr>
          <p:cNvSpPr>
            <a:spLocks xmlns:a="http://schemas.openxmlformats.org/drawingml/2006/main" noGrp="1"/>
          </p:cNvSpPr>
          <p:nvPr/>
        </p:nvSpPr>
        <p:spPr>
          <a:xfrm xmlns:a="http://schemas.openxmlformats.org/drawingml/2006/main">
            <a:off x="3630168" y="2258568"/>
            <a:ext cx="2011680" cy="0"/>
          </a:xfrm>
          <a:prstGeom xmlns:a="http://schemas.openxmlformats.org/drawingml/2006/main" prst="line">
            <a:avLst/>
          </a:prstGeom>
          <a:ln xmlns:a="http://schemas.openxmlformats.org/drawingml/2006/main" w="889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TextBox 18">
            <a:extLst xmlns:a="http://schemas.openxmlformats.org/drawingml/2006/main">
              <a:ext uri="{FF2B5EF4-FFF2-40B4-BE49-F238E27FC236}">
                <a16:creationId xmlns:a16="http://schemas.microsoft.com/office/drawing/2014/main" id="{B59D52F7-752E-47F8-A1AD-FD4D1A67D137}"/>
              </a:ext>
            </a:extLst>
          </p:cNvPr>
          <p:cNvSpPr>
            <a:spLocks xmlns:a="http://schemas.openxmlformats.org/drawingml/2006/main" noGrp="1"/>
          </p:cNvSpPr>
          <p:nvPr/>
        </p:nvSpPr>
        <p:spPr>
          <a:xfrm xmlns:a="http://schemas.openxmlformats.org/drawingml/2006/main">
            <a:off x="3630168" y="2386584"/>
            <a:ext cx="2011680" cy="5669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19" b="0">
                <a:solidFill>
                  <a:srgbClr val="A9BBCD"/>
                </a:solidFill>
                <a:latin typeface="Aptos"/>
                <a:ea typeface="Aptos"/>
                <a:cs typeface="Aptos"/>
              </a:rPr>
              <a:t>Observations • Rules</a:t>
            </a:r>
          </a:p>
          <a:p xmlns:a="http://schemas.openxmlformats.org/drawingml/2006/main">
            <a:pPr algn="l">
              <a:buNone/>
            </a:pPr>
            <a:r>
              <a:rPr sz="819" b="0">
                <a:solidFill>
                  <a:srgbClr val="A9BBCD"/>
                </a:solidFill>
                <a:latin typeface="Aptos"/>
                <a:ea typeface="Aptos"/>
                <a:cs typeface="Aptos"/>
              </a:rPr>
              <a:t>Assessment • Reassessment</a:t>
            </a:r>
          </a:p>
        </p:txBody>
      </p:sp>
      <p:sp>
        <p:nvSpPr>
          <p:cNvPr id="20" name="Rounded Rectangle 19">
            <a:extLst xmlns:a="http://schemas.openxmlformats.org/drawingml/2006/main">
              <a:ext uri="{FF2B5EF4-FFF2-40B4-BE49-F238E27FC236}">
                <a16:creationId xmlns:a16="http://schemas.microsoft.com/office/drawing/2014/main" id="{8D0AB2EF-56C8-4020-93C3-00B64ED55C3D}"/>
              </a:ext>
            </a:extLst>
          </p:cNvPr>
          <p:cNvSpPr>
            <a:spLocks xmlns:a="http://schemas.openxmlformats.org/drawingml/2006/main" noGrp="1"/>
          </p:cNvSpPr>
          <p:nvPr/>
        </p:nvSpPr>
        <p:spPr>
          <a:xfrm xmlns:a="http://schemas.openxmlformats.org/drawingml/2006/main">
            <a:off x="6391656" y="1691640"/>
            <a:ext cx="2304288" cy="148132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FFB15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Oval 20">
            <a:extLst xmlns:a="http://schemas.openxmlformats.org/drawingml/2006/main">
              <a:ext uri="{FF2B5EF4-FFF2-40B4-BE49-F238E27FC236}">
                <a16:creationId xmlns:a16="http://schemas.microsoft.com/office/drawing/2014/main" id="{5615D9B7-F2E5-4991-AC22-389996BF0A3F}"/>
              </a:ext>
            </a:extLst>
          </p:cNvPr>
          <p:cNvSpPr>
            <a:spLocks xmlns:a="http://schemas.openxmlformats.org/drawingml/2006/main" noGrp="1"/>
          </p:cNvSpPr>
          <p:nvPr/>
        </p:nvSpPr>
        <p:spPr>
          <a:xfrm xmlns:a="http://schemas.openxmlformats.org/drawingml/2006/main">
            <a:off x="6528816" y="1828800"/>
            <a:ext cx="329184" cy="329184"/>
          </a:xfrm>
          <a:prstGeom xmlns:a="http://schemas.openxmlformats.org/drawingml/2006/main" prst="ellipse">
            <a:avLst/>
          </a:prstGeom>
          <a:solidFill xmlns:a="http://schemas.openxmlformats.org/drawingml/2006/main">
            <a:srgbClr val="FFB153"/>
          </a:solidFill>
          <a:ln xmlns:a="http://schemas.openxmlformats.org/drawingml/2006/main">
            <a:solidFill>
              <a:srgbClr val="FFB15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372385EA-2D2E-486C-A265-2082C869D512}"/>
              </a:ext>
            </a:extLst>
          </p:cNvPr>
          <p:cNvSpPr>
            <a:spLocks xmlns:a="http://schemas.openxmlformats.org/drawingml/2006/main" noGrp="1"/>
          </p:cNvSpPr>
          <p:nvPr/>
        </p:nvSpPr>
        <p:spPr>
          <a:xfrm xmlns:a="http://schemas.openxmlformats.org/drawingml/2006/main">
            <a:off x="6528816" y="1883664"/>
            <a:ext cx="329184"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750" b="1">
                <a:solidFill>
                  <a:srgbClr val="0A1220"/>
                </a:solidFill>
                <a:latin typeface="Aptos"/>
                <a:ea typeface="Aptos"/>
                <a:cs typeface="Aptos"/>
              </a:rPr>
              <a:t>03</a:t>
            </a:r>
          </a:p>
        </p:txBody>
      </p:sp>
      <p:sp>
        <p:nvSpPr>
          <p:cNvPr id="23" name="TextBox 22">
            <a:extLst xmlns:a="http://schemas.openxmlformats.org/drawingml/2006/main">
              <a:ext uri="{FF2B5EF4-FFF2-40B4-BE49-F238E27FC236}">
                <a16:creationId xmlns:a16="http://schemas.microsoft.com/office/drawing/2014/main" id="{217471A5-38F6-46E5-AFF3-DBC1392F6A17}"/>
              </a:ext>
            </a:extLst>
          </p:cNvPr>
          <p:cNvSpPr>
            <a:spLocks xmlns:a="http://schemas.openxmlformats.org/drawingml/2006/main" noGrp="1"/>
          </p:cNvSpPr>
          <p:nvPr/>
        </p:nvSpPr>
        <p:spPr>
          <a:xfrm xmlns:a="http://schemas.openxmlformats.org/drawingml/2006/main">
            <a:off x="6940296" y="1847088"/>
            <a:ext cx="1627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60" b="1">
                <a:solidFill>
                  <a:srgbClr val="F2F7FC"/>
                </a:solidFill>
                <a:latin typeface="Aptos"/>
                <a:ea typeface="Aptos"/>
                <a:cs typeface="Aptos"/>
              </a:rPr>
              <a:t>OPERATIONAL PRIORITY</a:t>
            </a:r>
          </a:p>
        </p:txBody>
      </p:sp>
      <p:sp>
        <p:nvSpPr>
          <p:cNvPr id="24" name="Connector 23">
            <a:extLst xmlns:a="http://schemas.openxmlformats.org/drawingml/2006/main">
              <a:ext uri="{FF2B5EF4-FFF2-40B4-BE49-F238E27FC236}">
                <a16:creationId xmlns:a16="http://schemas.microsoft.com/office/drawing/2014/main" id="{0A49CBC8-F1D9-4AAA-8214-0AC2B4284244}"/>
              </a:ext>
            </a:extLst>
          </p:cNvPr>
          <p:cNvSpPr>
            <a:spLocks xmlns:a="http://schemas.openxmlformats.org/drawingml/2006/main" noGrp="1"/>
          </p:cNvSpPr>
          <p:nvPr/>
        </p:nvSpPr>
        <p:spPr>
          <a:xfrm xmlns:a="http://schemas.openxmlformats.org/drawingml/2006/main">
            <a:off x="6528816" y="2258568"/>
            <a:ext cx="2011680" cy="0"/>
          </a:xfrm>
          <a:prstGeom xmlns:a="http://schemas.openxmlformats.org/drawingml/2006/main" prst="line">
            <a:avLst/>
          </a:prstGeom>
          <a:ln xmlns:a="http://schemas.openxmlformats.org/drawingml/2006/main" w="889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5" name="TextBox 24">
            <a:extLst xmlns:a="http://schemas.openxmlformats.org/drawingml/2006/main">
              <a:ext uri="{FF2B5EF4-FFF2-40B4-BE49-F238E27FC236}">
                <a16:creationId xmlns:a16="http://schemas.microsoft.com/office/drawing/2014/main" id="{6975FE0C-C5AB-4393-B2A6-94B8B7179B33}"/>
              </a:ext>
            </a:extLst>
          </p:cNvPr>
          <p:cNvSpPr>
            <a:spLocks xmlns:a="http://schemas.openxmlformats.org/drawingml/2006/main" noGrp="1"/>
          </p:cNvSpPr>
          <p:nvPr/>
        </p:nvSpPr>
        <p:spPr>
          <a:xfrm xmlns:a="http://schemas.openxmlformats.org/drawingml/2006/main">
            <a:off x="6528816" y="2386584"/>
            <a:ext cx="2011680" cy="5669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19" b="0">
                <a:solidFill>
                  <a:srgbClr val="A9BBCD"/>
                </a:solidFill>
                <a:latin typeface="Aptos"/>
                <a:ea typeface="Aptos"/>
                <a:cs typeface="Aptos"/>
              </a:rPr>
              <a:t>Priority calculation</a:t>
            </a:r>
          </a:p>
          <a:p xmlns:a="http://schemas.openxmlformats.org/drawingml/2006/main">
            <a:pPr algn="l">
              <a:buNone/>
            </a:pPr>
            <a:r>
              <a:rPr sz="819" b="0">
                <a:solidFill>
                  <a:srgbClr val="A9BBCD"/>
                </a:solidFill>
                <a:latin typeface="Aptos"/>
                <a:ea typeface="Aptos"/>
                <a:cs typeface="Aptos"/>
              </a:rPr>
              <a:t>Queue • Dynamic updates</a:t>
            </a:r>
          </a:p>
        </p:txBody>
      </p:sp>
      <p:sp>
        <p:nvSpPr>
          <p:cNvPr id="26" name="Rounded Rectangle 25">
            <a:extLst xmlns:a="http://schemas.openxmlformats.org/drawingml/2006/main">
              <a:ext uri="{FF2B5EF4-FFF2-40B4-BE49-F238E27FC236}">
                <a16:creationId xmlns:a16="http://schemas.microsoft.com/office/drawing/2014/main" id="{1A2A722E-4574-464F-B16E-4BB027F7DF4A}"/>
              </a:ext>
            </a:extLst>
          </p:cNvPr>
          <p:cNvSpPr>
            <a:spLocks xmlns:a="http://schemas.openxmlformats.org/drawingml/2006/main" noGrp="1"/>
          </p:cNvSpPr>
          <p:nvPr/>
        </p:nvSpPr>
        <p:spPr>
          <a:xfrm xmlns:a="http://schemas.openxmlformats.org/drawingml/2006/main">
            <a:off x="9290304" y="1691640"/>
            <a:ext cx="2304288" cy="148132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Oval 26">
            <a:extLst xmlns:a="http://schemas.openxmlformats.org/drawingml/2006/main">
              <a:ext uri="{FF2B5EF4-FFF2-40B4-BE49-F238E27FC236}">
                <a16:creationId xmlns:a16="http://schemas.microsoft.com/office/drawing/2014/main" id="{96A9A3E2-348F-480A-830D-96A016954DE1}"/>
              </a:ext>
            </a:extLst>
          </p:cNvPr>
          <p:cNvSpPr>
            <a:spLocks xmlns:a="http://schemas.openxmlformats.org/drawingml/2006/main" noGrp="1"/>
          </p:cNvSpPr>
          <p:nvPr/>
        </p:nvSpPr>
        <p:spPr>
          <a:xfrm xmlns:a="http://schemas.openxmlformats.org/drawingml/2006/main">
            <a:off x="9427464" y="1828800"/>
            <a:ext cx="329184" cy="329184"/>
          </a:xfrm>
          <a:prstGeom xmlns:a="http://schemas.openxmlformats.org/drawingml/2006/main" prst="ellipse">
            <a:avLst/>
          </a:prstGeom>
          <a:solidFill xmlns:a="http://schemas.openxmlformats.org/drawingml/2006/main">
            <a:srgbClr val="2BD2BE"/>
          </a:solidFill>
          <a:ln xmlns:a="http://schemas.openxmlformats.org/drawingml/2006/main">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4C9D3B52-16B3-4B95-9FA3-F3C4A6A02F39}"/>
              </a:ext>
            </a:extLst>
          </p:cNvPr>
          <p:cNvSpPr>
            <a:spLocks xmlns:a="http://schemas.openxmlformats.org/drawingml/2006/main" noGrp="1"/>
          </p:cNvSpPr>
          <p:nvPr/>
        </p:nvSpPr>
        <p:spPr>
          <a:xfrm xmlns:a="http://schemas.openxmlformats.org/drawingml/2006/main">
            <a:off x="9427464" y="1883664"/>
            <a:ext cx="329184"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750" b="1">
                <a:solidFill>
                  <a:srgbClr val="0A1220"/>
                </a:solidFill>
                <a:latin typeface="Aptos"/>
                <a:ea typeface="Aptos"/>
                <a:cs typeface="Aptos"/>
              </a:rPr>
              <a:t>04</a:t>
            </a:r>
          </a:p>
        </p:txBody>
      </p:sp>
      <p:sp>
        <p:nvSpPr>
          <p:cNvPr id="29" name="TextBox 28">
            <a:extLst xmlns:a="http://schemas.openxmlformats.org/drawingml/2006/main">
              <a:ext uri="{FF2B5EF4-FFF2-40B4-BE49-F238E27FC236}">
                <a16:creationId xmlns:a16="http://schemas.microsoft.com/office/drawing/2014/main" id="{EC3339A9-D303-4DD1-ACBC-063DEB151753}"/>
              </a:ext>
            </a:extLst>
          </p:cNvPr>
          <p:cNvSpPr>
            <a:spLocks xmlns:a="http://schemas.openxmlformats.org/drawingml/2006/main" noGrp="1"/>
          </p:cNvSpPr>
          <p:nvPr/>
        </p:nvSpPr>
        <p:spPr>
          <a:xfrm xmlns:a="http://schemas.openxmlformats.org/drawingml/2006/main">
            <a:off x="9838944" y="1847088"/>
            <a:ext cx="1627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60" b="1">
                <a:solidFill>
                  <a:srgbClr val="F2F7FC"/>
                </a:solidFill>
                <a:latin typeface="Aptos"/>
                <a:ea typeface="Aptos"/>
                <a:cs typeface="Aptos"/>
              </a:rPr>
              <a:t>RESOURCE NEEDS</a:t>
            </a:r>
          </a:p>
        </p:txBody>
      </p:sp>
      <p:sp>
        <p:nvSpPr>
          <p:cNvPr id="30" name="Connector 29">
            <a:extLst xmlns:a="http://schemas.openxmlformats.org/drawingml/2006/main">
              <a:ext uri="{FF2B5EF4-FFF2-40B4-BE49-F238E27FC236}">
                <a16:creationId xmlns:a16="http://schemas.microsoft.com/office/drawing/2014/main" id="{16348475-DDEE-47E0-A0F9-4D9465A42F62}"/>
              </a:ext>
            </a:extLst>
          </p:cNvPr>
          <p:cNvSpPr>
            <a:spLocks xmlns:a="http://schemas.openxmlformats.org/drawingml/2006/main" noGrp="1"/>
          </p:cNvSpPr>
          <p:nvPr/>
        </p:nvSpPr>
        <p:spPr>
          <a:xfrm xmlns:a="http://schemas.openxmlformats.org/drawingml/2006/main">
            <a:off x="9427464" y="2258568"/>
            <a:ext cx="2011680" cy="0"/>
          </a:xfrm>
          <a:prstGeom xmlns:a="http://schemas.openxmlformats.org/drawingml/2006/main" prst="line">
            <a:avLst/>
          </a:prstGeom>
          <a:ln xmlns:a="http://schemas.openxmlformats.org/drawingml/2006/main" w="889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1" name="TextBox 30">
            <a:extLst xmlns:a="http://schemas.openxmlformats.org/drawingml/2006/main">
              <a:ext uri="{FF2B5EF4-FFF2-40B4-BE49-F238E27FC236}">
                <a16:creationId xmlns:a16="http://schemas.microsoft.com/office/drawing/2014/main" id="{421DBCE8-3410-49B1-9F74-32B22570113E}"/>
              </a:ext>
            </a:extLst>
          </p:cNvPr>
          <p:cNvSpPr>
            <a:spLocks xmlns:a="http://schemas.openxmlformats.org/drawingml/2006/main" noGrp="1"/>
          </p:cNvSpPr>
          <p:nvPr/>
        </p:nvSpPr>
        <p:spPr>
          <a:xfrm xmlns:a="http://schemas.openxmlformats.org/drawingml/2006/main">
            <a:off x="9427464" y="2386584"/>
            <a:ext cx="2011680" cy="5669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19" b="0">
                <a:solidFill>
                  <a:srgbClr val="A9BBCD"/>
                </a:solidFill>
                <a:latin typeface="Aptos"/>
                <a:ea typeface="Aptos"/>
                <a:cs typeface="Aptos"/>
              </a:rPr>
              <a:t>Doctors • Rooms • Beds</a:t>
            </a:r>
          </a:p>
          <a:p xmlns:a="http://schemas.openxmlformats.org/drawingml/2006/main">
            <a:pPr algn="l">
              <a:buNone/>
            </a:pPr>
            <a:r>
              <a:rPr sz="819" b="0">
                <a:solidFill>
                  <a:srgbClr val="A9BBCD"/>
                </a:solidFill>
                <a:latin typeface="Aptos"/>
                <a:ea typeface="Aptos"/>
                <a:cs typeface="Aptos"/>
              </a:rPr>
              <a:t>Equipment • Monitoring</a:t>
            </a:r>
          </a:p>
        </p:txBody>
      </p:sp>
      <p:sp>
        <p:nvSpPr>
          <p:cNvPr id="32" name="Rounded Rectangle 31">
            <a:extLst xmlns:a="http://schemas.openxmlformats.org/drawingml/2006/main">
              <a:ext uri="{FF2B5EF4-FFF2-40B4-BE49-F238E27FC236}">
                <a16:creationId xmlns:a16="http://schemas.microsoft.com/office/drawing/2014/main" id="{3C83EE2B-F94B-4F48-B4E0-8FDBE380F964}"/>
              </a:ext>
            </a:extLst>
          </p:cNvPr>
          <p:cNvSpPr>
            <a:spLocks xmlns:a="http://schemas.openxmlformats.org/drawingml/2006/main" noGrp="1"/>
          </p:cNvSpPr>
          <p:nvPr/>
        </p:nvSpPr>
        <p:spPr>
          <a:xfrm xmlns:a="http://schemas.openxmlformats.org/drawingml/2006/main">
            <a:off x="594360" y="3611880"/>
            <a:ext cx="2304288" cy="148132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49DC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Oval 32">
            <a:extLst xmlns:a="http://schemas.openxmlformats.org/drawingml/2006/main">
              <a:ext uri="{FF2B5EF4-FFF2-40B4-BE49-F238E27FC236}">
                <a16:creationId xmlns:a16="http://schemas.microsoft.com/office/drawing/2014/main" id="{EDC3B080-8A84-4C7A-8FBA-ADC6B335962C}"/>
              </a:ext>
            </a:extLst>
          </p:cNvPr>
          <p:cNvSpPr>
            <a:spLocks xmlns:a="http://schemas.openxmlformats.org/drawingml/2006/main" noGrp="1"/>
          </p:cNvSpPr>
          <p:nvPr/>
        </p:nvSpPr>
        <p:spPr>
          <a:xfrm xmlns:a="http://schemas.openxmlformats.org/drawingml/2006/main">
            <a:off x="731520" y="3749040"/>
            <a:ext cx="329184" cy="329184"/>
          </a:xfrm>
          <a:prstGeom xmlns:a="http://schemas.openxmlformats.org/drawingml/2006/main" prst="ellipse">
            <a:avLst/>
          </a:prstGeom>
          <a:solidFill xmlns:a="http://schemas.openxmlformats.org/drawingml/2006/main">
            <a:srgbClr val="49DC9E"/>
          </a:solidFill>
          <a:ln xmlns:a="http://schemas.openxmlformats.org/drawingml/2006/main">
            <a:solidFill>
              <a:srgbClr val="49DC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A1FDCBAF-A4B9-4664-A74A-DEC76A348DAD}"/>
              </a:ext>
            </a:extLst>
          </p:cNvPr>
          <p:cNvSpPr>
            <a:spLocks xmlns:a="http://schemas.openxmlformats.org/drawingml/2006/main" noGrp="1"/>
          </p:cNvSpPr>
          <p:nvPr/>
        </p:nvSpPr>
        <p:spPr>
          <a:xfrm xmlns:a="http://schemas.openxmlformats.org/drawingml/2006/main">
            <a:off x="731520" y="3803904"/>
            <a:ext cx="329184"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750" b="1">
                <a:solidFill>
                  <a:srgbClr val="0A1220"/>
                </a:solidFill>
                <a:latin typeface="Aptos"/>
                <a:ea typeface="Aptos"/>
                <a:cs typeface="Aptos"/>
              </a:rPr>
              <a:t>05</a:t>
            </a:r>
          </a:p>
        </p:txBody>
      </p:sp>
      <p:sp>
        <p:nvSpPr>
          <p:cNvPr id="35" name="TextBox 34">
            <a:extLst xmlns:a="http://schemas.openxmlformats.org/drawingml/2006/main">
              <a:ext uri="{FF2B5EF4-FFF2-40B4-BE49-F238E27FC236}">
                <a16:creationId xmlns:a16="http://schemas.microsoft.com/office/drawing/2014/main" id="{73D1239E-078A-494B-B33D-1EF7845C5625}"/>
              </a:ext>
            </a:extLst>
          </p:cNvPr>
          <p:cNvSpPr>
            <a:spLocks xmlns:a="http://schemas.openxmlformats.org/drawingml/2006/main" noGrp="1"/>
          </p:cNvSpPr>
          <p:nvPr/>
        </p:nvSpPr>
        <p:spPr>
          <a:xfrm xmlns:a="http://schemas.openxmlformats.org/drawingml/2006/main">
            <a:off x="1143000" y="3767328"/>
            <a:ext cx="1627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60" b="1">
                <a:solidFill>
                  <a:srgbClr val="F2F7FC"/>
                </a:solidFill>
                <a:latin typeface="Aptos"/>
                <a:ea typeface="Aptos"/>
                <a:cs typeface="Aptos"/>
              </a:rPr>
              <a:t>AI ALLOCATION</a:t>
            </a:r>
          </a:p>
        </p:txBody>
      </p:sp>
      <p:sp>
        <p:nvSpPr>
          <p:cNvPr id="36" name="Connector 35">
            <a:extLst xmlns:a="http://schemas.openxmlformats.org/drawingml/2006/main">
              <a:ext uri="{FF2B5EF4-FFF2-40B4-BE49-F238E27FC236}">
                <a16:creationId xmlns:a16="http://schemas.microsoft.com/office/drawing/2014/main" id="{7E4F6A2C-5DE7-4FA2-BF07-CFD66EB59804}"/>
              </a:ext>
            </a:extLst>
          </p:cNvPr>
          <p:cNvSpPr>
            <a:spLocks xmlns:a="http://schemas.openxmlformats.org/drawingml/2006/main" noGrp="1"/>
          </p:cNvSpPr>
          <p:nvPr/>
        </p:nvSpPr>
        <p:spPr>
          <a:xfrm xmlns:a="http://schemas.openxmlformats.org/drawingml/2006/main">
            <a:off x="731520" y="4178808"/>
            <a:ext cx="2011680" cy="0"/>
          </a:xfrm>
          <a:prstGeom xmlns:a="http://schemas.openxmlformats.org/drawingml/2006/main" prst="line">
            <a:avLst/>
          </a:prstGeom>
          <a:ln xmlns:a="http://schemas.openxmlformats.org/drawingml/2006/main" w="889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7" name="TextBox 36">
            <a:extLst xmlns:a="http://schemas.openxmlformats.org/drawingml/2006/main">
              <a:ext uri="{FF2B5EF4-FFF2-40B4-BE49-F238E27FC236}">
                <a16:creationId xmlns:a16="http://schemas.microsoft.com/office/drawing/2014/main" id="{B68A78CB-715C-471B-AA22-FDD6F7A22494}"/>
              </a:ext>
            </a:extLst>
          </p:cNvPr>
          <p:cNvSpPr>
            <a:spLocks xmlns:a="http://schemas.openxmlformats.org/drawingml/2006/main" noGrp="1"/>
          </p:cNvSpPr>
          <p:nvPr/>
        </p:nvSpPr>
        <p:spPr>
          <a:xfrm xmlns:a="http://schemas.openxmlformats.org/drawingml/2006/main">
            <a:off x="731520" y="4306824"/>
            <a:ext cx="2011680" cy="5669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19" b="0">
                <a:solidFill>
                  <a:srgbClr val="A9BBCD"/>
                </a:solidFill>
                <a:latin typeface="Aptos"/>
                <a:ea typeface="Aptos"/>
                <a:cs typeface="Aptos"/>
              </a:rPr>
              <a:t>Constraints • CSP • A*</a:t>
            </a:r>
          </a:p>
          <a:p xmlns:a="http://schemas.openxmlformats.org/drawingml/2006/main">
            <a:pPr algn="l">
              <a:buNone/>
            </a:pPr>
            <a:r>
              <a:rPr sz="819" b="0">
                <a:solidFill>
                  <a:srgbClr val="A9BBCD"/>
                </a:solidFill>
                <a:latin typeface="Aptos"/>
                <a:ea typeface="Aptos"/>
                <a:cs typeface="Aptos"/>
              </a:rPr>
              <a:t>Matching • Optimization</a:t>
            </a:r>
          </a:p>
        </p:txBody>
      </p:sp>
      <p:sp>
        <p:nvSpPr>
          <p:cNvPr id="38" name="Rounded Rectangle 37">
            <a:extLst xmlns:a="http://schemas.openxmlformats.org/drawingml/2006/main">
              <a:ext uri="{FF2B5EF4-FFF2-40B4-BE49-F238E27FC236}">
                <a16:creationId xmlns:a16="http://schemas.microsoft.com/office/drawing/2014/main" id="{A52C8677-0C74-4540-9C09-8168D5D2A393}"/>
              </a:ext>
            </a:extLst>
          </p:cNvPr>
          <p:cNvSpPr>
            <a:spLocks xmlns:a="http://schemas.openxmlformats.org/drawingml/2006/main" noGrp="1"/>
          </p:cNvSpPr>
          <p:nvPr/>
        </p:nvSpPr>
        <p:spPr>
          <a:xfrm xmlns:a="http://schemas.openxmlformats.org/drawingml/2006/main">
            <a:off x="3493008" y="3611880"/>
            <a:ext cx="2304288" cy="148132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54BE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Oval 38">
            <a:extLst xmlns:a="http://schemas.openxmlformats.org/drawingml/2006/main">
              <a:ext uri="{FF2B5EF4-FFF2-40B4-BE49-F238E27FC236}">
                <a16:creationId xmlns:a16="http://schemas.microsoft.com/office/drawing/2014/main" id="{27F41C34-68DF-47E9-8E89-AC0C2C8FCFF4}"/>
              </a:ext>
            </a:extLst>
          </p:cNvPr>
          <p:cNvSpPr>
            <a:spLocks xmlns:a="http://schemas.openxmlformats.org/drawingml/2006/main" noGrp="1"/>
          </p:cNvSpPr>
          <p:nvPr/>
        </p:nvSpPr>
        <p:spPr>
          <a:xfrm xmlns:a="http://schemas.openxmlformats.org/drawingml/2006/main">
            <a:off x="3630168" y="3749040"/>
            <a:ext cx="329184" cy="329184"/>
          </a:xfrm>
          <a:prstGeom xmlns:a="http://schemas.openxmlformats.org/drawingml/2006/main" prst="ellipse">
            <a:avLst/>
          </a:prstGeom>
          <a:solidFill xmlns:a="http://schemas.openxmlformats.org/drawingml/2006/main">
            <a:srgbClr val="54BEF0"/>
          </a:solidFill>
          <a:ln xmlns:a="http://schemas.openxmlformats.org/drawingml/2006/main">
            <a:solidFill>
              <a:srgbClr val="54BE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367FB986-6D5F-4EA7-A1C8-204B42CDF862}"/>
              </a:ext>
            </a:extLst>
          </p:cNvPr>
          <p:cNvSpPr>
            <a:spLocks xmlns:a="http://schemas.openxmlformats.org/drawingml/2006/main" noGrp="1"/>
          </p:cNvSpPr>
          <p:nvPr/>
        </p:nvSpPr>
        <p:spPr>
          <a:xfrm xmlns:a="http://schemas.openxmlformats.org/drawingml/2006/main">
            <a:off x="3630168" y="3803904"/>
            <a:ext cx="329184"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750" b="1">
                <a:solidFill>
                  <a:srgbClr val="0A1220"/>
                </a:solidFill>
                <a:latin typeface="Aptos"/>
                <a:ea typeface="Aptos"/>
                <a:cs typeface="Aptos"/>
              </a:rPr>
              <a:t>06</a:t>
            </a:r>
          </a:p>
        </p:txBody>
      </p:sp>
      <p:sp>
        <p:nvSpPr>
          <p:cNvPr id="41" name="TextBox 40">
            <a:extLst xmlns:a="http://schemas.openxmlformats.org/drawingml/2006/main">
              <a:ext uri="{FF2B5EF4-FFF2-40B4-BE49-F238E27FC236}">
                <a16:creationId xmlns:a16="http://schemas.microsoft.com/office/drawing/2014/main" id="{B853B8D0-3914-4EE3-8DD5-7513C6D3174D}"/>
              </a:ext>
            </a:extLst>
          </p:cNvPr>
          <p:cNvSpPr>
            <a:spLocks xmlns:a="http://schemas.openxmlformats.org/drawingml/2006/main" noGrp="1"/>
          </p:cNvSpPr>
          <p:nvPr/>
        </p:nvSpPr>
        <p:spPr>
          <a:xfrm xmlns:a="http://schemas.openxmlformats.org/drawingml/2006/main">
            <a:off x="4041648" y="3767328"/>
            <a:ext cx="1627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60" b="1">
                <a:solidFill>
                  <a:srgbClr val="F2F7FC"/>
                </a:solidFill>
                <a:latin typeface="Aptos"/>
                <a:ea typeface="Aptos"/>
                <a:cs typeface="Aptos"/>
              </a:rPr>
              <a:t>DOCTOR WORKSPACE</a:t>
            </a:r>
          </a:p>
        </p:txBody>
      </p:sp>
      <p:sp>
        <p:nvSpPr>
          <p:cNvPr id="42" name="Connector 41">
            <a:extLst xmlns:a="http://schemas.openxmlformats.org/drawingml/2006/main">
              <a:ext uri="{FF2B5EF4-FFF2-40B4-BE49-F238E27FC236}">
                <a16:creationId xmlns:a16="http://schemas.microsoft.com/office/drawing/2014/main" id="{F700F773-D376-465F-9827-7A0C306A1999}"/>
              </a:ext>
            </a:extLst>
          </p:cNvPr>
          <p:cNvSpPr>
            <a:spLocks xmlns:a="http://schemas.openxmlformats.org/drawingml/2006/main" noGrp="1"/>
          </p:cNvSpPr>
          <p:nvPr/>
        </p:nvSpPr>
        <p:spPr>
          <a:xfrm xmlns:a="http://schemas.openxmlformats.org/drawingml/2006/main">
            <a:off x="3630168" y="4178808"/>
            <a:ext cx="2011680" cy="0"/>
          </a:xfrm>
          <a:prstGeom xmlns:a="http://schemas.openxmlformats.org/drawingml/2006/main" prst="line">
            <a:avLst/>
          </a:prstGeom>
          <a:ln xmlns:a="http://schemas.openxmlformats.org/drawingml/2006/main" w="889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3" name="TextBox 42">
            <a:extLst xmlns:a="http://schemas.openxmlformats.org/drawingml/2006/main">
              <a:ext uri="{FF2B5EF4-FFF2-40B4-BE49-F238E27FC236}">
                <a16:creationId xmlns:a16="http://schemas.microsoft.com/office/drawing/2014/main" id="{B5561A0D-FCCC-44CD-9FFA-2486A4347B52}"/>
              </a:ext>
            </a:extLst>
          </p:cNvPr>
          <p:cNvSpPr>
            <a:spLocks xmlns:a="http://schemas.openxmlformats.org/drawingml/2006/main" noGrp="1"/>
          </p:cNvSpPr>
          <p:nvPr/>
        </p:nvSpPr>
        <p:spPr>
          <a:xfrm xmlns:a="http://schemas.openxmlformats.org/drawingml/2006/main">
            <a:off x="3630168" y="4306824"/>
            <a:ext cx="2011680" cy="5669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19" b="0">
                <a:solidFill>
                  <a:srgbClr val="A9BBCD"/>
                </a:solidFill>
                <a:latin typeface="Aptos"/>
                <a:ea typeface="Aptos"/>
                <a:cs typeface="Aptos"/>
              </a:rPr>
              <a:t>Assigned patients</a:t>
            </a:r>
          </a:p>
          <a:p xmlns:a="http://schemas.openxmlformats.org/drawingml/2006/main">
            <a:pPr algn="l">
              <a:buNone/>
            </a:pPr>
            <a:r>
              <a:rPr sz="819" b="0">
                <a:solidFill>
                  <a:srgbClr val="A9BBCD"/>
                </a:solidFill>
                <a:latin typeface="Aptos"/>
                <a:ea typeface="Aptos"/>
                <a:cs typeface="Aptos"/>
              </a:rPr>
              <a:t>Assessment • Alerts • Care plan</a:t>
            </a:r>
          </a:p>
        </p:txBody>
      </p:sp>
      <p:sp>
        <p:nvSpPr>
          <p:cNvPr id="44" name="Rounded Rectangle 43">
            <a:extLst xmlns:a="http://schemas.openxmlformats.org/drawingml/2006/main">
              <a:ext uri="{FF2B5EF4-FFF2-40B4-BE49-F238E27FC236}">
                <a16:creationId xmlns:a16="http://schemas.microsoft.com/office/drawing/2014/main" id="{7B9D9EF2-750B-40B9-AD19-DB1F8E795D0D}"/>
              </a:ext>
            </a:extLst>
          </p:cNvPr>
          <p:cNvSpPr>
            <a:spLocks xmlns:a="http://schemas.openxmlformats.org/drawingml/2006/main" noGrp="1"/>
          </p:cNvSpPr>
          <p:nvPr/>
        </p:nvSpPr>
        <p:spPr>
          <a:xfrm xmlns:a="http://schemas.openxmlformats.org/drawingml/2006/main">
            <a:off x="6391656" y="3611880"/>
            <a:ext cx="2304288" cy="148132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9C7D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Oval 44">
            <a:extLst xmlns:a="http://schemas.openxmlformats.org/drawingml/2006/main">
              <a:ext uri="{FF2B5EF4-FFF2-40B4-BE49-F238E27FC236}">
                <a16:creationId xmlns:a16="http://schemas.microsoft.com/office/drawing/2014/main" id="{95C67FC5-493F-49BC-87D9-3E9249455110}"/>
              </a:ext>
            </a:extLst>
          </p:cNvPr>
          <p:cNvSpPr>
            <a:spLocks xmlns:a="http://schemas.openxmlformats.org/drawingml/2006/main" noGrp="1"/>
          </p:cNvSpPr>
          <p:nvPr/>
        </p:nvSpPr>
        <p:spPr>
          <a:xfrm xmlns:a="http://schemas.openxmlformats.org/drawingml/2006/main">
            <a:off x="6528816" y="3749040"/>
            <a:ext cx="329184" cy="329184"/>
          </a:xfrm>
          <a:prstGeom xmlns:a="http://schemas.openxmlformats.org/drawingml/2006/main" prst="ellipse">
            <a:avLst/>
          </a:prstGeom>
          <a:solidFill xmlns:a="http://schemas.openxmlformats.org/drawingml/2006/main">
            <a:srgbClr val="9C7DFF"/>
          </a:solidFill>
          <a:ln xmlns:a="http://schemas.openxmlformats.org/drawingml/2006/main">
            <a:solidFill>
              <a:srgbClr val="9C7D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TextBox 45">
            <a:extLst xmlns:a="http://schemas.openxmlformats.org/drawingml/2006/main">
              <a:ext uri="{FF2B5EF4-FFF2-40B4-BE49-F238E27FC236}">
                <a16:creationId xmlns:a16="http://schemas.microsoft.com/office/drawing/2014/main" id="{E4EE8BF7-8939-4D1D-B3A8-FCA5BE3C92B4}"/>
              </a:ext>
            </a:extLst>
          </p:cNvPr>
          <p:cNvSpPr>
            <a:spLocks xmlns:a="http://schemas.openxmlformats.org/drawingml/2006/main" noGrp="1"/>
          </p:cNvSpPr>
          <p:nvPr/>
        </p:nvSpPr>
        <p:spPr>
          <a:xfrm xmlns:a="http://schemas.openxmlformats.org/drawingml/2006/main">
            <a:off x="6528816" y="3803904"/>
            <a:ext cx="329184"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750" b="1">
                <a:solidFill>
                  <a:srgbClr val="0A1220"/>
                </a:solidFill>
                <a:latin typeface="Aptos"/>
                <a:ea typeface="Aptos"/>
                <a:cs typeface="Aptos"/>
              </a:rPr>
              <a:t>07</a:t>
            </a:r>
          </a:p>
        </p:txBody>
      </p:sp>
      <p:sp>
        <p:nvSpPr>
          <p:cNvPr id="47" name="TextBox 46">
            <a:extLst xmlns:a="http://schemas.openxmlformats.org/drawingml/2006/main">
              <a:ext uri="{FF2B5EF4-FFF2-40B4-BE49-F238E27FC236}">
                <a16:creationId xmlns:a16="http://schemas.microsoft.com/office/drawing/2014/main" id="{CBE1CA31-5237-49AF-A969-0711CBFBC9EE}"/>
              </a:ext>
            </a:extLst>
          </p:cNvPr>
          <p:cNvSpPr>
            <a:spLocks xmlns:a="http://schemas.openxmlformats.org/drawingml/2006/main" noGrp="1"/>
          </p:cNvSpPr>
          <p:nvPr/>
        </p:nvSpPr>
        <p:spPr>
          <a:xfrm xmlns:a="http://schemas.openxmlformats.org/drawingml/2006/main">
            <a:off x="6940296" y="3767328"/>
            <a:ext cx="1627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60" b="1">
                <a:solidFill>
                  <a:srgbClr val="F2F7FC"/>
                </a:solidFill>
                <a:latin typeface="Aptos"/>
                <a:ea typeface="Aptos"/>
                <a:cs typeface="Aptos"/>
              </a:rPr>
              <a:t>ADMINISTRATION</a:t>
            </a:r>
          </a:p>
        </p:txBody>
      </p:sp>
      <p:sp>
        <p:nvSpPr>
          <p:cNvPr id="48" name="Connector 47">
            <a:extLst xmlns:a="http://schemas.openxmlformats.org/drawingml/2006/main">
              <a:ext uri="{FF2B5EF4-FFF2-40B4-BE49-F238E27FC236}">
                <a16:creationId xmlns:a16="http://schemas.microsoft.com/office/drawing/2014/main" id="{8686567B-F337-426E-A838-C5B7F31C8EB1}"/>
              </a:ext>
            </a:extLst>
          </p:cNvPr>
          <p:cNvSpPr>
            <a:spLocks xmlns:a="http://schemas.openxmlformats.org/drawingml/2006/main" noGrp="1"/>
          </p:cNvSpPr>
          <p:nvPr/>
        </p:nvSpPr>
        <p:spPr>
          <a:xfrm xmlns:a="http://schemas.openxmlformats.org/drawingml/2006/main">
            <a:off x="6528816" y="4178808"/>
            <a:ext cx="2011680" cy="0"/>
          </a:xfrm>
          <a:prstGeom xmlns:a="http://schemas.openxmlformats.org/drawingml/2006/main" prst="line">
            <a:avLst/>
          </a:prstGeom>
          <a:ln xmlns:a="http://schemas.openxmlformats.org/drawingml/2006/main" w="889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9" name="TextBox 48">
            <a:extLst xmlns:a="http://schemas.openxmlformats.org/drawingml/2006/main">
              <a:ext uri="{FF2B5EF4-FFF2-40B4-BE49-F238E27FC236}">
                <a16:creationId xmlns:a16="http://schemas.microsoft.com/office/drawing/2014/main" id="{C98DF247-2514-48F9-90A7-2E74CA977327}"/>
              </a:ext>
            </a:extLst>
          </p:cNvPr>
          <p:cNvSpPr>
            <a:spLocks xmlns:a="http://schemas.openxmlformats.org/drawingml/2006/main" noGrp="1"/>
          </p:cNvSpPr>
          <p:nvPr/>
        </p:nvSpPr>
        <p:spPr>
          <a:xfrm xmlns:a="http://schemas.openxmlformats.org/drawingml/2006/main">
            <a:off x="6528816" y="4306824"/>
            <a:ext cx="2011680" cy="5669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19" b="0">
                <a:solidFill>
                  <a:srgbClr val="A9BBCD"/>
                </a:solidFill>
                <a:latin typeface="Aptos"/>
                <a:ea typeface="Aptos"/>
                <a:cs typeface="Aptos"/>
              </a:rPr>
              <a:t>Staff/resources</a:t>
            </a:r>
          </a:p>
          <a:p xmlns:a="http://schemas.openxmlformats.org/drawingml/2006/main">
            <a:pPr algn="l">
              <a:buNone/>
            </a:pPr>
            <a:r>
              <a:rPr sz="819" b="0">
                <a:solidFill>
                  <a:srgbClr val="A9BBCD"/>
                </a:solidFill>
                <a:latin typeface="Aptos"/>
                <a:ea typeface="Aptos"/>
                <a:cs typeface="Aptos"/>
              </a:rPr>
              <a:t>Monitoring • Analytics • Audit</a:t>
            </a:r>
          </a:p>
        </p:txBody>
      </p:sp>
      <p:sp>
        <p:nvSpPr>
          <p:cNvPr id="50" name="Rounded Rectangle 49">
            <a:extLst xmlns:a="http://schemas.openxmlformats.org/drawingml/2006/main">
              <a:ext uri="{FF2B5EF4-FFF2-40B4-BE49-F238E27FC236}">
                <a16:creationId xmlns:a16="http://schemas.microsoft.com/office/drawing/2014/main" id="{8CF95771-5E0B-436E-8D44-334145FD1717}"/>
              </a:ext>
            </a:extLst>
          </p:cNvPr>
          <p:cNvSpPr>
            <a:spLocks xmlns:a="http://schemas.openxmlformats.org/drawingml/2006/main" noGrp="1"/>
          </p:cNvSpPr>
          <p:nvPr/>
        </p:nvSpPr>
        <p:spPr>
          <a:xfrm xmlns:a="http://schemas.openxmlformats.org/drawingml/2006/main">
            <a:off x="9290304" y="3611880"/>
            <a:ext cx="2304288" cy="1481328"/>
          </a:xfrm>
          <a:prstGeom xmlns:a="http://schemas.openxmlformats.org/drawingml/2006/main" prst="roundRect">
            <a:avLst/>
          </a:prstGeom>
          <a:solidFill xmlns:a="http://schemas.openxmlformats.org/drawingml/2006/main">
            <a:srgbClr val="131F32"/>
          </a:solidFill>
          <a:ln xmlns:a="http://schemas.openxmlformats.org/drawingml/2006/main" w="10160">
            <a:solidFill>
              <a:srgbClr val="FFB15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Oval 50">
            <a:extLst xmlns:a="http://schemas.openxmlformats.org/drawingml/2006/main">
              <a:ext uri="{FF2B5EF4-FFF2-40B4-BE49-F238E27FC236}">
                <a16:creationId xmlns:a16="http://schemas.microsoft.com/office/drawing/2014/main" id="{584EF151-BF19-40DD-8590-000581A9E04E}"/>
              </a:ext>
            </a:extLst>
          </p:cNvPr>
          <p:cNvSpPr>
            <a:spLocks xmlns:a="http://schemas.openxmlformats.org/drawingml/2006/main" noGrp="1"/>
          </p:cNvSpPr>
          <p:nvPr/>
        </p:nvSpPr>
        <p:spPr>
          <a:xfrm xmlns:a="http://schemas.openxmlformats.org/drawingml/2006/main">
            <a:off x="9427464" y="3749040"/>
            <a:ext cx="329184" cy="329184"/>
          </a:xfrm>
          <a:prstGeom xmlns:a="http://schemas.openxmlformats.org/drawingml/2006/main" prst="ellipse">
            <a:avLst/>
          </a:prstGeom>
          <a:solidFill xmlns:a="http://schemas.openxmlformats.org/drawingml/2006/main">
            <a:srgbClr val="FFB153"/>
          </a:solidFill>
          <a:ln xmlns:a="http://schemas.openxmlformats.org/drawingml/2006/main">
            <a:solidFill>
              <a:srgbClr val="FFB15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TextBox 51">
            <a:extLst xmlns:a="http://schemas.openxmlformats.org/drawingml/2006/main">
              <a:ext uri="{FF2B5EF4-FFF2-40B4-BE49-F238E27FC236}">
                <a16:creationId xmlns:a16="http://schemas.microsoft.com/office/drawing/2014/main" id="{EE4FB54B-6B68-419A-9BEC-6943A2B6CBC7}"/>
              </a:ext>
            </a:extLst>
          </p:cNvPr>
          <p:cNvSpPr>
            <a:spLocks xmlns:a="http://schemas.openxmlformats.org/drawingml/2006/main" noGrp="1"/>
          </p:cNvSpPr>
          <p:nvPr/>
        </p:nvSpPr>
        <p:spPr>
          <a:xfrm xmlns:a="http://schemas.openxmlformats.org/drawingml/2006/main">
            <a:off x="9427464" y="3803904"/>
            <a:ext cx="329184"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750" b="1">
                <a:solidFill>
                  <a:srgbClr val="0A1220"/>
                </a:solidFill>
                <a:latin typeface="Aptos"/>
                <a:ea typeface="Aptos"/>
                <a:cs typeface="Aptos"/>
              </a:rPr>
              <a:t>08</a:t>
            </a:r>
          </a:p>
        </p:txBody>
      </p:sp>
      <p:sp>
        <p:nvSpPr>
          <p:cNvPr id="53" name="TextBox 52">
            <a:extLst xmlns:a="http://schemas.openxmlformats.org/drawingml/2006/main">
              <a:ext uri="{FF2B5EF4-FFF2-40B4-BE49-F238E27FC236}">
                <a16:creationId xmlns:a16="http://schemas.microsoft.com/office/drawing/2014/main" id="{C874D59C-5321-4DF4-838B-D8DCCAB06104}"/>
              </a:ext>
            </a:extLst>
          </p:cNvPr>
          <p:cNvSpPr>
            <a:spLocks xmlns:a="http://schemas.openxmlformats.org/drawingml/2006/main" noGrp="1"/>
          </p:cNvSpPr>
          <p:nvPr/>
        </p:nvSpPr>
        <p:spPr>
          <a:xfrm xmlns:a="http://schemas.openxmlformats.org/drawingml/2006/main">
            <a:off x="9838944" y="3767328"/>
            <a:ext cx="1627632" cy="32918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60" b="1">
                <a:solidFill>
                  <a:srgbClr val="F2F7FC"/>
                </a:solidFill>
                <a:latin typeface="Aptos"/>
                <a:ea typeface="Aptos"/>
                <a:cs typeface="Aptos"/>
              </a:rPr>
              <a:t>DISCHARGE</a:t>
            </a:r>
          </a:p>
        </p:txBody>
      </p:sp>
      <p:sp>
        <p:nvSpPr>
          <p:cNvPr id="54" name="Connector 53">
            <a:extLst xmlns:a="http://schemas.openxmlformats.org/drawingml/2006/main">
              <a:ext uri="{FF2B5EF4-FFF2-40B4-BE49-F238E27FC236}">
                <a16:creationId xmlns:a16="http://schemas.microsoft.com/office/drawing/2014/main" id="{369BFDC0-8896-4A29-8F6B-4F12CDFAC01D}"/>
              </a:ext>
            </a:extLst>
          </p:cNvPr>
          <p:cNvSpPr>
            <a:spLocks xmlns:a="http://schemas.openxmlformats.org/drawingml/2006/main" noGrp="1"/>
          </p:cNvSpPr>
          <p:nvPr/>
        </p:nvSpPr>
        <p:spPr>
          <a:xfrm xmlns:a="http://schemas.openxmlformats.org/drawingml/2006/main">
            <a:off x="9427464" y="4178808"/>
            <a:ext cx="2011680" cy="0"/>
          </a:xfrm>
          <a:prstGeom xmlns:a="http://schemas.openxmlformats.org/drawingml/2006/main" prst="line">
            <a:avLst/>
          </a:prstGeom>
          <a:ln xmlns:a="http://schemas.openxmlformats.org/drawingml/2006/main" w="889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5" name="TextBox 54">
            <a:extLst xmlns:a="http://schemas.openxmlformats.org/drawingml/2006/main">
              <a:ext uri="{FF2B5EF4-FFF2-40B4-BE49-F238E27FC236}">
                <a16:creationId xmlns:a16="http://schemas.microsoft.com/office/drawing/2014/main" id="{8DA980B6-DFA5-4CA1-8634-EBE16C27A059}"/>
              </a:ext>
            </a:extLst>
          </p:cNvPr>
          <p:cNvSpPr>
            <a:spLocks xmlns:a="http://schemas.openxmlformats.org/drawingml/2006/main" noGrp="1"/>
          </p:cNvSpPr>
          <p:nvPr/>
        </p:nvSpPr>
        <p:spPr>
          <a:xfrm xmlns:a="http://schemas.openxmlformats.org/drawingml/2006/main">
            <a:off x="9427464" y="4306824"/>
            <a:ext cx="2011680" cy="56692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19" b="0">
                <a:solidFill>
                  <a:srgbClr val="A9BBCD"/>
                </a:solidFill>
                <a:latin typeface="Aptos"/>
                <a:ea typeface="Aptos"/>
                <a:cs typeface="Aptos"/>
              </a:rPr>
              <a:t>Doctor request → Reception check</a:t>
            </a:r>
          </a:p>
          <a:p xmlns:a="http://schemas.openxmlformats.org/drawingml/2006/main">
            <a:pPr algn="l">
              <a:buNone/>
            </a:pPr>
            <a:r>
              <a:rPr sz="819" b="0">
                <a:solidFill>
                  <a:srgbClr val="A9BBCD"/>
                </a:solidFill>
                <a:latin typeface="Aptos"/>
                <a:ea typeface="Aptos"/>
                <a:cs typeface="Aptos"/>
              </a:rPr>
              <a:t>Complete → Release resources</a:t>
            </a:r>
          </a:p>
        </p:txBody>
      </p:sp>
      <p:sp>
        <p:nvSpPr>
          <p:cNvPr id="56" name="Connector 55">
            <a:extLst xmlns:a="http://schemas.openxmlformats.org/drawingml/2006/main">
              <a:ext uri="{FF2B5EF4-FFF2-40B4-BE49-F238E27FC236}">
                <a16:creationId xmlns:a16="http://schemas.microsoft.com/office/drawing/2014/main" id="{A3D8C648-FE7E-403B-A3BB-AC9A7224C549}"/>
              </a:ext>
            </a:extLst>
          </p:cNvPr>
          <p:cNvSpPr>
            <a:spLocks xmlns:a="http://schemas.openxmlformats.org/drawingml/2006/main" noGrp="1"/>
          </p:cNvSpPr>
          <p:nvPr/>
        </p:nvSpPr>
        <p:spPr>
          <a:xfrm xmlns:a="http://schemas.openxmlformats.org/drawingml/2006/main">
            <a:off x="2898648" y="2441448"/>
            <a:ext cx="594360" cy="0"/>
          </a:xfrm>
          <a:prstGeom xmlns:a="http://schemas.openxmlformats.org/drawingml/2006/main" prst="line">
            <a:avLst/>
          </a:prstGeom>
          <a:ln xmlns:a="http://schemas.openxmlformats.org/drawingml/2006/main" w="1524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124F18DE-1841-4BF2-BC96-54680FACC889}"/>
              </a:ext>
            </a:extLst>
          </p:cNvPr>
          <p:cNvSpPr>
            <a:spLocks xmlns:a="http://schemas.openxmlformats.org/drawingml/2006/main" noGrp="1"/>
          </p:cNvSpPr>
          <p:nvPr/>
        </p:nvSpPr>
        <p:spPr>
          <a:xfrm xmlns:a="http://schemas.openxmlformats.org/drawingml/2006/main">
            <a:off x="2898648" y="4361688"/>
            <a:ext cx="594360" cy="0"/>
          </a:xfrm>
          <a:prstGeom xmlns:a="http://schemas.openxmlformats.org/drawingml/2006/main" prst="line">
            <a:avLst/>
          </a:prstGeom>
          <a:ln xmlns:a="http://schemas.openxmlformats.org/drawingml/2006/main" w="1524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DE8BF555-6371-4654-AE56-4967B832CB32}"/>
              </a:ext>
            </a:extLst>
          </p:cNvPr>
          <p:cNvSpPr>
            <a:spLocks xmlns:a="http://schemas.openxmlformats.org/drawingml/2006/main" noGrp="1"/>
          </p:cNvSpPr>
          <p:nvPr/>
        </p:nvSpPr>
        <p:spPr>
          <a:xfrm xmlns:a="http://schemas.openxmlformats.org/drawingml/2006/main">
            <a:off x="5797296" y="2441448"/>
            <a:ext cx="594360" cy="0"/>
          </a:xfrm>
          <a:prstGeom xmlns:a="http://schemas.openxmlformats.org/drawingml/2006/main" prst="line">
            <a:avLst/>
          </a:prstGeom>
          <a:ln xmlns:a="http://schemas.openxmlformats.org/drawingml/2006/main" w="1524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BDF31EC0-B638-40CD-8F3C-7FBB65831E3F}"/>
              </a:ext>
            </a:extLst>
          </p:cNvPr>
          <p:cNvSpPr>
            <a:spLocks xmlns:a="http://schemas.openxmlformats.org/drawingml/2006/main" noGrp="1"/>
          </p:cNvSpPr>
          <p:nvPr/>
        </p:nvSpPr>
        <p:spPr>
          <a:xfrm xmlns:a="http://schemas.openxmlformats.org/drawingml/2006/main">
            <a:off x="5797296" y="4361688"/>
            <a:ext cx="594360" cy="0"/>
          </a:xfrm>
          <a:prstGeom xmlns:a="http://schemas.openxmlformats.org/drawingml/2006/main" prst="line">
            <a:avLst/>
          </a:prstGeom>
          <a:ln xmlns:a="http://schemas.openxmlformats.org/drawingml/2006/main" w="1524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BF8818B3-4839-4876-A9F4-947883070C0A}"/>
              </a:ext>
            </a:extLst>
          </p:cNvPr>
          <p:cNvSpPr>
            <a:spLocks xmlns:a="http://schemas.openxmlformats.org/drawingml/2006/main" noGrp="1"/>
          </p:cNvSpPr>
          <p:nvPr/>
        </p:nvSpPr>
        <p:spPr>
          <a:xfrm xmlns:a="http://schemas.openxmlformats.org/drawingml/2006/main">
            <a:off x="8695944" y="2441448"/>
            <a:ext cx="594360" cy="0"/>
          </a:xfrm>
          <a:prstGeom xmlns:a="http://schemas.openxmlformats.org/drawingml/2006/main" prst="line">
            <a:avLst/>
          </a:prstGeom>
          <a:ln xmlns:a="http://schemas.openxmlformats.org/drawingml/2006/main" w="1524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A967CA2C-3AB2-486A-9403-4D4EEA54D876}"/>
              </a:ext>
            </a:extLst>
          </p:cNvPr>
          <p:cNvSpPr>
            <a:spLocks xmlns:a="http://schemas.openxmlformats.org/drawingml/2006/main" noGrp="1"/>
          </p:cNvSpPr>
          <p:nvPr/>
        </p:nvSpPr>
        <p:spPr>
          <a:xfrm xmlns:a="http://schemas.openxmlformats.org/drawingml/2006/main">
            <a:off x="8695944" y="4361688"/>
            <a:ext cx="594360" cy="0"/>
          </a:xfrm>
          <a:prstGeom xmlns:a="http://schemas.openxmlformats.org/drawingml/2006/main" prst="line">
            <a:avLst/>
          </a:prstGeom>
          <a:ln xmlns:a="http://schemas.openxmlformats.org/drawingml/2006/main" w="1524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A0B4D14F-1C6E-4EF1-9D55-8F2EA757D713}"/>
              </a:ext>
            </a:extLst>
          </p:cNvPr>
          <p:cNvSpPr>
            <a:spLocks xmlns:a="http://schemas.openxmlformats.org/drawingml/2006/main" noGrp="1"/>
          </p:cNvSpPr>
          <p:nvPr/>
        </p:nvSpPr>
        <p:spPr>
          <a:xfrm xmlns:a="http://schemas.openxmlformats.org/drawingml/2006/main">
            <a:off x="6089904" y="3182112"/>
            <a:ext cx="0" cy="310896"/>
          </a:xfrm>
          <a:prstGeom xmlns:a="http://schemas.openxmlformats.org/drawingml/2006/main" prst="line">
            <a:avLst/>
          </a:prstGeom>
          <a:ln xmlns:a="http://schemas.openxmlformats.org/drawingml/2006/main" w="1524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3" name="Rounded Rectangle 62">
            <a:extLst xmlns:a="http://schemas.openxmlformats.org/drawingml/2006/main">
              <a:ext uri="{FF2B5EF4-FFF2-40B4-BE49-F238E27FC236}">
                <a16:creationId xmlns:a16="http://schemas.microsoft.com/office/drawing/2014/main" id="{DFE72664-C4C3-4BEC-9E7C-FC280553E771}"/>
              </a:ext>
            </a:extLst>
          </p:cNvPr>
          <p:cNvSpPr>
            <a:spLocks xmlns:a="http://schemas.openxmlformats.org/drawingml/2006/main" noGrp="1"/>
          </p:cNvSpPr>
          <p:nvPr/>
        </p:nvSpPr>
        <p:spPr>
          <a:xfrm xmlns:a="http://schemas.openxmlformats.org/drawingml/2006/main">
            <a:off x="621792" y="5532120"/>
            <a:ext cx="10954512" cy="530352"/>
          </a:xfrm>
          <a:prstGeom xmlns:a="http://schemas.openxmlformats.org/drawingml/2006/main" prst="roundRect">
            <a:avLst/>
          </a:prstGeom>
          <a:solidFill xmlns:a="http://schemas.openxmlformats.org/drawingml/2006/main">
            <a:srgbClr val="113035"/>
          </a:solidFill>
          <a:ln xmlns:a="http://schemas.openxmlformats.org/drawingml/2006/main" w="10160">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4" name="TextBox 63">
            <a:extLst xmlns:a="http://schemas.openxmlformats.org/drawingml/2006/main">
              <a:ext uri="{FF2B5EF4-FFF2-40B4-BE49-F238E27FC236}">
                <a16:creationId xmlns:a16="http://schemas.microsoft.com/office/drawing/2014/main" id="{A4604F51-967E-44D3-9EF9-FD16BBBAFE73}"/>
              </a:ext>
            </a:extLst>
          </p:cNvPr>
          <p:cNvSpPr>
            <a:spLocks xmlns:a="http://schemas.openxmlformats.org/drawingml/2006/main" noGrp="1"/>
          </p:cNvSpPr>
          <p:nvPr/>
        </p:nvSpPr>
        <p:spPr>
          <a:xfrm xmlns:a="http://schemas.openxmlformats.org/drawingml/2006/main">
            <a:off x="804672" y="5660136"/>
            <a:ext cx="10561320" cy="22860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950" b="1">
                <a:solidFill>
                  <a:srgbClr val="2BD2BE"/>
                </a:solidFill>
                <a:latin typeface="Aptos"/>
                <a:ea typeface="Aptos"/>
                <a:cs typeface="Aptos"/>
              </a:rPr>
              <a:t>CLOSED LOOP: REGISTER → ASSESS → PRIORITIZE → ALLOCATE → TREAT → REASSESS → REPLAN</a:t>
            </a:r>
          </a:p>
        </p:txBody>
      </p:sp>
    </p:spTree>
    <p:extLst>
      <p:ext uri="{BB962C8B-B14F-4D97-AF65-F5344CB8AC3E}">
        <p14:creationId xmlns:p14="http://schemas.microsoft.com/office/powerpoint/2010/main" val="2064125020"/>
      </p:ext>
    </p:extLst>
  </p:cSld>
</p:sld>
</file>

<file path=ppt/slides/slide6.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D00E024-F3AD-4BEB-B4E7-4CDB048C7C6E}"/>
              </a:ext>
            </a:extLst>
          </p:cNvPr>
          <p:cNvSpPr>
            <a:spLocks xmlns:a="http://schemas.openxmlformats.org/drawingml/2006/main" noGrp="1"/>
          </p:cNvSpPr>
          <p:nvPr/>
        </p:nvSpPr>
        <p:spPr>
          <a:xfrm xmlns:a="http://schemas.openxmlformats.org/drawingml/2006/main">
            <a:off x="502920" y="201168"/>
            <a:ext cx="7315200" cy="22860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900" b="1">
                <a:solidFill>
                  <a:srgbClr val="2BD2BE"/>
                </a:solidFill>
                <a:latin typeface="Aptos"/>
                <a:ea typeface="Aptos"/>
                <a:cs typeface="Aptos"/>
              </a:rPr>
              <a:t>05 / DEMONSTRATION</a:t>
            </a:r>
          </a:p>
        </p:txBody>
      </p:sp>
      <p:sp>
        <p:nvSpPr>
          <p:cNvPr id="3" name="TextBox 2">
            <a:extLst xmlns:a="http://schemas.openxmlformats.org/drawingml/2006/main">
              <a:ext uri="{FF2B5EF4-FFF2-40B4-BE49-F238E27FC236}">
                <a16:creationId xmlns:a16="http://schemas.microsoft.com/office/drawing/2014/main" id="{BD84527C-D3F8-4296-8EC3-E9557C3228E8}"/>
              </a:ext>
            </a:extLst>
          </p:cNvPr>
          <p:cNvSpPr>
            <a:spLocks xmlns:a="http://schemas.openxmlformats.org/drawingml/2006/main" noGrp="1"/>
          </p:cNvSpPr>
          <p:nvPr/>
        </p:nvSpPr>
        <p:spPr>
          <a:xfrm xmlns:a="http://schemas.openxmlformats.org/drawingml/2006/main">
            <a:off x="502920" y="475488"/>
            <a:ext cx="10972800" cy="45720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2500" b="1">
                <a:solidFill>
                  <a:srgbClr val="F2F7FC"/>
                </a:solidFill>
                <a:latin typeface="Aptos"/>
                <a:ea typeface="Aptos"/>
                <a:cs typeface="Aptos"/>
              </a:rPr>
              <a:t>Output &amp; Workflow Showcase</a:t>
            </a:r>
          </a:p>
        </p:txBody>
      </p:sp>
      <p:sp>
        <p:nvSpPr>
          <p:cNvPr id="4" name="TextBox 3">
            <a:extLst xmlns:a="http://schemas.openxmlformats.org/drawingml/2006/main">
              <a:ext uri="{FF2B5EF4-FFF2-40B4-BE49-F238E27FC236}">
                <a16:creationId xmlns:a16="http://schemas.microsoft.com/office/drawing/2014/main" id="{147C498E-EF13-4A6A-915B-5CAEA57300F9}"/>
              </a:ext>
            </a:extLst>
          </p:cNvPr>
          <p:cNvSpPr>
            <a:spLocks xmlns:a="http://schemas.openxmlformats.org/drawingml/2006/main" noGrp="1"/>
          </p:cNvSpPr>
          <p:nvPr/>
        </p:nvSpPr>
        <p:spPr>
          <a:xfrm xmlns:a="http://schemas.openxmlformats.org/drawingml/2006/main">
            <a:off x="530352" y="987552"/>
            <a:ext cx="10972800" cy="27432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1000" b="0">
                <a:solidFill>
                  <a:srgbClr val="A9BBCD"/>
                </a:solidFill>
                <a:latin typeface="Aptos"/>
                <a:ea typeface="Aptos"/>
                <a:cs typeface="Aptos"/>
              </a:rPr>
              <a:t>Conceptual UI panels for requested output areas — replace with live screenshots for final review</a:t>
            </a:r>
          </a:p>
        </p:txBody>
      </p:sp>
      <p:sp>
        <p:nvSpPr>
          <p:cNvPr id="5" name="Connector 4">
            <a:extLst xmlns:a="http://schemas.openxmlformats.org/drawingml/2006/main">
              <a:ext uri="{FF2B5EF4-FFF2-40B4-BE49-F238E27FC236}">
                <a16:creationId xmlns:a16="http://schemas.microsoft.com/office/drawing/2014/main" id="{C7C5A29E-60AD-49D1-9FB1-072F6A413CB8}"/>
              </a:ext>
            </a:extLst>
          </p:cNvPr>
          <p:cNvSpPr>
            <a:spLocks xmlns:a="http://schemas.openxmlformats.org/drawingml/2006/main" noGrp="1"/>
          </p:cNvSpPr>
          <p:nvPr/>
        </p:nvSpPr>
        <p:spPr>
          <a:xfrm xmlns:a="http://schemas.openxmlformats.org/drawingml/2006/main">
            <a:off x="502920" y="1371600"/>
            <a:ext cx="11183112" cy="0"/>
          </a:xfrm>
          <a:prstGeom xmlns:a="http://schemas.openxmlformats.org/drawingml/2006/main" prst="line">
            <a:avLst/>
          </a:prstGeom>
          <a:ln xmlns:a="http://schemas.openxmlformats.org/drawingml/2006/main" w="10160">
            <a:solidFill>
              <a:srgbClr val="354C6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9C07FA8-0868-41C6-A820-80911558C1C4}"/>
              </a:ext>
            </a:extLst>
          </p:cNvPr>
          <p:cNvSpPr>
            <a:spLocks xmlns:a="http://schemas.openxmlformats.org/drawingml/2006/main" noGrp="1"/>
          </p:cNvSpPr>
          <p:nvPr/>
        </p:nvSpPr>
        <p:spPr>
          <a:xfrm xmlns:a="http://schemas.openxmlformats.org/drawingml/2006/main">
            <a:off x="548640" y="6537960"/>
            <a:ext cx="5486400"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CAREBRIDGE 2.0 • ACADEMIC PROJECT</a:t>
            </a:r>
          </a:p>
        </p:txBody>
      </p:sp>
      <p:sp>
        <p:nvSpPr>
          <p:cNvPr id="7" name="TextBox 6">
            <a:extLst xmlns:a="http://schemas.openxmlformats.org/drawingml/2006/main">
              <a:ext uri="{FF2B5EF4-FFF2-40B4-BE49-F238E27FC236}">
                <a16:creationId xmlns:a16="http://schemas.microsoft.com/office/drawing/2014/main" id="{75DBCDB0-732F-48A8-B027-E2E30336B99C}"/>
              </a:ext>
            </a:extLst>
          </p:cNvPr>
          <p:cNvSpPr>
            <a:spLocks xmlns:a="http://schemas.openxmlformats.org/drawingml/2006/main" noGrp="1"/>
          </p:cNvSpPr>
          <p:nvPr/>
        </p:nvSpPr>
        <p:spPr>
          <a:xfrm xmlns:a="http://schemas.openxmlformats.org/drawingml/2006/main">
            <a:off x="11155680" y="6537960"/>
            <a:ext cx="457200" cy="146304"/>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r">
              <a:buNone/>
            </a:pPr>
            <a:r>
              <a:rPr sz="750" b="1">
                <a:solidFill>
                  <a:srgbClr val="A9BBCD"/>
                </a:solidFill>
                <a:latin typeface="Aptos"/>
                <a:ea typeface="Aptos"/>
                <a:cs typeface="Aptos"/>
              </a:rPr>
              <a:t>06</a:t>
            </a:r>
          </a:p>
        </p:txBody>
      </p:sp>
      <p:sp>
        <p:nvSpPr>
          <p:cNvPr id="8" name="Rounded Rectangle 7">
            <a:extLst xmlns:a="http://schemas.openxmlformats.org/drawingml/2006/main">
              <a:ext uri="{FF2B5EF4-FFF2-40B4-BE49-F238E27FC236}">
                <a16:creationId xmlns:a16="http://schemas.microsoft.com/office/drawing/2014/main" id="{75351A89-037E-4CDA-B50D-4B9ACFB7DB6A}"/>
              </a:ext>
            </a:extLst>
          </p:cNvPr>
          <p:cNvSpPr>
            <a:spLocks xmlns:a="http://schemas.openxmlformats.org/drawingml/2006/main" noGrp="1"/>
          </p:cNvSpPr>
          <p:nvPr/>
        </p:nvSpPr>
        <p:spPr>
          <a:xfrm xmlns:a="http://schemas.openxmlformats.org/drawingml/2006/main">
            <a:off x="502920" y="1627632"/>
            <a:ext cx="3657600" cy="1783080"/>
          </a:xfrm>
          <a:prstGeom xmlns:a="http://schemas.openxmlformats.org/drawingml/2006/main" prst="round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5773257F-DF6C-4CC3-8E21-33C9E32ACED1}"/>
              </a:ext>
            </a:extLst>
          </p:cNvPr>
          <p:cNvSpPr>
            <a:spLocks xmlns:a="http://schemas.openxmlformats.org/drawingml/2006/main" noGrp="1"/>
          </p:cNvSpPr>
          <p:nvPr/>
        </p:nvSpPr>
        <p:spPr>
          <a:xfrm xmlns:a="http://schemas.openxmlformats.org/drawingml/2006/main">
            <a:off x="685800" y="1764792"/>
            <a:ext cx="3291840" cy="20116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80" b="1">
                <a:solidFill>
                  <a:srgbClr val="2BD2BE"/>
                </a:solidFill>
                <a:latin typeface="Aptos"/>
                <a:ea typeface="Aptos"/>
                <a:cs typeface="Aptos"/>
              </a:rPr>
              <a:t>A / EMERGENCY DASHBOARD</a:t>
            </a:r>
          </a:p>
        </p:txBody>
      </p:sp>
      <p:sp>
        <p:nvSpPr>
          <p:cNvPr id="10" name="Rounded Rectangle 9">
            <a:extLst xmlns:a="http://schemas.openxmlformats.org/drawingml/2006/main">
              <a:ext uri="{FF2B5EF4-FFF2-40B4-BE49-F238E27FC236}">
                <a16:creationId xmlns:a16="http://schemas.microsoft.com/office/drawing/2014/main" id="{C67A8819-4418-491A-A386-BDE56CEF99E0}"/>
              </a:ext>
            </a:extLst>
          </p:cNvPr>
          <p:cNvSpPr>
            <a:spLocks xmlns:a="http://schemas.openxmlformats.org/drawingml/2006/main" noGrp="1"/>
          </p:cNvSpPr>
          <p:nvPr/>
        </p:nvSpPr>
        <p:spPr>
          <a:xfrm xmlns:a="http://schemas.openxmlformats.org/drawingml/2006/main">
            <a:off x="685800" y="2121408"/>
            <a:ext cx="1444752" cy="429768"/>
          </a:xfrm>
          <a:prstGeom xmlns:a="http://schemas.openxmlformats.org/drawingml/2006/main" prst="round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86D05EFC-8527-4DE9-B8C7-CAA53607A5A3}"/>
              </a:ext>
            </a:extLst>
          </p:cNvPr>
          <p:cNvSpPr>
            <a:spLocks xmlns:a="http://schemas.openxmlformats.org/drawingml/2006/main" noGrp="1"/>
          </p:cNvSpPr>
          <p:nvPr/>
        </p:nvSpPr>
        <p:spPr>
          <a:xfrm xmlns:a="http://schemas.openxmlformats.org/drawingml/2006/main">
            <a:off x="749808" y="2167127"/>
            <a:ext cx="1280160" cy="13716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00" b="1">
                <a:solidFill>
                  <a:srgbClr val="F2F7FC"/>
                </a:solidFill>
                <a:latin typeface="Aptos"/>
                <a:ea typeface="Aptos"/>
                <a:cs typeface="Aptos"/>
              </a:rPr>
              <a:t>ACTIVE</a:t>
            </a:r>
          </a:p>
        </p:txBody>
      </p:sp>
      <p:sp>
        <p:nvSpPr>
          <p:cNvPr id="12" name="TextBox 11">
            <a:extLst xmlns:a="http://schemas.openxmlformats.org/drawingml/2006/main">
              <a:ext uri="{FF2B5EF4-FFF2-40B4-BE49-F238E27FC236}">
                <a16:creationId xmlns:a16="http://schemas.microsoft.com/office/drawing/2014/main" id="{C1192E75-4D49-4D0E-BCA3-F36B70A778DC}"/>
              </a:ext>
            </a:extLst>
          </p:cNvPr>
          <p:cNvSpPr>
            <a:spLocks xmlns:a="http://schemas.openxmlformats.org/drawingml/2006/main" noGrp="1"/>
          </p:cNvSpPr>
          <p:nvPr/>
        </p:nvSpPr>
        <p:spPr>
          <a:xfrm xmlns:a="http://schemas.openxmlformats.org/drawingml/2006/main">
            <a:off x="749808" y="2340863"/>
            <a:ext cx="1280160" cy="11887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00" b="0">
                <a:solidFill>
                  <a:srgbClr val="A9BBCD"/>
                </a:solidFill>
                <a:latin typeface="Aptos"/>
                <a:ea typeface="Aptos"/>
                <a:cs typeface="Aptos"/>
              </a:rPr>
              <a:t>Live count</a:t>
            </a:r>
          </a:p>
        </p:txBody>
      </p:sp>
      <p:sp>
        <p:nvSpPr>
          <p:cNvPr id="13" name="Rounded Rectangle 12">
            <a:extLst xmlns:a="http://schemas.openxmlformats.org/drawingml/2006/main">
              <a:ext uri="{FF2B5EF4-FFF2-40B4-BE49-F238E27FC236}">
                <a16:creationId xmlns:a16="http://schemas.microsoft.com/office/drawing/2014/main" id="{DFBADBAA-0EC2-40BA-B3C8-CF5C57A173A8}"/>
              </a:ext>
            </a:extLst>
          </p:cNvPr>
          <p:cNvSpPr>
            <a:spLocks xmlns:a="http://schemas.openxmlformats.org/drawingml/2006/main" noGrp="1"/>
          </p:cNvSpPr>
          <p:nvPr/>
        </p:nvSpPr>
        <p:spPr>
          <a:xfrm xmlns:a="http://schemas.openxmlformats.org/drawingml/2006/main">
            <a:off x="2286000" y="2121408"/>
            <a:ext cx="1444752" cy="429768"/>
          </a:xfrm>
          <a:prstGeom xmlns:a="http://schemas.openxmlformats.org/drawingml/2006/main" prst="round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191DA2CD-6C6B-4102-8EBE-E2C15794690A}"/>
              </a:ext>
            </a:extLst>
          </p:cNvPr>
          <p:cNvSpPr>
            <a:spLocks xmlns:a="http://schemas.openxmlformats.org/drawingml/2006/main" noGrp="1"/>
          </p:cNvSpPr>
          <p:nvPr/>
        </p:nvSpPr>
        <p:spPr>
          <a:xfrm xmlns:a="http://schemas.openxmlformats.org/drawingml/2006/main">
            <a:off x="2350008" y="2167127"/>
            <a:ext cx="1280160" cy="13716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00" b="1">
                <a:solidFill>
                  <a:srgbClr val="F2F7FC"/>
                </a:solidFill>
                <a:latin typeface="Aptos"/>
                <a:ea typeface="Aptos"/>
                <a:cs typeface="Aptos"/>
              </a:rPr>
              <a:t>CRITICAL</a:t>
            </a:r>
          </a:p>
        </p:txBody>
      </p:sp>
      <p:sp>
        <p:nvSpPr>
          <p:cNvPr id="15" name="TextBox 14">
            <a:extLst xmlns:a="http://schemas.openxmlformats.org/drawingml/2006/main">
              <a:ext uri="{FF2B5EF4-FFF2-40B4-BE49-F238E27FC236}">
                <a16:creationId xmlns:a16="http://schemas.microsoft.com/office/drawing/2014/main" id="{4EABEB84-04F8-42CB-994F-FC142E864E75}"/>
              </a:ext>
            </a:extLst>
          </p:cNvPr>
          <p:cNvSpPr>
            <a:spLocks xmlns:a="http://schemas.openxmlformats.org/drawingml/2006/main" noGrp="1"/>
          </p:cNvSpPr>
          <p:nvPr/>
        </p:nvSpPr>
        <p:spPr>
          <a:xfrm xmlns:a="http://schemas.openxmlformats.org/drawingml/2006/main">
            <a:off x="2350008" y="2340863"/>
            <a:ext cx="1280160" cy="11887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00" b="0">
                <a:solidFill>
                  <a:srgbClr val="A9BBCD"/>
                </a:solidFill>
                <a:latin typeface="Aptos"/>
                <a:ea typeface="Aptos"/>
                <a:cs typeface="Aptos"/>
              </a:rPr>
              <a:t>Current cases</a:t>
            </a:r>
          </a:p>
        </p:txBody>
      </p:sp>
      <p:sp>
        <p:nvSpPr>
          <p:cNvPr id="16" name="Rounded Rectangle 15">
            <a:extLst xmlns:a="http://schemas.openxmlformats.org/drawingml/2006/main">
              <a:ext uri="{FF2B5EF4-FFF2-40B4-BE49-F238E27FC236}">
                <a16:creationId xmlns:a16="http://schemas.microsoft.com/office/drawing/2014/main" id="{DD0B9502-FBB5-4114-9243-CE8F9E7DA1D0}"/>
              </a:ext>
            </a:extLst>
          </p:cNvPr>
          <p:cNvSpPr>
            <a:spLocks xmlns:a="http://schemas.openxmlformats.org/drawingml/2006/main" noGrp="1"/>
          </p:cNvSpPr>
          <p:nvPr/>
        </p:nvSpPr>
        <p:spPr>
          <a:xfrm xmlns:a="http://schemas.openxmlformats.org/drawingml/2006/main">
            <a:off x="685800" y="2660903"/>
            <a:ext cx="1444752" cy="429768"/>
          </a:xfrm>
          <a:prstGeom xmlns:a="http://schemas.openxmlformats.org/drawingml/2006/main" prst="round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43FE812C-53C2-4A7A-90C0-99A5FDD8A39B}"/>
              </a:ext>
            </a:extLst>
          </p:cNvPr>
          <p:cNvSpPr>
            <a:spLocks xmlns:a="http://schemas.openxmlformats.org/drawingml/2006/main" noGrp="1"/>
          </p:cNvSpPr>
          <p:nvPr/>
        </p:nvSpPr>
        <p:spPr>
          <a:xfrm xmlns:a="http://schemas.openxmlformats.org/drawingml/2006/main">
            <a:off x="749808" y="2706623"/>
            <a:ext cx="1280160" cy="13716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00" b="1">
                <a:solidFill>
                  <a:srgbClr val="F2F7FC"/>
                </a:solidFill>
                <a:latin typeface="Aptos"/>
                <a:ea typeface="Aptos"/>
                <a:cs typeface="Aptos"/>
              </a:rPr>
              <a:t>DOCTORS</a:t>
            </a:r>
          </a:p>
        </p:txBody>
      </p:sp>
      <p:sp>
        <p:nvSpPr>
          <p:cNvPr id="18" name="TextBox 17">
            <a:extLst xmlns:a="http://schemas.openxmlformats.org/drawingml/2006/main">
              <a:ext uri="{FF2B5EF4-FFF2-40B4-BE49-F238E27FC236}">
                <a16:creationId xmlns:a16="http://schemas.microsoft.com/office/drawing/2014/main" id="{52E15B62-4F89-4A6A-84F1-F886CA12E8F0}"/>
              </a:ext>
            </a:extLst>
          </p:cNvPr>
          <p:cNvSpPr>
            <a:spLocks xmlns:a="http://schemas.openxmlformats.org/drawingml/2006/main" noGrp="1"/>
          </p:cNvSpPr>
          <p:nvPr/>
        </p:nvSpPr>
        <p:spPr>
          <a:xfrm xmlns:a="http://schemas.openxmlformats.org/drawingml/2006/main">
            <a:off x="749808" y="2880359"/>
            <a:ext cx="1280160" cy="11887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00" b="0">
                <a:solidFill>
                  <a:srgbClr val="A9BBCD"/>
                </a:solidFill>
                <a:latin typeface="Aptos"/>
                <a:ea typeface="Aptos"/>
                <a:cs typeface="Aptos"/>
              </a:rPr>
              <a:t>Availability</a:t>
            </a:r>
          </a:p>
        </p:txBody>
      </p:sp>
      <p:sp>
        <p:nvSpPr>
          <p:cNvPr id="19" name="Rounded Rectangle 18">
            <a:extLst xmlns:a="http://schemas.openxmlformats.org/drawingml/2006/main">
              <a:ext uri="{FF2B5EF4-FFF2-40B4-BE49-F238E27FC236}">
                <a16:creationId xmlns:a16="http://schemas.microsoft.com/office/drawing/2014/main" id="{5FF313F0-7260-4A84-8325-988E7E1741B7}"/>
              </a:ext>
            </a:extLst>
          </p:cNvPr>
          <p:cNvSpPr>
            <a:spLocks xmlns:a="http://schemas.openxmlformats.org/drawingml/2006/main" noGrp="1"/>
          </p:cNvSpPr>
          <p:nvPr/>
        </p:nvSpPr>
        <p:spPr>
          <a:xfrm xmlns:a="http://schemas.openxmlformats.org/drawingml/2006/main">
            <a:off x="2286000" y="2660903"/>
            <a:ext cx="1444752" cy="429768"/>
          </a:xfrm>
          <a:prstGeom xmlns:a="http://schemas.openxmlformats.org/drawingml/2006/main" prst="roundRect">
            <a:avLst/>
          </a:prstGeom>
          <a:solidFill xmlns:a="http://schemas.openxmlformats.org/drawingml/2006/main">
            <a:srgbClr val="18293E"/>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3AFA8D30-BB02-4DC6-B0E7-F22508C639D1}"/>
              </a:ext>
            </a:extLst>
          </p:cNvPr>
          <p:cNvSpPr>
            <a:spLocks xmlns:a="http://schemas.openxmlformats.org/drawingml/2006/main" noGrp="1"/>
          </p:cNvSpPr>
          <p:nvPr/>
        </p:nvSpPr>
        <p:spPr>
          <a:xfrm xmlns:a="http://schemas.openxmlformats.org/drawingml/2006/main">
            <a:off x="2350008" y="2706623"/>
            <a:ext cx="1280160" cy="13716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00" b="1">
                <a:solidFill>
                  <a:srgbClr val="F2F7FC"/>
                </a:solidFill>
                <a:latin typeface="Aptos"/>
                <a:ea typeface="Aptos"/>
                <a:cs typeface="Aptos"/>
              </a:rPr>
              <a:t>BEDS</a:t>
            </a:r>
          </a:p>
        </p:txBody>
      </p:sp>
      <p:sp>
        <p:nvSpPr>
          <p:cNvPr id="21" name="TextBox 20">
            <a:extLst xmlns:a="http://schemas.openxmlformats.org/drawingml/2006/main">
              <a:ext uri="{FF2B5EF4-FFF2-40B4-BE49-F238E27FC236}">
                <a16:creationId xmlns:a16="http://schemas.microsoft.com/office/drawing/2014/main" id="{BD1F1F43-5372-4721-93B4-9C03D85491B1}"/>
              </a:ext>
            </a:extLst>
          </p:cNvPr>
          <p:cNvSpPr>
            <a:spLocks xmlns:a="http://schemas.openxmlformats.org/drawingml/2006/main" noGrp="1"/>
          </p:cNvSpPr>
          <p:nvPr/>
        </p:nvSpPr>
        <p:spPr>
          <a:xfrm xmlns:a="http://schemas.openxmlformats.org/drawingml/2006/main">
            <a:off x="2350008" y="2880359"/>
            <a:ext cx="1280160" cy="11887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00" b="0">
                <a:solidFill>
                  <a:srgbClr val="A9BBCD"/>
                </a:solidFill>
                <a:latin typeface="Aptos"/>
                <a:ea typeface="Aptos"/>
                <a:cs typeface="Aptos"/>
              </a:rPr>
              <a:t>Occupancy</a:t>
            </a:r>
          </a:p>
        </p:txBody>
      </p:sp>
      <p:sp>
        <p:nvSpPr>
          <p:cNvPr id="22" name="Rounded Rectangle 21">
            <a:extLst xmlns:a="http://schemas.openxmlformats.org/drawingml/2006/main">
              <a:ext uri="{FF2B5EF4-FFF2-40B4-BE49-F238E27FC236}">
                <a16:creationId xmlns:a16="http://schemas.microsoft.com/office/drawing/2014/main" id="{6A4C835C-9F17-4F08-9B85-91C4A78DEDC1}"/>
              </a:ext>
            </a:extLst>
          </p:cNvPr>
          <p:cNvSpPr>
            <a:spLocks xmlns:a="http://schemas.openxmlformats.org/drawingml/2006/main" noGrp="1"/>
          </p:cNvSpPr>
          <p:nvPr/>
        </p:nvSpPr>
        <p:spPr>
          <a:xfrm xmlns:a="http://schemas.openxmlformats.org/drawingml/2006/main">
            <a:off x="4343400" y="1627632"/>
            <a:ext cx="3520440" cy="1783080"/>
          </a:xfrm>
          <a:prstGeom xmlns:a="http://schemas.openxmlformats.org/drawingml/2006/main" prst="round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7CD84325-3629-413A-B853-66E58E4E9900}"/>
              </a:ext>
            </a:extLst>
          </p:cNvPr>
          <p:cNvSpPr>
            <a:spLocks xmlns:a="http://schemas.openxmlformats.org/drawingml/2006/main" noGrp="1"/>
          </p:cNvSpPr>
          <p:nvPr/>
        </p:nvSpPr>
        <p:spPr>
          <a:xfrm xmlns:a="http://schemas.openxmlformats.org/drawingml/2006/main">
            <a:off x="4526280" y="1764792"/>
            <a:ext cx="3154680" cy="20116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80" b="1">
                <a:solidFill>
                  <a:srgbClr val="9C7DFF"/>
                </a:solidFill>
                <a:latin typeface="Aptos"/>
                <a:ea typeface="Aptos"/>
                <a:cs typeface="Aptos"/>
              </a:rPr>
              <a:t>B / CLINICAL WORKSPACE</a:t>
            </a:r>
          </a:p>
        </p:txBody>
      </p:sp>
      <p:sp>
        <p:nvSpPr>
          <p:cNvPr id="24" name="TextBox 23">
            <a:extLst xmlns:a="http://schemas.openxmlformats.org/drawingml/2006/main">
              <a:ext uri="{FF2B5EF4-FFF2-40B4-BE49-F238E27FC236}">
                <a16:creationId xmlns:a16="http://schemas.microsoft.com/office/drawing/2014/main" id="{51871018-091F-4A8C-9ED9-9449A860D586}"/>
              </a:ext>
            </a:extLst>
          </p:cNvPr>
          <p:cNvSpPr>
            <a:spLocks xmlns:a="http://schemas.openxmlformats.org/drawingml/2006/main" noGrp="1"/>
          </p:cNvSpPr>
          <p:nvPr/>
        </p:nvSpPr>
        <p:spPr>
          <a:xfrm xmlns:a="http://schemas.openxmlformats.org/drawingml/2006/main">
            <a:off x="4553712" y="2112264"/>
            <a:ext cx="1097280"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00" b="0">
                <a:solidFill>
                  <a:srgbClr val="A9BBCD"/>
                </a:solidFill>
                <a:latin typeface="Aptos"/>
                <a:ea typeface="Aptos"/>
                <a:cs typeface="Aptos"/>
              </a:rPr>
              <a:t>System Risk</a:t>
            </a:r>
          </a:p>
        </p:txBody>
      </p:sp>
      <p:sp>
        <p:nvSpPr>
          <p:cNvPr id="25" name="Rounded Rectangle 24">
            <a:extLst xmlns:a="http://schemas.openxmlformats.org/drawingml/2006/main">
              <a:ext uri="{FF2B5EF4-FFF2-40B4-BE49-F238E27FC236}">
                <a16:creationId xmlns:a16="http://schemas.microsoft.com/office/drawing/2014/main" id="{D3571980-213C-4686-A5BE-1CB695CDC00C}"/>
              </a:ext>
            </a:extLst>
          </p:cNvPr>
          <p:cNvSpPr>
            <a:spLocks xmlns:a="http://schemas.openxmlformats.org/drawingml/2006/main" noGrp="1"/>
          </p:cNvSpPr>
          <p:nvPr/>
        </p:nvSpPr>
        <p:spPr>
          <a:xfrm xmlns:a="http://schemas.openxmlformats.org/drawingml/2006/main">
            <a:off x="5669280" y="2084831"/>
            <a:ext cx="868680" cy="292608"/>
          </a:xfrm>
          <a:prstGeom xmlns:a="http://schemas.openxmlformats.org/drawingml/2006/main" prst="roundRect">
            <a:avLst/>
          </a:prstGeom>
          <a:solidFill xmlns:a="http://schemas.openxmlformats.org/drawingml/2006/main">
            <a:srgbClr val="18293E"/>
          </a:solidFill>
          <a:ln xmlns:a="http://schemas.openxmlformats.org/drawingml/2006/main" w="10160">
            <a:solidFill>
              <a:srgbClr val="FFB15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97333BFE-17C6-485A-BF1C-6D084F92C937}"/>
              </a:ext>
            </a:extLst>
          </p:cNvPr>
          <p:cNvSpPr>
            <a:spLocks xmlns:a="http://schemas.openxmlformats.org/drawingml/2006/main" noGrp="1"/>
          </p:cNvSpPr>
          <p:nvPr/>
        </p:nvSpPr>
        <p:spPr>
          <a:xfrm xmlns:a="http://schemas.openxmlformats.org/drawingml/2006/main">
            <a:off x="5696712" y="2130551"/>
            <a:ext cx="813815"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800" b="1">
                <a:solidFill>
                  <a:srgbClr val="FFB153"/>
                </a:solidFill>
                <a:latin typeface="Aptos"/>
                <a:ea typeface="Aptos"/>
                <a:cs typeface="Aptos"/>
              </a:rPr>
              <a:t>HIGH</a:t>
            </a:r>
          </a:p>
        </p:txBody>
      </p:sp>
      <p:sp>
        <p:nvSpPr>
          <p:cNvPr id="27" name="TextBox 26">
            <a:extLst xmlns:a="http://schemas.openxmlformats.org/drawingml/2006/main">
              <a:ext uri="{FF2B5EF4-FFF2-40B4-BE49-F238E27FC236}">
                <a16:creationId xmlns:a16="http://schemas.microsoft.com/office/drawing/2014/main" id="{9F883922-4CE6-4B5A-A70E-7BA5D93D0B97}"/>
              </a:ext>
            </a:extLst>
          </p:cNvPr>
          <p:cNvSpPr>
            <a:spLocks xmlns:a="http://schemas.openxmlformats.org/drawingml/2006/main" noGrp="1"/>
          </p:cNvSpPr>
          <p:nvPr/>
        </p:nvSpPr>
        <p:spPr>
          <a:xfrm xmlns:a="http://schemas.openxmlformats.org/drawingml/2006/main">
            <a:off x="4553712" y="2496312"/>
            <a:ext cx="1234440"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70" b="0">
                <a:solidFill>
                  <a:srgbClr val="A9BBCD"/>
                </a:solidFill>
                <a:latin typeface="Aptos"/>
                <a:ea typeface="Aptos"/>
                <a:cs typeface="Aptos"/>
              </a:rPr>
              <a:t>Doctor Assessment</a:t>
            </a:r>
          </a:p>
        </p:txBody>
      </p:sp>
      <p:sp>
        <p:nvSpPr>
          <p:cNvPr id="28" name="Rounded Rectangle 27">
            <a:extLst xmlns:a="http://schemas.openxmlformats.org/drawingml/2006/main">
              <a:ext uri="{FF2B5EF4-FFF2-40B4-BE49-F238E27FC236}">
                <a16:creationId xmlns:a16="http://schemas.microsoft.com/office/drawing/2014/main" id="{E362D0C3-B2FA-4540-A15E-4D04425A6CB6}"/>
              </a:ext>
            </a:extLst>
          </p:cNvPr>
          <p:cNvSpPr>
            <a:spLocks xmlns:a="http://schemas.openxmlformats.org/drawingml/2006/main" noGrp="1"/>
          </p:cNvSpPr>
          <p:nvPr/>
        </p:nvSpPr>
        <p:spPr>
          <a:xfrm xmlns:a="http://schemas.openxmlformats.org/drawingml/2006/main">
            <a:off x="5833872" y="2468880"/>
            <a:ext cx="1143000" cy="292608"/>
          </a:xfrm>
          <a:prstGeom xmlns:a="http://schemas.openxmlformats.org/drawingml/2006/main" prst="roundRect">
            <a:avLst/>
          </a:prstGeom>
          <a:solidFill xmlns:a="http://schemas.openxmlformats.org/drawingml/2006/main">
            <a:srgbClr val="18293E"/>
          </a:solidFill>
          <a:ln xmlns:a="http://schemas.openxmlformats.org/drawingml/2006/main" w="10160">
            <a:solidFill>
              <a:srgbClr val="49DC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TextBox 28">
            <a:extLst xmlns:a="http://schemas.openxmlformats.org/drawingml/2006/main">
              <a:ext uri="{FF2B5EF4-FFF2-40B4-BE49-F238E27FC236}">
                <a16:creationId xmlns:a16="http://schemas.microsoft.com/office/drawing/2014/main" id="{F9C91BEF-9B7F-4D2E-A70F-8EDF3ACFE1A9}"/>
              </a:ext>
            </a:extLst>
          </p:cNvPr>
          <p:cNvSpPr>
            <a:spLocks xmlns:a="http://schemas.openxmlformats.org/drawingml/2006/main" noGrp="1"/>
          </p:cNvSpPr>
          <p:nvPr/>
        </p:nvSpPr>
        <p:spPr>
          <a:xfrm xmlns:a="http://schemas.openxmlformats.org/drawingml/2006/main">
            <a:off x="5861304" y="2514600"/>
            <a:ext cx="1088136"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800" b="1">
                <a:solidFill>
                  <a:srgbClr val="49DC9E"/>
                </a:solidFill>
                <a:latin typeface="Aptos"/>
                <a:ea typeface="Aptos"/>
                <a:cs typeface="Aptos"/>
              </a:rPr>
              <a:t>IMPROVING</a:t>
            </a:r>
          </a:p>
        </p:txBody>
      </p:sp>
      <p:sp>
        <p:nvSpPr>
          <p:cNvPr id="30" name="TextBox 29">
            <a:extLst xmlns:a="http://schemas.openxmlformats.org/drawingml/2006/main">
              <a:ext uri="{FF2B5EF4-FFF2-40B4-BE49-F238E27FC236}">
                <a16:creationId xmlns:a16="http://schemas.microsoft.com/office/drawing/2014/main" id="{3E1F6C82-8552-42F0-8BD4-1EC9DD9206D6}"/>
              </a:ext>
            </a:extLst>
          </p:cNvPr>
          <p:cNvSpPr>
            <a:spLocks xmlns:a="http://schemas.openxmlformats.org/drawingml/2006/main" noGrp="1"/>
          </p:cNvSpPr>
          <p:nvPr/>
        </p:nvSpPr>
        <p:spPr>
          <a:xfrm xmlns:a="http://schemas.openxmlformats.org/drawingml/2006/main">
            <a:off x="4553712" y="2926080"/>
            <a:ext cx="3017520"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20" b="0">
                <a:solidFill>
                  <a:srgbClr val="A9BBCD"/>
                </a:solidFill>
                <a:latin typeface="Aptos"/>
                <a:ea typeface="Aptos"/>
                <a:cs typeface="Aptos"/>
              </a:rPr>
              <a:t>Latest observations • saved status • alerts</a:t>
            </a:r>
          </a:p>
        </p:txBody>
      </p:sp>
      <p:sp>
        <p:nvSpPr>
          <p:cNvPr id="31" name="Rounded Rectangle 30">
            <a:extLst xmlns:a="http://schemas.openxmlformats.org/drawingml/2006/main">
              <a:ext uri="{FF2B5EF4-FFF2-40B4-BE49-F238E27FC236}">
                <a16:creationId xmlns:a16="http://schemas.microsoft.com/office/drawing/2014/main" id="{7D0BBB63-2997-41FF-8497-C184929B3F36}"/>
              </a:ext>
            </a:extLst>
          </p:cNvPr>
          <p:cNvSpPr>
            <a:spLocks xmlns:a="http://schemas.openxmlformats.org/drawingml/2006/main" noGrp="1"/>
          </p:cNvSpPr>
          <p:nvPr/>
        </p:nvSpPr>
        <p:spPr>
          <a:xfrm xmlns:a="http://schemas.openxmlformats.org/drawingml/2006/main">
            <a:off x="8046720" y="1627632"/>
            <a:ext cx="3639312" cy="1783080"/>
          </a:xfrm>
          <a:prstGeom xmlns:a="http://schemas.openxmlformats.org/drawingml/2006/main" prst="round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8681A7C5-129A-4B84-A28C-3E430D87E26C}"/>
              </a:ext>
            </a:extLst>
          </p:cNvPr>
          <p:cNvSpPr>
            <a:spLocks xmlns:a="http://schemas.openxmlformats.org/drawingml/2006/main" noGrp="1"/>
          </p:cNvSpPr>
          <p:nvPr/>
        </p:nvSpPr>
        <p:spPr>
          <a:xfrm xmlns:a="http://schemas.openxmlformats.org/drawingml/2006/main">
            <a:off x="8229600" y="1764792"/>
            <a:ext cx="3246120" cy="20116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80" b="1">
                <a:solidFill>
                  <a:srgbClr val="54BEF0"/>
                </a:solidFill>
                <a:latin typeface="Aptos"/>
                <a:ea typeface="Aptos"/>
                <a:cs typeface="Aptos"/>
              </a:rPr>
              <a:t>C / AI DECISION CENTER</a:t>
            </a:r>
          </a:p>
        </p:txBody>
      </p:sp>
      <p:sp>
        <p:nvSpPr>
          <p:cNvPr id="33" name="Oval 32">
            <a:extLst xmlns:a="http://schemas.openxmlformats.org/drawingml/2006/main">
              <a:ext uri="{FF2B5EF4-FFF2-40B4-BE49-F238E27FC236}">
                <a16:creationId xmlns:a16="http://schemas.microsoft.com/office/drawing/2014/main" id="{1657D940-44CB-4753-B26E-FF81FCA74FBE}"/>
              </a:ext>
            </a:extLst>
          </p:cNvPr>
          <p:cNvSpPr>
            <a:spLocks xmlns:a="http://schemas.openxmlformats.org/drawingml/2006/main" noGrp="1"/>
          </p:cNvSpPr>
          <p:nvPr/>
        </p:nvSpPr>
        <p:spPr>
          <a:xfrm xmlns:a="http://schemas.openxmlformats.org/drawingml/2006/main">
            <a:off x="8247888" y="2121408"/>
            <a:ext cx="164592" cy="164592"/>
          </a:xfrm>
          <a:prstGeom xmlns:a="http://schemas.openxmlformats.org/drawingml/2006/main" prst="ellipse">
            <a:avLst/>
          </a:prstGeom>
          <a:solidFill xmlns:a="http://schemas.openxmlformats.org/drawingml/2006/main">
            <a:srgbClr val="9C7DFF"/>
          </a:solidFill>
          <a:ln xmlns:a="http://schemas.openxmlformats.org/drawingml/2006/main">
            <a:solidFill>
              <a:srgbClr val="9C7D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298416D3-CA78-4ECE-A8C2-A30CE16CED54}"/>
              </a:ext>
            </a:extLst>
          </p:cNvPr>
          <p:cNvSpPr>
            <a:spLocks xmlns:a="http://schemas.openxmlformats.org/drawingml/2006/main" noGrp="1"/>
          </p:cNvSpPr>
          <p:nvPr/>
        </p:nvSpPr>
        <p:spPr>
          <a:xfrm xmlns:a="http://schemas.openxmlformats.org/drawingml/2006/main">
            <a:off x="8503920" y="2121408"/>
            <a:ext cx="914400" cy="16459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70" b="1">
                <a:solidFill>
                  <a:srgbClr val="F2F7FC"/>
                </a:solidFill>
                <a:latin typeface="Aptos"/>
                <a:ea typeface="Aptos"/>
                <a:cs typeface="Aptos"/>
              </a:rPr>
              <a:t>RISK</a:t>
            </a:r>
          </a:p>
        </p:txBody>
      </p:sp>
      <p:sp>
        <p:nvSpPr>
          <p:cNvPr id="35" name="TextBox 34">
            <a:extLst xmlns:a="http://schemas.openxmlformats.org/drawingml/2006/main">
              <a:ext uri="{FF2B5EF4-FFF2-40B4-BE49-F238E27FC236}">
                <a16:creationId xmlns:a16="http://schemas.microsoft.com/office/drawing/2014/main" id="{5F48D3AB-2CB0-4FB4-BED9-8FE76B25063C}"/>
              </a:ext>
            </a:extLst>
          </p:cNvPr>
          <p:cNvSpPr>
            <a:spLocks xmlns:a="http://schemas.openxmlformats.org/drawingml/2006/main" noGrp="1"/>
          </p:cNvSpPr>
          <p:nvPr/>
        </p:nvSpPr>
        <p:spPr>
          <a:xfrm xmlns:a="http://schemas.openxmlformats.org/drawingml/2006/main">
            <a:off x="9464040" y="2121408"/>
            <a:ext cx="1920240" cy="16459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40" b="0">
                <a:solidFill>
                  <a:srgbClr val="A9BBCD"/>
                </a:solidFill>
                <a:latin typeface="Aptos"/>
                <a:ea typeface="Aptos"/>
                <a:cs typeface="Aptos"/>
              </a:rPr>
              <a:t>Configured assessment</a:t>
            </a:r>
          </a:p>
        </p:txBody>
      </p:sp>
      <p:sp>
        <p:nvSpPr>
          <p:cNvPr id="36" name="Oval 35">
            <a:extLst xmlns:a="http://schemas.openxmlformats.org/drawingml/2006/main">
              <a:ext uri="{FF2B5EF4-FFF2-40B4-BE49-F238E27FC236}">
                <a16:creationId xmlns:a16="http://schemas.microsoft.com/office/drawing/2014/main" id="{DBF6C3E1-71C8-41B7-8B1E-44AA71109946}"/>
              </a:ext>
            </a:extLst>
          </p:cNvPr>
          <p:cNvSpPr>
            <a:spLocks xmlns:a="http://schemas.openxmlformats.org/drawingml/2006/main" noGrp="1"/>
          </p:cNvSpPr>
          <p:nvPr/>
        </p:nvSpPr>
        <p:spPr>
          <a:xfrm xmlns:a="http://schemas.openxmlformats.org/drawingml/2006/main">
            <a:off x="8247888" y="2505456"/>
            <a:ext cx="164592" cy="164592"/>
          </a:xfrm>
          <a:prstGeom xmlns:a="http://schemas.openxmlformats.org/drawingml/2006/main" prst="ellipse">
            <a:avLst/>
          </a:prstGeom>
          <a:solidFill xmlns:a="http://schemas.openxmlformats.org/drawingml/2006/main">
            <a:srgbClr val="FFB153"/>
          </a:solidFill>
          <a:ln xmlns:a="http://schemas.openxmlformats.org/drawingml/2006/main">
            <a:solidFill>
              <a:srgbClr val="FFB15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TextBox 36">
            <a:extLst xmlns:a="http://schemas.openxmlformats.org/drawingml/2006/main">
              <a:ext uri="{FF2B5EF4-FFF2-40B4-BE49-F238E27FC236}">
                <a16:creationId xmlns:a16="http://schemas.microsoft.com/office/drawing/2014/main" id="{3649C49F-86CE-494D-8DDD-9D0B0A24EA31}"/>
              </a:ext>
            </a:extLst>
          </p:cNvPr>
          <p:cNvSpPr>
            <a:spLocks xmlns:a="http://schemas.openxmlformats.org/drawingml/2006/main" noGrp="1"/>
          </p:cNvSpPr>
          <p:nvPr/>
        </p:nvSpPr>
        <p:spPr>
          <a:xfrm xmlns:a="http://schemas.openxmlformats.org/drawingml/2006/main">
            <a:off x="8503920" y="2505456"/>
            <a:ext cx="914400" cy="16459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70" b="1">
                <a:solidFill>
                  <a:srgbClr val="F2F7FC"/>
                </a:solidFill>
                <a:latin typeface="Aptos"/>
                <a:ea typeface="Aptos"/>
                <a:cs typeface="Aptos"/>
              </a:rPr>
              <a:t>PRIORITY</a:t>
            </a:r>
          </a:p>
        </p:txBody>
      </p:sp>
      <p:sp>
        <p:nvSpPr>
          <p:cNvPr id="38" name="TextBox 37">
            <a:extLst xmlns:a="http://schemas.openxmlformats.org/drawingml/2006/main">
              <a:ext uri="{FF2B5EF4-FFF2-40B4-BE49-F238E27FC236}">
                <a16:creationId xmlns:a16="http://schemas.microsoft.com/office/drawing/2014/main" id="{4C288199-FF97-447E-A6A0-862402B3F776}"/>
              </a:ext>
            </a:extLst>
          </p:cNvPr>
          <p:cNvSpPr>
            <a:spLocks xmlns:a="http://schemas.openxmlformats.org/drawingml/2006/main" noGrp="1"/>
          </p:cNvSpPr>
          <p:nvPr/>
        </p:nvSpPr>
        <p:spPr>
          <a:xfrm xmlns:a="http://schemas.openxmlformats.org/drawingml/2006/main">
            <a:off x="9464040" y="2505456"/>
            <a:ext cx="1920240" cy="16459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40" b="0">
                <a:solidFill>
                  <a:srgbClr val="A9BBCD"/>
                </a:solidFill>
                <a:latin typeface="Aptos"/>
                <a:ea typeface="Aptos"/>
                <a:cs typeface="Aptos"/>
              </a:rPr>
              <a:t>Operational queue</a:t>
            </a:r>
          </a:p>
        </p:txBody>
      </p:sp>
      <p:sp>
        <p:nvSpPr>
          <p:cNvPr id="39" name="Oval 38">
            <a:extLst xmlns:a="http://schemas.openxmlformats.org/drawingml/2006/main">
              <a:ext uri="{FF2B5EF4-FFF2-40B4-BE49-F238E27FC236}">
                <a16:creationId xmlns:a16="http://schemas.microsoft.com/office/drawing/2014/main" id="{F3B2B961-B5A2-4C14-B1B7-F78D483F594F}"/>
              </a:ext>
            </a:extLst>
          </p:cNvPr>
          <p:cNvSpPr>
            <a:spLocks xmlns:a="http://schemas.openxmlformats.org/drawingml/2006/main" noGrp="1"/>
          </p:cNvSpPr>
          <p:nvPr/>
        </p:nvSpPr>
        <p:spPr>
          <a:xfrm xmlns:a="http://schemas.openxmlformats.org/drawingml/2006/main">
            <a:off x="8247888" y="2889503"/>
            <a:ext cx="164592" cy="164592"/>
          </a:xfrm>
          <a:prstGeom xmlns:a="http://schemas.openxmlformats.org/drawingml/2006/main" prst="ellipse">
            <a:avLst/>
          </a:prstGeom>
          <a:solidFill xmlns:a="http://schemas.openxmlformats.org/drawingml/2006/main">
            <a:srgbClr val="2BD2BE"/>
          </a:solidFill>
          <a:ln xmlns:a="http://schemas.openxmlformats.org/drawingml/2006/main">
            <a:solidFill>
              <a:srgbClr val="2BD2B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53EECD8B-F489-484D-A29D-16849F4A35BD}"/>
              </a:ext>
            </a:extLst>
          </p:cNvPr>
          <p:cNvSpPr>
            <a:spLocks xmlns:a="http://schemas.openxmlformats.org/drawingml/2006/main" noGrp="1"/>
          </p:cNvSpPr>
          <p:nvPr/>
        </p:nvSpPr>
        <p:spPr>
          <a:xfrm xmlns:a="http://schemas.openxmlformats.org/drawingml/2006/main">
            <a:off x="8503920" y="2889503"/>
            <a:ext cx="914400" cy="16459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70" b="1">
                <a:solidFill>
                  <a:srgbClr val="F2F7FC"/>
                </a:solidFill>
                <a:latin typeface="Aptos"/>
                <a:ea typeface="Aptos"/>
                <a:cs typeface="Aptos"/>
              </a:rPr>
              <a:t>ALLOCATION</a:t>
            </a:r>
          </a:p>
        </p:txBody>
      </p:sp>
      <p:sp>
        <p:nvSpPr>
          <p:cNvPr id="41" name="TextBox 40">
            <a:extLst xmlns:a="http://schemas.openxmlformats.org/drawingml/2006/main">
              <a:ext uri="{FF2B5EF4-FFF2-40B4-BE49-F238E27FC236}">
                <a16:creationId xmlns:a16="http://schemas.microsoft.com/office/drawing/2014/main" id="{B6663959-D583-410A-A214-6975F9D659E7}"/>
              </a:ext>
            </a:extLst>
          </p:cNvPr>
          <p:cNvSpPr>
            <a:spLocks xmlns:a="http://schemas.openxmlformats.org/drawingml/2006/main" noGrp="1"/>
          </p:cNvSpPr>
          <p:nvPr/>
        </p:nvSpPr>
        <p:spPr>
          <a:xfrm xmlns:a="http://schemas.openxmlformats.org/drawingml/2006/main">
            <a:off x="9464040" y="2889503"/>
            <a:ext cx="1920240" cy="16459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40" b="0">
                <a:solidFill>
                  <a:srgbClr val="A9BBCD"/>
                </a:solidFill>
                <a:latin typeface="Aptos"/>
                <a:ea typeface="Aptos"/>
                <a:cs typeface="Aptos"/>
              </a:rPr>
              <a:t>Feasible plan</a:t>
            </a:r>
          </a:p>
        </p:txBody>
      </p:sp>
      <p:sp>
        <p:nvSpPr>
          <p:cNvPr id="42" name="Rounded Rectangle 41">
            <a:extLst xmlns:a="http://schemas.openxmlformats.org/drawingml/2006/main">
              <a:ext uri="{FF2B5EF4-FFF2-40B4-BE49-F238E27FC236}">
                <a16:creationId xmlns:a16="http://schemas.microsoft.com/office/drawing/2014/main" id="{9FF3B182-F050-4BE1-A998-C6CF53B90BE4}"/>
              </a:ext>
            </a:extLst>
          </p:cNvPr>
          <p:cNvSpPr>
            <a:spLocks xmlns:a="http://schemas.openxmlformats.org/drawingml/2006/main" noGrp="1"/>
          </p:cNvSpPr>
          <p:nvPr/>
        </p:nvSpPr>
        <p:spPr>
          <a:xfrm xmlns:a="http://schemas.openxmlformats.org/drawingml/2006/main">
            <a:off x="502920" y="3611880"/>
            <a:ext cx="6629400" cy="1901952"/>
          </a:xfrm>
          <a:prstGeom xmlns:a="http://schemas.openxmlformats.org/drawingml/2006/main" prst="round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TextBox 42">
            <a:extLst xmlns:a="http://schemas.openxmlformats.org/drawingml/2006/main">
              <a:ext uri="{FF2B5EF4-FFF2-40B4-BE49-F238E27FC236}">
                <a16:creationId xmlns:a16="http://schemas.microsoft.com/office/drawing/2014/main" id="{61ED34A3-E5B1-4022-8BBF-DB02C55328F6}"/>
              </a:ext>
            </a:extLst>
          </p:cNvPr>
          <p:cNvSpPr>
            <a:spLocks xmlns:a="http://schemas.openxmlformats.org/drawingml/2006/main" noGrp="1"/>
          </p:cNvSpPr>
          <p:nvPr/>
        </p:nvSpPr>
        <p:spPr>
          <a:xfrm xmlns:a="http://schemas.openxmlformats.org/drawingml/2006/main">
            <a:off x="713232" y="3749039"/>
            <a:ext cx="6126480" cy="20116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80" b="1">
                <a:solidFill>
                  <a:srgbClr val="49DC9E"/>
                </a:solidFill>
                <a:latin typeface="Aptos"/>
                <a:ea typeface="Aptos"/>
                <a:cs typeface="Aptos"/>
              </a:rPr>
              <a:t>D / DYNAMIC REASSESSMENT</a:t>
            </a:r>
          </a:p>
        </p:txBody>
      </p:sp>
      <p:sp>
        <p:nvSpPr>
          <p:cNvPr id="44" name="Rounded Rectangle 43">
            <a:extLst xmlns:a="http://schemas.openxmlformats.org/drawingml/2006/main">
              <a:ext uri="{FF2B5EF4-FFF2-40B4-BE49-F238E27FC236}">
                <a16:creationId xmlns:a16="http://schemas.microsoft.com/office/drawing/2014/main" id="{1B79CB04-1512-40D3-8DCF-F2EE9471B414}"/>
              </a:ext>
            </a:extLst>
          </p:cNvPr>
          <p:cNvSpPr>
            <a:spLocks xmlns:a="http://schemas.openxmlformats.org/drawingml/2006/main" noGrp="1"/>
          </p:cNvSpPr>
          <p:nvPr/>
        </p:nvSpPr>
        <p:spPr>
          <a:xfrm xmlns:a="http://schemas.openxmlformats.org/drawingml/2006/main">
            <a:off x="749808" y="4251960"/>
            <a:ext cx="1234440" cy="640080"/>
          </a:xfrm>
          <a:prstGeom xmlns:a="http://schemas.openxmlformats.org/drawingml/2006/main" prst="roundRect">
            <a:avLst/>
          </a:prstGeom>
          <a:solidFill xmlns:a="http://schemas.openxmlformats.org/drawingml/2006/main">
            <a:srgbClr val="18293E"/>
          </a:solidFill>
          <a:ln xmlns:a="http://schemas.openxmlformats.org/drawingml/2006/main" w="10160">
            <a:solidFill>
              <a:srgbClr val="54BE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TextBox 44">
            <a:extLst xmlns:a="http://schemas.openxmlformats.org/drawingml/2006/main">
              <a:ext uri="{FF2B5EF4-FFF2-40B4-BE49-F238E27FC236}">
                <a16:creationId xmlns:a16="http://schemas.microsoft.com/office/drawing/2014/main" id="{9B40C248-893F-4E0A-9690-4996D108ABE4}"/>
              </a:ext>
            </a:extLst>
          </p:cNvPr>
          <p:cNvSpPr>
            <a:spLocks xmlns:a="http://schemas.openxmlformats.org/drawingml/2006/main" noGrp="1"/>
          </p:cNvSpPr>
          <p:nvPr/>
        </p:nvSpPr>
        <p:spPr>
          <a:xfrm xmlns:a="http://schemas.openxmlformats.org/drawingml/2006/main">
            <a:off x="795528" y="4389120"/>
            <a:ext cx="1143000" cy="34747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ctr">
            <a:spAutoFit/>
          </a:bodyPr>
          <a:lstStyle xmlns:a="http://schemas.openxmlformats.org/drawingml/2006/main"/>
          <a:p xmlns:a="http://schemas.openxmlformats.org/drawingml/2006/main">
            <a:pPr algn="ctr">
              <a:buNone/>
            </a:pPr>
            <a:r>
              <a:rPr sz="780" b="1">
                <a:solidFill>
                  <a:srgbClr val="F2F7FC"/>
                </a:solidFill>
                <a:latin typeface="Aptos"/>
                <a:ea typeface="Aptos"/>
                <a:cs typeface="Aptos"/>
              </a:rPr>
              <a:t>NEW</a:t>
            </a:r>
          </a:p>
          <a:p xmlns:a="http://schemas.openxmlformats.org/drawingml/2006/main">
            <a:pPr algn="ctr">
              <a:buNone/>
            </a:pPr>
            <a:r>
              <a:rPr sz="780" b="1">
                <a:solidFill>
                  <a:srgbClr val="F2F7FC"/>
                </a:solidFill>
                <a:latin typeface="Aptos"/>
                <a:ea typeface="Aptos"/>
                <a:cs typeface="Aptos"/>
              </a:rPr>
              <a:t>OBSERVATION</a:t>
            </a:r>
          </a:p>
        </p:txBody>
      </p:sp>
      <p:sp>
        <p:nvSpPr>
          <p:cNvPr id="46" name="Connector 45">
            <a:extLst xmlns:a="http://schemas.openxmlformats.org/drawingml/2006/main">
              <a:ext uri="{FF2B5EF4-FFF2-40B4-BE49-F238E27FC236}">
                <a16:creationId xmlns:a16="http://schemas.microsoft.com/office/drawing/2014/main" id="{06F1D22F-909F-4395-9B27-55958B59CD3F}"/>
              </a:ext>
            </a:extLst>
          </p:cNvPr>
          <p:cNvSpPr>
            <a:spLocks xmlns:a="http://schemas.openxmlformats.org/drawingml/2006/main" noGrp="1"/>
          </p:cNvSpPr>
          <p:nvPr/>
        </p:nvSpPr>
        <p:spPr>
          <a:xfrm xmlns:a="http://schemas.openxmlformats.org/drawingml/2006/main">
            <a:off x="1984248" y="4572000"/>
            <a:ext cx="246888" cy="0"/>
          </a:xfrm>
          <a:prstGeom xmlns:a="http://schemas.openxmlformats.org/drawingml/2006/main" prst="line">
            <a:avLst/>
          </a:prstGeom>
          <a:ln xmlns:a="http://schemas.openxmlformats.org/drawingml/2006/main" w="1524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7" name="Rounded Rectangle 46">
            <a:extLst xmlns:a="http://schemas.openxmlformats.org/drawingml/2006/main">
              <a:ext uri="{FF2B5EF4-FFF2-40B4-BE49-F238E27FC236}">
                <a16:creationId xmlns:a16="http://schemas.microsoft.com/office/drawing/2014/main" id="{0AB2249C-4E9B-4D88-8668-179086A2ED51}"/>
              </a:ext>
            </a:extLst>
          </p:cNvPr>
          <p:cNvSpPr>
            <a:spLocks xmlns:a="http://schemas.openxmlformats.org/drawingml/2006/main" noGrp="1"/>
          </p:cNvSpPr>
          <p:nvPr/>
        </p:nvSpPr>
        <p:spPr>
          <a:xfrm xmlns:a="http://schemas.openxmlformats.org/drawingml/2006/main">
            <a:off x="2286000" y="4251960"/>
            <a:ext cx="1234440" cy="640080"/>
          </a:xfrm>
          <a:prstGeom xmlns:a="http://schemas.openxmlformats.org/drawingml/2006/main" prst="roundRect">
            <a:avLst/>
          </a:prstGeom>
          <a:solidFill xmlns:a="http://schemas.openxmlformats.org/drawingml/2006/main">
            <a:srgbClr val="18293E"/>
          </a:solidFill>
          <a:ln xmlns:a="http://schemas.openxmlformats.org/drawingml/2006/main" w="10160">
            <a:solidFill>
              <a:srgbClr val="9C7D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TextBox 47">
            <a:extLst xmlns:a="http://schemas.openxmlformats.org/drawingml/2006/main">
              <a:ext uri="{FF2B5EF4-FFF2-40B4-BE49-F238E27FC236}">
                <a16:creationId xmlns:a16="http://schemas.microsoft.com/office/drawing/2014/main" id="{7845646F-F191-4DEB-B5F9-F9332DBAACFA}"/>
              </a:ext>
            </a:extLst>
          </p:cNvPr>
          <p:cNvSpPr>
            <a:spLocks xmlns:a="http://schemas.openxmlformats.org/drawingml/2006/main" noGrp="1"/>
          </p:cNvSpPr>
          <p:nvPr/>
        </p:nvSpPr>
        <p:spPr>
          <a:xfrm xmlns:a="http://schemas.openxmlformats.org/drawingml/2006/main">
            <a:off x="2331720" y="4389120"/>
            <a:ext cx="1143000" cy="34747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ctr">
            <a:spAutoFit/>
          </a:bodyPr>
          <a:lstStyle xmlns:a="http://schemas.openxmlformats.org/drawingml/2006/main"/>
          <a:p xmlns:a="http://schemas.openxmlformats.org/drawingml/2006/main">
            <a:pPr algn="ctr">
              <a:buNone/>
            </a:pPr>
            <a:r>
              <a:rPr sz="780" b="1">
                <a:solidFill>
                  <a:srgbClr val="F2F7FC"/>
                </a:solidFill>
                <a:latin typeface="Aptos"/>
                <a:ea typeface="Aptos"/>
                <a:cs typeface="Aptos"/>
              </a:rPr>
              <a:t>RISK</a:t>
            </a:r>
          </a:p>
          <a:p xmlns:a="http://schemas.openxmlformats.org/drawingml/2006/main">
            <a:pPr algn="ctr">
              <a:buNone/>
            </a:pPr>
            <a:r>
              <a:rPr sz="780" b="1">
                <a:solidFill>
                  <a:srgbClr val="F2F7FC"/>
                </a:solidFill>
                <a:latin typeface="Aptos"/>
                <a:ea typeface="Aptos"/>
                <a:cs typeface="Aptos"/>
              </a:rPr>
              <a:t>REASSESS</a:t>
            </a:r>
          </a:p>
        </p:txBody>
      </p:sp>
      <p:sp>
        <p:nvSpPr>
          <p:cNvPr id="49" name="Connector 48">
            <a:extLst xmlns:a="http://schemas.openxmlformats.org/drawingml/2006/main">
              <a:ext uri="{FF2B5EF4-FFF2-40B4-BE49-F238E27FC236}">
                <a16:creationId xmlns:a16="http://schemas.microsoft.com/office/drawing/2014/main" id="{21FC6B67-F6E0-4E61-BA03-46C7E56DDF68}"/>
              </a:ext>
            </a:extLst>
          </p:cNvPr>
          <p:cNvSpPr>
            <a:spLocks xmlns:a="http://schemas.openxmlformats.org/drawingml/2006/main" noGrp="1"/>
          </p:cNvSpPr>
          <p:nvPr/>
        </p:nvSpPr>
        <p:spPr>
          <a:xfrm xmlns:a="http://schemas.openxmlformats.org/drawingml/2006/main">
            <a:off x="3520440" y="4572000"/>
            <a:ext cx="246888" cy="0"/>
          </a:xfrm>
          <a:prstGeom xmlns:a="http://schemas.openxmlformats.org/drawingml/2006/main" prst="line">
            <a:avLst/>
          </a:prstGeom>
          <a:ln xmlns:a="http://schemas.openxmlformats.org/drawingml/2006/main" w="1524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0" name="Rounded Rectangle 49">
            <a:extLst xmlns:a="http://schemas.openxmlformats.org/drawingml/2006/main">
              <a:ext uri="{FF2B5EF4-FFF2-40B4-BE49-F238E27FC236}">
                <a16:creationId xmlns:a16="http://schemas.microsoft.com/office/drawing/2014/main" id="{5BADB6C5-F6F0-4F2D-9FB0-834E0AEFAAFB}"/>
              </a:ext>
            </a:extLst>
          </p:cNvPr>
          <p:cNvSpPr>
            <a:spLocks xmlns:a="http://schemas.openxmlformats.org/drawingml/2006/main" noGrp="1"/>
          </p:cNvSpPr>
          <p:nvPr/>
        </p:nvSpPr>
        <p:spPr>
          <a:xfrm xmlns:a="http://schemas.openxmlformats.org/drawingml/2006/main">
            <a:off x="3822191" y="4251960"/>
            <a:ext cx="1234440" cy="640080"/>
          </a:xfrm>
          <a:prstGeom xmlns:a="http://schemas.openxmlformats.org/drawingml/2006/main" prst="roundRect">
            <a:avLst/>
          </a:prstGeom>
          <a:solidFill xmlns:a="http://schemas.openxmlformats.org/drawingml/2006/main">
            <a:srgbClr val="18293E"/>
          </a:solidFill>
          <a:ln xmlns:a="http://schemas.openxmlformats.org/drawingml/2006/main" w="10160">
            <a:solidFill>
              <a:srgbClr val="FFB15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TextBox 50">
            <a:extLst xmlns:a="http://schemas.openxmlformats.org/drawingml/2006/main">
              <a:ext uri="{FF2B5EF4-FFF2-40B4-BE49-F238E27FC236}">
                <a16:creationId xmlns:a16="http://schemas.microsoft.com/office/drawing/2014/main" id="{2F908869-DC1E-4180-B3D2-62A4F4287F97}"/>
              </a:ext>
            </a:extLst>
          </p:cNvPr>
          <p:cNvSpPr>
            <a:spLocks xmlns:a="http://schemas.openxmlformats.org/drawingml/2006/main" noGrp="1"/>
          </p:cNvSpPr>
          <p:nvPr/>
        </p:nvSpPr>
        <p:spPr>
          <a:xfrm xmlns:a="http://schemas.openxmlformats.org/drawingml/2006/main">
            <a:off x="3867911" y="4389120"/>
            <a:ext cx="1143000" cy="34747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ctr">
            <a:spAutoFit/>
          </a:bodyPr>
          <a:lstStyle xmlns:a="http://schemas.openxmlformats.org/drawingml/2006/main"/>
          <a:p xmlns:a="http://schemas.openxmlformats.org/drawingml/2006/main">
            <a:pPr algn="ctr">
              <a:buNone/>
            </a:pPr>
            <a:r>
              <a:rPr sz="780" b="1">
                <a:solidFill>
                  <a:srgbClr val="F2F7FC"/>
                </a:solidFill>
                <a:latin typeface="Aptos"/>
                <a:ea typeface="Aptos"/>
                <a:cs typeface="Aptos"/>
              </a:rPr>
              <a:t>PRIORITY</a:t>
            </a:r>
          </a:p>
          <a:p xmlns:a="http://schemas.openxmlformats.org/drawingml/2006/main">
            <a:pPr algn="ctr">
              <a:buNone/>
            </a:pPr>
            <a:r>
              <a:rPr sz="780" b="1">
                <a:solidFill>
                  <a:srgbClr val="F2F7FC"/>
                </a:solidFill>
                <a:latin typeface="Aptos"/>
                <a:ea typeface="Aptos"/>
                <a:cs typeface="Aptos"/>
              </a:rPr>
              <a:t>UPDATE</a:t>
            </a:r>
          </a:p>
        </p:txBody>
      </p:sp>
      <p:sp>
        <p:nvSpPr>
          <p:cNvPr id="52" name="Connector 51">
            <a:extLst xmlns:a="http://schemas.openxmlformats.org/drawingml/2006/main">
              <a:ext uri="{FF2B5EF4-FFF2-40B4-BE49-F238E27FC236}">
                <a16:creationId xmlns:a16="http://schemas.microsoft.com/office/drawing/2014/main" id="{671FD3F2-F275-4742-9DF9-2B98FCA111A1}"/>
              </a:ext>
            </a:extLst>
          </p:cNvPr>
          <p:cNvSpPr>
            <a:spLocks xmlns:a="http://schemas.openxmlformats.org/drawingml/2006/main" noGrp="1"/>
          </p:cNvSpPr>
          <p:nvPr/>
        </p:nvSpPr>
        <p:spPr>
          <a:xfrm xmlns:a="http://schemas.openxmlformats.org/drawingml/2006/main">
            <a:off x="5056631" y="4572000"/>
            <a:ext cx="246889" cy="0"/>
          </a:xfrm>
          <a:prstGeom xmlns:a="http://schemas.openxmlformats.org/drawingml/2006/main" prst="line">
            <a:avLst/>
          </a:prstGeom>
          <a:ln xmlns:a="http://schemas.openxmlformats.org/drawingml/2006/main" w="1524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3" name="Rounded Rectangle 52">
            <a:extLst xmlns:a="http://schemas.openxmlformats.org/drawingml/2006/main">
              <a:ext uri="{FF2B5EF4-FFF2-40B4-BE49-F238E27FC236}">
                <a16:creationId xmlns:a16="http://schemas.microsoft.com/office/drawing/2014/main" id="{C1810AA2-B4E3-45F8-8D17-A182B53799E3}"/>
              </a:ext>
            </a:extLst>
          </p:cNvPr>
          <p:cNvSpPr>
            <a:spLocks xmlns:a="http://schemas.openxmlformats.org/drawingml/2006/main" noGrp="1"/>
          </p:cNvSpPr>
          <p:nvPr/>
        </p:nvSpPr>
        <p:spPr>
          <a:xfrm xmlns:a="http://schemas.openxmlformats.org/drawingml/2006/main">
            <a:off x="5358384" y="4251960"/>
            <a:ext cx="1234440" cy="640080"/>
          </a:xfrm>
          <a:prstGeom xmlns:a="http://schemas.openxmlformats.org/drawingml/2006/main" prst="roundRect">
            <a:avLst/>
          </a:prstGeom>
          <a:solidFill xmlns:a="http://schemas.openxmlformats.org/drawingml/2006/main">
            <a:srgbClr val="18293E"/>
          </a:solidFill>
          <a:ln xmlns:a="http://schemas.openxmlformats.org/drawingml/2006/main" w="10160">
            <a:solidFill>
              <a:srgbClr val="49DC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4" name="TextBox 53">
            <a:extLst xmlns:a="http://schemas.openxmlformats.org/drawingml/2006/main">
              <a:ext uri="{FF2B5EF4-FFF2-40B4-BE49-F238E27FC236}">
                <a16:creationId xmlns:a16="http://schemas.microsoft.com/office/drawing/2014/main" id="{EFE886D9-A028-473E-ABC0-7708D8B9EBEA}"/>
              </a:ext>
            </a:extLst>
          </p:cNvPr>
          <p:cNvSpPr>
            <a:spLocks xmlns:a="http://schemas.openxmlformats.org/drawingml/2006/main" noGrp="1"/>
          </p:cNvSpPr>
          <p:nvPr/>
        </p:nvSpPr>
        <p:spPr>
          <a:xfrm xmlns:a="http://schemas.openxmlformats.org/drawingml/2006/main">
            <a:off x="5404104" y="4389120"/>
            <a:ext cx="1143000" cy="347472"/>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ctr">
            <a:spAutoFit/>
          </a:bodyPr>
          <a:lstStyle xmlns:a="http://schemas.openxmlformats.org/drawingml/2006/main"/>
          <a:p xmlns:a="http://schemas.openxmlformats.org/drawingml/2006/main">
            <a:pPr algn="ctr">
              <a:buNone/>
            </a:pPr>
            <a:r>
              <a:rPr sz="780" b="1">
                <a:solidFill>
                  <a:srgbClr val="F2F7FC"/>
                </a:solidFill>
                <a:latin typeface="Aptos"/>
                <a:ea typeface="Aptos"/>
                <a:cs typeface="Aptos"/>
              </a:rPr>
              <a:t>REPLAN</a:t>
            </a:r>
          </a:p>
          <a:p xmlns:a="http://schemas.openxmlformats.org/drawingml/2006/main">
            <a:pPr algn="ctr">
              <a:buNone/>
            </a:pPr>
            <a:r>
              <a:rPr sz="780" b="1">
                <a:solidFill>
                  <a:srgbClr val="F2F7FC"/>
                </a:solidFill>
                <a:latin typeface="Aptos"/>
                <a:ea typeface="Aptos"/>
                <a:cs typeface="Aptos"/>
              </a:rPr>
              <a:t>IF NEEDED</a:t>
            </a:r>
          </a:p>
        </p:txBody>
      </p:sp>
      <p:sp>
        <p:nvSpPr>
          <p:cNvPr id="55" name="TextBox 54">
            <a:extLst xmlns:a="http://schemas.openxmlformats.org/drawingml/2006/main">
              <a:ext uri="{FF2B5EF4-FFF2-40B4-BE49-F238E27FC236}">
                <a16:creationId xmlns:a16="http://schemas.microsoft.com/office/drawing/2014/main" id="{FDC93500-CD26-40BC-8C36-A8A92EBE134E}"/>
              </a:ext>
            </a:extLst>
          </p:cNvPr>
          <p:cNvSpPr>
            <a:spLocks xmlns:a="http://schemas.openxmlformats.org/drawingml/2006/main" noGrp="1"/>
          </p:cNvSpPr>
          <p:nvPr/>
        </p:nvSpPr>
        <p:spPr>
          <a:xfrm xmlns:a="http://schemas.openxmlformats.org/drawingml/2006/main">
            <a:off x="749808" y="5102352"/>
            <a:ext cx="6035040"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80" b="0">
                <a:solidFill>
                  <a:srgbClr val="A9BBCD"/>
                </a:solidFill>
                <a:latin typeface="Aptos"/>
                <a:ea typeface="Aptos"/>
                <a:cs typeface="Aptos"/>
              </a:rPr>
              <a:t>Current state updates; prior observations remain in history.</a:t>
            </a:r>
          </a:p>
        </p:txBody>
      </p:sp>
      <p:sp>
        <p:nvSpPr>
          <p:cNvPr id="56" name="Rounded Rectangle 55">
            <a:extLst xmlns:a="http://schemas.openxmlformats.org/drawingml/2006/main">
              <a:ext uri="{FF2B5EF4-FFF2-40B4-BE49-F238E27FC236}">
                <a16:creationId xmlns:a16="http://schemas.microsoft.com/office/drawing/2014/main" id="{FE551749-681F-4910-A9F8-25E809DC69D2}"/>
              </a:ext>
            </a:extLst>
          </p:cNvPr>
          <p:cNvSpPr>
            <a:spLocks xmlns:a="http://schemas.openxmlformats.org/drawingml/2006/main" noGrp="1"/>
          </p:cNvSpPr>
          <p:nvPr/>
        </p:nvSpPr>
        <p:spPr>
          <a:xfrm xmlns:a="http://schemas.openxmlformats.org/drawingml/2006/main">
            <a:off x="7315200" y="3611880"/>
            <a:ext cx="4370832" cy="1901952"/>
          </a:xfrm>
          <a:prstGeom xmlns:a="http://schemas.openxmlformats.org/drawingml/2006/main" prst="roundRect">
            <a:avLst/>
          </a:prstGeom>
          <a:solidFill xmlns:a="http://schemas.openxmlformats.org/drawingml/2006/main">
            <a:srgbClr val="131F32"/>
          </a:solidFill>
          <a:ln xmlns:a="http://schemas.openxmlformats.org/drawingml/2006/main" w="10160">
            <a:solidFill>
              <a:srgbClr val="354C6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7" name="TextBox 56">
            <a:extLst xmlns:a="http://schemas.openxmlformats.org/drawingml/2006/main">
              <a:ext uri="{FF2B5EF4-FFF2-40B4-BE49-F238E27FC236}">
                <a16:creationId xmlns:a16="http://schemas.microsoft.com/office/drawing/2014/main" id="{51E34C25-D8F5-4491-BE9A-080C7DAEEA2F}"/>
              </a:ext>
            </a:extLst>
          </p:cNvPr>
          <p:cNvSpPr>
            <a:spLocks xmlns:a="http://schemas.openxmlformats.org/drawingml/2006/main" noGrp="1"/>
          </p:cNvSpPr>
          <p:nvPr/>
        </p:nvSpPr>
        <p:spPr>
          <a:xfrm xmlns:a="http://schemas.openxmlformats.org/drawingml/2006/main">
            <a:off x="7516368" y="3749039"/>
            <a:ext cx="3931920" cy="201168"/>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880" b="1">
                <a:solidFill>
                  <a:srgbClr val="FFB153"/>
                </a:solidFill>
                <a:latin typeface="Aptos"/>
                <a:ea typeface="Aptos"/>
                <a:cs typeface="Aptos"/>
              </a:rPr>
              <a:t>E / F  DISCHARGE + AUDIT</a:t>
            </a:r>
          </a:p>
        </p:txBody>
      </p:sp>
      <p:sp>
        <p:nvSpPr>
          <p:cNvPr id="58" name="Rounded Rectangle 57">
            <a:extLst xmlns:a="http://schemas.openxmlformats.org/drawingml/2006/main">
              <a:ext uri="{FF2B5EF4-FFF2-40B4-BE49-F238E27FC236}">
                <a16:creationId xmlns:a16="http://schemas.microsoft.com/office/drawing/2014/main" id="{53B0415D-69BA-4164-A8BC-3BC32BBB3978}"/>
              </a:ext>
            </a:extLst>
          </p:cNvPr>
          <p:cNvSpPr>
            <a:spLocks xmlns:a="http://schemas.openxmlformats.org/drawingml/2006/main" noGrp="1"/>
          </p:cNvSpPr>
          <p:nvPr/>
        </p:nvSpPr>
        <p:spPr>
          <a:xfrm xmlns:a="http://schemas.openxmlformats.org/drawingml/2006/main">
            <a:off x="7571231" y="4133087"/>
            <a:ext cx="1901952" cy="283464"/>
          </a:xfrm>
          <a:prstGeom xmlns:a="http://schemas.openxmlformats.org/drawingml/2006/main" prst="roundRect">
            <a:avLst/>
          </a:prstGeom>
          <a:solidFill xmlns:a="http://schemas.openxmlformats.org/drawingml/2006/main">
            <a:srgbClr val="18293E"/>
          </a:solidFill>
          <a:ln xmlns:a="http://schemas.openxmlformats.org/drawingml/2006/main" w="10160">
            <a:solidFill>
              <a:srgbClr val="9C7D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9" name="TextBox 58">
            <a:extLst xmlns:a="http://schemas.openxmlformats.org/drawingml/2006/main">
              <a:ext uri="{FF2B5EF4-FFF2-40B4-BE49-F238E27FC236}">
                <a16:creationId xmlns:a16="http://schemas.microsoft.com/office/drawing/2014/main" id="{B8B1DB06-7588-4405-B5FB-A5A7F2CB6D5F}"/>
              </a:ext>
            </a:extLst>
          </p:cNvPr>
          <p:cNvSpPr>
            <a:spLocks xmlns:a="http://schemas.openxmlformats.org/drawingml/2006/main" noGrp="1"/>
          </p:cNvSpPr>
          <p:nvPr/>
        </p:nvSpPr>
        <p:spPr>
          <a:xfrm xmlns:a="http://schemas.openxmlformats.org/drawingml/2006/main">
            <a:off x="7644383" y="4187951"/>
            <a:ext cx="1755648" cy="13716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710" b="1">
                <a:solidFill>
                  <a:srgbClr val="F2F7FC"/>
                </a:solidFill>
                <a:latin typeface="Aptos"/>
                <a:ea typeface="Aptos"/>
                <a:cs typeface="Aptos"/>
              </a:rPr>
              <a:t>DOCTOR REQUEST</a:t>
            </a:r>
          </a:p>
        </p:txBody>
      </p:sp>
      <p:sp>
        <p:nvSpPr>
          <p:cNvPr id="60" name="Connector 59">
            <a:extLst xmlns:a="http://schemas.openxmlformats.org/drawingml/2006/main">
              <a:ext uri="{FF2B5EF4-FFF2-40B4-BE49-F238E27FC236}">
                <a16:creationId xmlns:a16="http://schemas.microsoft.com/office/drawing/2014/main" id="{7A9C7248-E316-4A02-8CE8-FFCDF73187B6}"/>
              </a:ext>
            </a:extLst>
          </p:cNvPr>
          <p:cNvSpPr>
            <a:spLocks xmlns:a="http://schemas.openxmlformats.org/drawingml/2006/main" noGrp="1"/>
          </p:cNvSpPr>
          <p:nvPr/>
        </p:nvSpPr>
        <p:spPr>
          <a:xfrm xmlns:a="http://schemas.openxmlformats.org/drawingml/2006/main">
            <a:off x="8522208" y="4416551"/>
            <a:ext cx="0" cy="82297"/>
          </a:xfrm>
          <a:prstGeom xmlns:a="http://schemas.openxmlformats.org/drawingml/2006/main" prst="line">
            <a:avLst/>
          </a:prstGeom>
          <a:ln xmlns:a="http://schemas.openxmlformats.org/drawingml/2006/main" w="1270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1" name="Rounded Rectangle 60">
            <a:extLst xmlns:a="http://schemas.openxmlformats.org/drawingml/2006/main">
              <a:ext uri="{FF2B5EF4-FFF2-40B4-BE49-F238E27FC236}">
                <a16:creationId xmlns:a16="http://schemas.microsoft.com/office/drawing/2014/main" id="{C5319B78-7206-463C-808D-3EF6B749562A}"/>
              </a:ext>
            </a:extLst>
          </p:cNvPr>
          <p:cNvSpPr>
            <a:spLocks xmlns:a="http://schemas.openxmlformats.org/drawingml/2006/main" noGrp="1"/>
          </p:cNvSpPr>
          <p:nvPr/>
        </p:nvSpPr>
        <p:spPr>
          <a:xfrm xmlns:a="http://schemas.openxmlformats.org/drawingml/2006/main">
            <a:off x="7571231" y="4517136"/>
            <a:ext cx="1901952" cy="283464"/>
          </a:xfrm>
          <a:prstGeom xmlns:a="http://schemas.openxmlformats.org/drawingml/2006/main" prst="roundRect">
            <a:avLst/>
          </a:prstGeom>
          <a:solidFill xmlns:a="http://schemas.openxmlformats.org/drawingml/2006/main">
            <a:srgbClr val="18293E"/>
          </a:solidFill>
          <a:ln xmlns:a="http://schemas.openxmlformats.org/drawingml/2006/main" w="10160">
            <a:solidFill>
              <a:srgbClr val="54BE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2" name="TextBox 61">
            <a:extLst xmlns:a="http://schemas.openxmlformats.org/drawingml/2006/main">
              <a:ext uri="{FF2B5EF4-FFF2-40B4-BE49-F238E27FC236}">
                <a16:creationId xmlns:a16="http://schemas.microsoft.com/office/drawing/2014/main" id="{0671DD86-1F5C-4BC8-9E6D-B5ADBA39ED36}"/>
              </a:ext>
            </a:extLst>
          </p:cNvPr>
          <p:cNvSpPr>
            <a:spLocks xmlns:a="http://schemas.openxmlformats.org/drawingml/2006/main" noGrp="1"/>
          </p:cNvSpPr>
          <p:nvPr/>
        </p:nvSpPr>
        <p:spPr>
          <a:xfrm xmlns:a="http://schemas.openxmlformats.org/drawingml/2006/main">
            <a:off x="7644383" y="4571999"/>
            <a:ext cx="1755648" cy="13716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710" b="1">
                <a:solidFill>
                  <a:srgbClr val="F2F7FC"/>
                </a:solidFill>
                <a:latin typeface="Aptos"/>
                <a:ea typeface="Aptos"/>
                <a:cs typeface="Aptos"/>
              </a:rPr>
              <a:t>RECEPTION CHECK</a:t>
            </a:r>
          </a:p>
        </p:txBody>
      </p:sp>
      <p:sp>
        <p:nvSpPr>
          <p:cNvPr id="63" name="Connector 62">
            <a:extLst xmlns:a="http://schemas.openxmlformats.org/drawingml/2006/main">
              <a:ext uri="{FF2B5EF4-FFF2-40B4-BE49-F238E27FC236}">
                <a16:creationId xmlns:a16="http://schemas.microsoft.com/office/drawing/2014/main" id="{E9136D19-66DE-4A46-B3E0-3ED393FDD403}"/>
              </a:ext>
            </a:extLst>
          </p:cNvPr>
          <p:cNvSpPr>
            <a:spLocks xmlns:a="http://schemas.openxmlformats.org/drawingml/2006/main" noGrp="1"/>
          </p:cNvSpPr>
          <p:nvPr/>
        </p:nvSpPr>
        <p:spPr>
          <a:xfrm xmlns:a="http://schemas.openxmlformats.org/drawingml/2006/main">
            <a:off x="8522208" y="4800599"/>
            <a:ext cx="0" cy="82297"/>
          </a:xfrm>
          <a:prstGeom xmlns:a="http://schemas.openxmlformats.org/drawingml/2006/main" prst="line">
            <a:avLst/>
          </a:prstGeom>
          <a:ln xmlns:a="http://schemas.openxmlformats.org/drawingml/2006/main" w="12700">
            <a:solidFill>
              <a:srgbClr val="2BD2B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4" name="Rounded Rectangle 63">
            <a:extLst xmlns:a="http://schemas.openxmlformats.org/drawingml/2006/main">
              <a:ext uri="{FF2B5EF4-FFF2-40B4-BE49-F238E27FC236}">
                <a16:creationId xmlns:a16="http://schemas.microsoft.com/office/drawing/2014/main" id="{D38E6657-072B-4D59-8C8C-23AD4E69A341}"/>
              </a:ext>
            </a:extLst>
          </p:cNvPr>
          <p:cNvSpPr>
            <a:spLocks xmlns:a="http://schemas.openxmlformats.org/drawingml/2006/main" noGrp="1"/>
          </p:cNvSpPr>
          <p:nvPr/>
        </p:nvSpPr>
        <p:spPr>
          <a:xfrm xmlns:a="http://schemas.openxmlformats.org/drawingml/2006/main">
            <a:off x="7571231" y="4901183"/>
            <a:ext cx="1901952" cy="283464"/>
          </a:xfrm>
          <a:prstGeom xmlns:a="http://schemas.openxmlformats.org/drawingml/2006/main" prst="roundRect">
            <a:avLst/>
          </a:prstGeom>
          <a:solidFill xmlns:a="http://schemas.openxmlformats.org/drawingml/2006/main">
            <a:srgbClr val="18293E"/>
          </a:solidFill>
          <a:ln xmlns:a="http://schemas.openxmlformats.org/drawingml/2006/main" w="10160">
            <a:solidFill>
              <a:srgbClr val="49DC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5" name="TextBox 64">
            <a:extLst xmlns:a="http://schemas.openxmlformats.org/drawingml/2006/main">
              <a:ext uri="{FF2B5EF4-FFF2-40B4-BE49-F238E27FC236}">
                <a16:creationId xmlns:a16="http://schemas.microsoft.com/office/drawing/2014/main" id="{20F626E0-4B29-4A55-B651-E62C58A75AAE}"/>
              </a:ext>
            </a:extLst>
          </p:cNvPr>
          <p:cNvSpPr>
            <a:spLocks xmlns:a="http://schemas.openxmlformats.org/drawingml/2006/main" noGrp="1"/>
          </p:cNvSpPr>
          <p:nvPr/>
        </p:nvSpPr>
        <p:spPr>
          <a:xfrm xmlns:a="http://schemas.openxmlformats.org/drawingml/2006/main">
            <a:off x="7644383" y="4956047"/>
            <a:ext cx="1755648" cy="13716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710" b="1">
                <a:solidFill>
                  <a:srgbClr val="F2F7FC"/>
                </a:solidFill>
                <a:latin typeface="Aptos"/>
                <a:ea typeface="Aptos"/>
                <a:cs typeface="Aptos"/>
              </a:rPr>
              <a:t>COMPLETE + RELEASE</a:t>
            </a:r>
          </a:p>
        </p:txBody>
      </p:sp>
      <p:sp>
        <p:nvSpPr>
          <p:cNvPr id="66" name="TextBox 65">
            <a:extLst xmlns:a="http://schemas.openxmlformats.org/drawingml/2006/main">
              <a:ext uri="{FF2B5EF4-FFF2-40B4-BE49-F238E27FC236}">
                <a16:creationId xmlns:a16="http://schemas.microsoft.com/office/drawing/2014/main" id="{14C4855A-FB7D-46C3-8032-DC5D76E47DF3}"/>
              </a:ext>
            </a:extLst>
          </p:cNvPr>
          <p:cNvSpPr>
            <a:spLocks xmlns:a="http://schemas.openxmlformats.org/drawingml/2006/main" noGrp="1"/>
          </p:cNvSpPr>
          <p:nvPr/>
        </p:nvSpPr>
        <p:spPr>
          <a:xfrm xmlns:a="http://schemas.openxmlformats.org/drawingml/2006/main">
            <a:off x="9646920" y="4224528"/>
            <a:ext cx="1783080" cy="91440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l">
              <a:buNone/>
            </a:pPr>
            <a:r>
              <a:rPr sz="750" b="0">
                <a:solidFill>
                  <a:srgbClr val="A9BBCD"/>
                </a:solidFill>
                <a:latin typeface="Aptos"/>
                <a:ea typeface="Aptos"/>
                <a:cs typeface="Aptos"/>
              </a:rPr>
              <a:t>AUDIT TRAIL</a:t>
            </a:r>
          </a:p>
          <a:p xmlns:a="http://schemas.openxmlformats.org/drawingml/2006/main">
            <a:pPr algn="l">
              <a:buNone/>
            </a:pPr>
            <a:r>
              <a:rPr sz="750" b="0">
                <a:solidFill>
                  <a:srgbClr val="A9BBCD"/>
                </a:solidFill>
                <a:latin typeface="Aptos"/>
                <a:ea typeface="Aptos"/>
                <a:cs typeface="Aptos"/>
              </a:rPr>
              <a:t>Timestamp</a:t>
            </a:r>
          </a:p>
          <a:p xmlns:a="http://schemas.openxmlformats.org/drawingml/2006/main">
            <a:pPr algn="l">
              <a:buNone/>
            </a:pPr>
            <a:r>
              <a:rPr sz="750" b="0">
                <a:solidFill>
                  <a:srgbClr val="A9BBCD"/>
                </a:solidFill>
                <a:latin typeface="Aptos"/>
                <a:ea typeface="Aptos"/>
                <a:cs typeface="Aptos"/>
              </a:rPr>
              <a:t>Previous → new state</a:t>
            </a:r>
          </a:p>
          <a:p xmlns:a="http://schemas.openxmlformats.org/drawingml/2006/main">
            <a:pPr algn="l">
              <a:buNone/>
            </a:pPr>
            <a:r>
              <a:rPr sz="750" b="0">
                <a:solidFill>
                  <a:srgbClr val="A9BBCD"/>
                </a:solidFill>
                <a:latin typeface="Aptos"/>
                <a:ea typeface="Aptos"/>
                <a:cs typeface="Aptos"/>
              </a:rPr>
              <a:t>Method / user action</a:t>
            </a:r>
          </a:p>
        </p:txBody>
      </p:sp>
      <p:sp>
        <p:nvSpPr>
          <p:cNvPr id="67" name="Rounded Rectangle 66">
            <a:extLst xmlns:a="http://schemas.openxmlformats.org/drawingml/2006/main">
              <a:ext uri="{FF2B5EF4-FFF2-40B4-BE49-F238E27FC236}">
                <a16:creationId xmlns:a16="http://schemas.microsoft.com/office/drawing/2014/main" id="{848F2022-9D95-451C-B626-7F8071FB826C}"/>
              </a:ext>
            </a:extLst>
          </p:cNvPr>
          <p:cNvSpPr>
            <a:spLocks xmlns:a="http://schemas.openxmlformats.org/drawingml/2006/main" noGrp="1"/>
          </p:cNvSpPr>
          <p:nvPr/>
        </p:nvSpPr>
        <p:spPr>
          <a:xfrm xmlns:a="http://schemas.openxmlformats.org/drawingml/2006/main">
            <a:off x="530352" y="5715000"/>
            <a:ext cx="11109960" cy="393192"/>
          </a:xfrm>
          <a:prstGeom xmlns:a="http://schemas.openxmlformats.org/drawingml/2006/main" prst="roundRect">
            <a:avLst/>
          </a:prstGeom>
          <a:solidFill xmlns:a="http://schemas.openxmlformats.org/drawingml/2006/main">
            <a:srgbClr val="33281A"/>
          </a:solidFill>
          <a:ln xmlns:a="http://schemas.openxmlformats.org/drawingml/2006/main" w="10160">
            <a:solidFill>
              <a:srgbClr val="FFB15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8" name="TextBox 67">
            <a:extLst xmlns:a="http://schemas.openxmlformats.org/drawingml/2006/main">
              <a:ext uri="{FF2B5EF4-FFF2-40B4-BE49-F238E27FC236}">
                <a16:creationId xmlns:a16="http://schemas.microsoft.com/office/drawing/2014/main" id="{E6B93F0E-2271-4D1C-B4A1-E399AE910261}"/>
              </a:ext>
            </a:extLst>
          </p:cNvPr>
          <p:cNvSpPr>
            <a:spLocks xmlns:a="http://schemas.openxmlformats.org/drawingml/2006/main" noGrp="1"/>
          </p:cNvSpPr>
          <p:nvPr/>
        </p:nvSpPr>
        <p:spPr>
          <a:xfrm xmlns:a="http://schemas.openxmlformats.org/drawingml/2006/main">
            <a:off x="713232" y="5797296"/>
            <a:ext cx="10744200" cy="182880"/>
          </a:xfrm>
          <a:prstGeom xmlns:a="http://schemas.openxmlformats.org/drawingml/2006/main" prst="rect">
            <a:avLst/>
          </a:prstGeom>
          <a:noFill xmlns:a="http://schemas.openxmlformats.org/drawingml/2006/main"/>
        </p:spPr>
        <p:txBody>
          <a:bodyPr xmlns:a="http://schemas.openxmlformats.org/drawingml/2006/main" wrap="square" lIns="45720" tIns="27432" rIns="45720" bIns="27432" anchor="t">
            <a:spAutoFit/>
          </a:bodyPr>
          <a:lstStyle xmlns:a="http://schemas.openxmlformats.org/drawingml/2006/main"/>
          <a:p xmlns:a="http://schemas.openxmlformats.org/drawingml/2006/main">
            <a:pPr algn="ctr">
              <a:buNone/>
            </a:pPr>
            <a:r>
              <a:rPr sz="880" b="1">
                <a:solidFill>
                  <a:srgbClr val="FFB153"/>
                </a:solidFill>
                <a:latin typeface="Aptos"/>
                <a:ea typeface="Aptos"/>
                <a:cs typeface="Aptos"/>
              </a:rPr>
              <a:t>CONCEPTUAL UI MOCKUPS — NOT ACTUAL APPLICATION SCREENSHOTS OR MEASURED RESULTS</a:t>
            </a:r>
          </a:p>
        </p:txBody>
      </p:sp>
    </p:spTree>
    <p:extLst>
      <p:ext uri="{BB962C8B-B14F-4D97-AF65-F5344CB8AC3E}">
        <p14:creationId xmlns:p14="http://schemas.microsoft.com/office/powerpoint/2010/main" val="9545716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2026-10-26T13:45:38.6710000Z</dcterms:created>
  <dcterms:modified xsi:type="dcterms:W3CDTF">2026-10-26T13:45:38.6720000Z</dcterms:modified>
</coreProperties>
</file>